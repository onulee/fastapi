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299" r:id="rId2"/>
    <p:sldId id="499" r:id="rId3"/>
    <p:sldId id="471" r:id="rId4"/>
    <p:sldId id="521" r:id="rId5"/>
    <p:sldId id="912" r:id="rId6"/>
    <p:sldId id="337" r:id="rId7"/>
    <p:sldId id="339" r:id="rId8"/>
    <p:sldId id="344" r:id="rId9"/>
    <p:sldId id="478" r:id="rId10"/>
    <p:sldId id="343" r:id="rId11"/>
    <p:sldId id="384" r:id="rId12"/>
    <p:sldId id="479" r:id="rId13"/>
    <p:sldId id="914" r:id="rId14"/>
    <p:sldId id="922" r:id="rId15"/>
    <p:sldId id="350" r:id="rId16"/>
    <p:sldId id="923" r:id="rId17"/>
    <p:sldId id="924" r:id="rId18"/>
    <p:sldId id="926" r:id="rId19"/>
    <p:sldId id="927" r:id="rId20"/>
    <p:sldId id="936" r:id="rId21"/>
    <p:sldId id="947" r:id="rId22"/>
    <p:sldId id="928" r:id="rId23"/>
    <p:sldId id="934" r:id="rId24"/>
    <p:sldId id="929" r:id="rId25"/>
    <p:sldId id="930" r:id="rId26"/>
    <p:sldId id="931" r:id="rId27"/>
    <p:sldId id="933" r:id="rId28"/>
    <p:sldId id="937" r:id="rId29"/>
    <p:sldId id="938" r:id="rId30"/>
    <p:sldId id="939" r:id="rId31"/>
    <p:sldId id="940" r:id="rId32"/>
    <p:sldId id="941" r:id="rId33"/>
    <p:sldId id="942" r:id="rId34"/>
    <p:sldId id="943" r:id="rId35"/>
    <p:sldId id="944" r:id="rId36"/>
    <p:sldId id="658" r:id="rId37"/>
    <p:sldId id="916" r:id="rId38"/>
    <p:sldId id="659" r:id="rId39"/>
    <p:sldId id="660" r:id="rId40"/>
    <p:sldId id="661" r:id="rId41"/>
    <p:sldId id="935" r:id="rId42"/>
    <p:sldId id="907" r:id="rId43"/>
    <p:sldId id="496" r:id="rId44"/>
    <p:sldId id="442" r:id="rId45"/>
    <p:sldId id="884" r:id="rId46"/>
    <p:sldId id="443" r:id="rId47"/>
    <p:sldId id="498" r:id="rId48"/>
    <p:sldId id="463" r:id="rId49"/>
    <p:sldId id="461" r:id="rId50"/>
    <p:sldId id="466" r:id="rId51"/>
    <p:sldId id="469" r:id="rId52"/>
    <p:sldId id="467" r:id="rId53"/>
    <p:sldId id="553" r:id="rId54"/>
    <p:sldId id="554" r:id="rId55"/>
    <p:sldId id="470" r:id="rId56"/>
    <p:sldId id="501" r:id="rId57"/>
    <p:sldId id="945" r:id="rId58"/>
    <p:sldId id="611" r:id="rId59"/>
    <p:sldId id="946" r:id="rId60"/>
    <p:sldId id="502" r:id="rId61"/>
    <p:sldId id="509" r:id="rId62"/>
    <p:sldId id="510" r:id="rId63"/>
    <p:sldId id="505" r:id="rId64"/>
    <p:sldId id="506" r:id="rId65"/>
    <p:sldId id="508" r:id="rId66"/>
    <p:sldId id="507" r:id="rId67"/>
    <p:sldId id="544" r:id="rId68"/>
    <p:sldId id="417" r:id="rId69"/>
    <p:sldId id="426" r:id="rId70"/>
    <p:sldId id="545" r:id="rId71"/>
    <p:sldId id="425" r:id="rId72"/>
    <p:sldId id="424" r:id="rId73"/>
    <p:sldId id="586" r:id="rId74"/>
    <p:sldId id="576" r:id="rId75"/>
    <p:sldId id="552" r:id="rId76"/>
    <p:sldId id="546" r:id="rId77"/>
    <p:sldId id="653" r:id="rId78"/>
    <p:sldId id="652" r:id="rId79"/>
    <p:sldId id="401" r:id="rId80"/>
    <p:sldId id="548" r:id="rId81"/>
    <p:sldId id="549" r:id="rId82"/>
    <p:sldId id="400" r:id="rId83"/>
    <p:sldId id="402" r:id="rId84"/>
    <p:sldId id="550" r:id="rId85"/>
    <p:sldId id="551" r:id="rId86"/>
    <p:sldId id="572" r:id="rId87"/>
    <p:sldId id="300" r:id="rId88"/>
    <p:sldId id="621" r:id="rId89"/>
    <p:sldId id="615" r:id="rId90"/>
    <p:sldId id="637" r:id="rId91"/>
    <p:sldId id="644" r:id="rId92"/>
    <p:sldId id="261" r:id="rId9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C39020A-01FE-4C68-B440-9D225BC11258}">
          <p14:sldIdLst>
            <p14:sldId id="299"/>
            <p14:sldId id="499"/>
            <p14:sldId id="471"/>
            <p14:sldId id="521"/>
            <p14:sldId id="912"/>
            <p14:sldId id="337"/>
            <p14:sldId id="339"/>
            <p14:sldId id="344"/>
            <p14:sldId id="478"/>
            <p14:sldId id="343"/>
            <p14:sldId id="384"/>
            <p14:sldId id="479"/>
            <p14:sldId id="914"/>
            <p14:sldId id="922"/>
            <p14:sldId id="350"/>
            <p14:sldId id="923"/>
            <p14:sldId id="924"/>
            <p14:sldId id="926"/>
            <p14:sldId id="927"/>
            <p14:sldId id="936"/>
            <p14:sldId id="947"/>
            <p14:sldId id="928"/>
            <p14:sldId id="934"/>
            <p14:sldId id="929"/>
            <p14:sldId id="930"/>
            <p14:sldId id="931"/>
            <p14:sldId id="933"/>
            <p14:sldId id="937"/>
            <p14:sldId id="938"/>
            <p14:sldId id="939"/>
            <p14:sldId id="940"/>
            <p14:sldId id="941"/>
            <p14:sldId id="942"/>
            <p14:sldId id="943"/>
            <p14:sldId id="944"/>
            <p14:sldId id="658"/>
            <p14:sldId id="916"/>
            <p14:sldId id="659"/>
            <p14:sldId id="660"/>
            <p14:sldId id="661"/>
            <p14:sldId id="935"/>
            <p14:sldId id="907"/>
            <p14:sldId id="496"/>
            <p14:sldId id="442"/>
            <p14:sldId id="884"/>
            <p14:sldId id="443"/>
            <p14:sldId id="498"/>
            <p14:sldId id="463"/>
            <p14:sldId id="461"/>
            <p14:sldId id="466"/>
            <p14:sldId id="469"/>
            <p14:sldId id="467"/>
            <p14:sldId id="553"/>
            <p14:sldId id="554"/>
            <p14:sldId id="470"/>
            <p14:sldId id="501"/>
            <p14:sldId id="945"/>
            <p14:sldId id="611"/>
            <p14:sldId id="946"/>
            <p14:sldId id="502"/>
            <p14:sldId id="509"/>
            <p14:sldId id="510"/>
            <p14:sldId id="505"/>
            <p14:sldId id="506"/>
            <p14:sldId id="508"/>
            <p14:sldId id="507"/>
            <p14:sldId id="544"/>
            <p14:sldId id="417"/>
            <p14:sldId id="426"/>
            <p14:sldId id="545"/>
            <p14:sldId id="425"/>
            <p14:sldId id="424"/>
            <p14:sldId id="586"/>
            <p14:sldId id="576"/>
            <p14:sldId id="552"/>
            <p14:sldId id="546"/>
            <p14:sldId id="653"/>
            <p14:sldId id="652"/>
            <p14:sldId id="401"/>
            <p14:sldId id="548"/>
            <p14:sldId id="549"/>
            <p14:sldId id="400"/>
            <p14:sldId id="402"/>
            <p14:sldId id="550"/>
            <p14:sldId id="551"/>
            <p14:sldId id="572"/>
            <p14:sldId id="300"/>
            <p14:sldId id="621"/>
            <p14:sldId id="615"/>
            <p14:sldId id="637"/>
            <p14:sldId id="644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C0FF"/>
    <a:srgbClr val="FFDA1A"/>
    <a:srgbClr val="86EAEF"/>
    <a:srgbClr val="EFD5B2"/>
    <a:srgbClr val="4785B8"/>
    <a:srgbClr val="396E9A"/>
    <a:srgbClr val="174366"/>
    <a:srgbClr val="000000"/>
    <a:srgbClr val="4B5C75"/>
    <a:srgbClr val="0F518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740" autoAdjust="0"/>
  </p:normalViewPr>
  <p:slideViewPr>
    <p:cSldViewPr snapToGrid="0" showGuides="1">
      <p:cViewPr varScale="1">
        <p:scale>
          <a:sx n="103" d="100"/>
          <a:sy n="103" d="100"/>
        </p:scale>
        <p:origin x="91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A07CD-7CF1-42E6-88F0-1E16322EAFE4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71B74-8A38-4139-8F3A-2A7FCD344B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428E5-4487-4DFD-8F28-9D964CD37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4DD16E-187C-4E7E-ABBE-F6BAC9F37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8A4909-5F9B-4C27-B710-67153ABA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FC0D00-E907-440E-A201-CB22D51C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4CD4DB-7CDF-4DC5-A588-36FF3B79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3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765E-FEE5-4F3E-B758-957F9D1D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203BB-146D-4B44-AA2A-D336C0BFB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A8557-8690-42D1-8E15-36046512D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162651-A169-457B-99EA-EA1182CF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44B403-3C1C-4CE4-AA5F-DF4C2A7C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68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486F1-7E70-4862-B180-2F6D6C675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908656-EF8F-48E0-9146-072072465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B4667-8BEE-4EC9-BA83-01E5A6FD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D9826-20A3-4308-8A7E-4443ADE4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94DF9-3D1A-4060-B052-7334DBE8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8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22D55-7DBF-4DF1-AA0F-67C643A6A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2F76A-C30B-4227-9FF3-E27F34C3E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C20396-A042-42DD-9F0A-41B357119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3142A1-0A63-479E-9A20-AF9E0235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A1015A-5E4C-48EF-B12F-BAC88CCB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BA470E-15C8-4466-BB2E-CE85324B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2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A09FD-4F6B-48E5-BE06-783FEA30E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AB8419-E738-4085-9DEA-BCA42D09E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587FC7-027E-491E-BED2-077EECD8E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F5D329-9162-4215-8C89-91A50AF8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CA0DCA-1843-474C-A22A-E55A19E91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0573AA-E75C-4AEF-B12E-B708309C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403317B-845F-46B5-AEAD-5D1A351ED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0B0CCC-652B-4FAD-9905-871FB0B1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34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11D18-6A50-431A-910D-D067F0BD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D8662F-716A-4A1D-B2EA-998F00F9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E16FA2-A4DB-4FA7-9701-60D7AF426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B5A49D-3517-4E67-A938-EB73ECC0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2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385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7F62E5-67D8-42BE-9DF1-88D6EFCA1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1683B0-EB4C-4A8A-96E4-0FF5D6FD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59FCB-EB4F-4D28-900A-B3B9CC0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546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D9945-F253-480F-B350-42D88724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AA3872-D885-4E5E-93E0-787173DD7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EA71B0-39FE-4979-8EEE-D65F5EED9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FD771C-80C4-4A89-9DDE-75DEF39A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1BA1B2-C8F1-4247-A6DE-B7406BF01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5EDE68-03B7-446B-9B78-5F31A3A3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49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66B7B-1EDC-4343-9BA3-A7E1981C8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5A37DD-A068-47F0-B5E9-276C85D0A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B77AA3-0D93-4AAE-923B-6CB8DC91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4F825F-B1F5-43F1-867C-C0771F64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DF479B-B03B-4053-AC71-D2F3CCE3E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3258AE-092A-4CB5-839C-AEFEF541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D5B9B-7087-4278-8D9F-742BE7B1F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D46886-A0A8-4BC6-BC27-C23665A86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FFBE18-7E7B-464D-AD6B-7728D293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FB71CC-82EF-4AF7-B753-454DFD33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1512D-1F1E-4E61-8590-1679657E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316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3D78E37-5232-46D5-834E-28C0916B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468B19-65B1-488C-AE29-F57BCDB92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0112E3-2C15-484C-AA1B-F968958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8E4BE-748D-4FB8-BC6B-A661EC4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E3EE48-1179-4BE7-B1F5-AAA66B51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E0DACC-CEE6-4418-B167-457C89CF0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9CE159-3C04-447D-A17B-131FA8317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3AF69-C0A0-4CD9-9332-EB467E43C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ADB4A-3A8B-4072-ACF2-B9A64CC5A17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477B31-56FC-4575-A118-0FB21F2D8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7745DC-A89F-4B55-AEDC-D856DADB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D92F1-F94B-4A11-B68E-69D397619E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37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users" TargetMode="External"/><Relationship Id="rId2" Type="http://schemas.openxmlformats.org/officeDocument/2006/relationships/hyperlink" Target="https://jsonplaceholder.typicode.com/" TargetMode="Externa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heannim-world.tistory.com/37" TargetMode="Externa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velog.io/@ansalstmd/Django-Ajax-%EC%97%B0%EB%8F%99" TargetMode="External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developers.kakao.com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700"/>
            <a:ext cx="12192000" cy="685800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20101" y="448871"/>
            <a:ext cx="11351799" cy="5960258"/>
          </a:xfrm>
          <a:prstGeom prst="rect">
            <a:avLst/>
          </a:prstGeom>
          <a:solidFill>
            <a:srgbClr val="0058A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77532" y="2001520"/>
            <a:ext cx="71118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4800" kern="1800" spc="300" dirty="0" err="1">
                <a:solidFill>
                  <a:schemeClr val="bg1"/>
                </a:solidFill>
                <a:latin typeface="+mj-ea"/>
                <a:ea typeface="+mj-ea"/>
              </a:rPr>
              <a:t>FastApi</a:t>
            </a:r>
            <a:r>
              <a:rPr lang="en-US" altLang="ko-KR" sz="4800" kern="1800" spc="3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endParaRPr lang="ko-KR" altLang="en-US" sz="4800" kern="1800" spc="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71344" y="3210595"/>
            <a:ext cx="2549237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en-US" altLang="ko-KR" dirty="0" err="1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fastApi</a:t>
            </a:r>
            <a:r>
              <a:rPr lang="en-US" altLang="ko-KR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이란</a:t>
            </a:r>
            <a:endParaRPr lang="en-US" altLang="ko-KR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설치</a:t>
            </a:r>
            <a:r>
              <a:rPr lang="en-US" altLang="ko-KR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실행</a:t>
            </a:r>
            <a:endParaRPr lang="en-US" altLang="ko-KR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 algn="r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데이터베이스 연결</a:t>
            </a:r>
            <a:endParaRPr lang="ko-KR" altLang="en-US" dirty="0">
              <a:solidFill>
                <a:srgbClr val="FFDB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446" y="2096249"/>
            <a:ext cx="697791" cy="697791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541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9"/>
    </mc:Choice>
    <mc:Fallback xmlns="">
      <p:transition spd="slow" advTm="3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5C5F-9A9E-90AD-6C84-8603A65E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E2744743-007A-1DA6-36C2-F2CBF37CADBF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4AF6D42-7DE4-0611-5394-682B8C893185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6B5534-4280-3C2F-584A-867E1C0C2D0C}"/>
              </a:ext>
            </a:extLst>
          </p:cNvPr>
          <p:cNvSpPr txBox="1"/>
          <p:nvPr/>
        </p:nvSpPr>
        <p:spPr>
          <a:xfrm>
            <a:off x="3451687" y="2652263"/>
            <a:ext cx="5288627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 err="1"/>
              <a:t>vscode</a:t>
            </a:r>
            <a:r>
              <a:rPr lang="en-US" altLang="ko-KR" sz="5400" b="1" dirty="0"/>
              <a:t> </a:t>
            </a:r>
            <a:r>
              <a:rPr lang="ko-KR" altLang="en-US" sz="5400" b="1" dirty="0"/>
              <a:t>환경설정</a:t>
            </a:r>
            <a:endParaRPr lang="en-US" altLang="ko-KR" sz="5400" b="1" dirty="0"/>
          </a:p>
          <a:p>
            <a:pPr algn="ctr"/>
            <a:r>
              <a:rPr lang="en-US" altLang="ko-KR" sz="2400" b="1" dirty="0"/>
              <a:t>Django html, html </a:t>
            </a:r>
          </a:p>
          <a:p>
            <a:pPr algn="ctr"/>
            <a:r>
              <a:rPr lang="ko-KR" altLang="en-US" sz="2400" b="1" dirty="0"/>
              <a:t>통합단축키 설정</a:t>
            </a:r>
            <a:endParaRPr lang="ko-KR" altLang="en-US" sz="5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7CB4A9-9858-320E-4048-6D02FF74A657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8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39469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Vscode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538480" y="1035654"/>
            <a:ext cx="3513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1. "Auto Close Tag" </a:t>
            </a:r>
            <a:r>
              <a:rPr lang="ko-KR" altLang="en-US" b="1" dirty="0" err="1"/>
              <a:t>확장팩</a:t>
            </a:r>
            <a:r>
              <a:rPr lang="ko-KR" altLang="en-US" b="1" dirty="0"/>
              <a:t> 설치</a:t>
            </a:r>
            <a:endParaRPr lang="ko-KR" altLang="en-US" b="0" i="0" dirty="0">
              <a:effectLst/>
              <a:latin typeface="Noto Sans KR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692638" y="1016634"/>
            <a:ext cx="2832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2. </a:t>
            </a:r>
            <a:r>
              <a:rPr lang="en-US" altLang="ko-KR" b="1" dirty="0" err="1"/>
              <a:t>settings.json</a:t>
            </a:r>
            <a:r>
              <a:rPr lang="en-US" altLang="ko-KR" b="1" dirty="0"/>
              <a:t> </a:t>
            </a:r>
            <a:r>
              <a:rPr lang="ko-KR" altLang="en-US" b="1" dirty="0"/>
              <a:t>파일 수정</a:t>
            </a:r>
            <a:endParaRPr lang="ko-KR" altLang="en-US" dirty="0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A889B085-BE7A-E7C2-13C6-BF9C66C4E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17" y="1531918"/>
            <a:ext cx="4784925" cy="3588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CB291EA-6DB5-09ED-0057-E932D7171E5A}"/>
              </a:ext>
            </a:extLst>
          </p:cNvPr>
          <p:cNvSpPr txBox="1"/>
          <p:nvPr/>
        </p:nvSpPr>
        <p:spPr>
          <a:xfrm>
            <a:off x="5944303" y="1549495"/>
            <a:ext cx="343043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macOS : ⌘ + ,</a:t>
            </a:r>
          </a:p>
          <a:p>
            <a:r>
              <a:rPr lang="en-US" altLang="ko-KR" dirty="0"/>
              <a:t>Windows : Ctrl + , ( </a:t>
            </a:r>
            <a:r>
              <a:rPr lang="ko-KR" altLang="en-US" dirty="0"/>
              <a:t>쉼표</a:t>
            </a:r>
            <a:r>
              <a:rPr lang="en-US" altLang="ko-KR" dirty="0"/>
              <a:t>: </a:t>
            </a:r>
            <a:r>
              <a:rPr lang="ko-KR" altLang="en-US" dirty="0"/>
              <a:t>누름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287F729-4811-A29D-BF1E-384F79556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303" y="3102970"/>
            <a:ext cx="4367822" cy="11907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BAF47E-9C3B-63F6-0DA1-991E9FD4E9D3}"/>
              </a:ext>
            </a:extLst>
          </p:cNvPr>
          <p:cNvSpPr/>
          <p:nvPr/>
        </p:nvSpPr>
        <p:spPr>
          <a:xfrm>
            <a:off x="5692638" y="2689972"/>
            <a:ext cx="1681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3. setting </a:t>
            </a:r>
            <a:r>
              <a:rPr lang="ko-KR" altLang="en-US" b="1" dirty="0"/>
              <a:t>입력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249B9-B600-82BF-8D30-47EEE2CDF5CB}"/>
              </a:ext>
            </a:extLst>
          </p:cNvPr>
          <p:cNvSpPr txBox="1"/>
          <p:nvPr/>
        </p:nvSpPr>
        <p:spPr>
          <a:xfrm>
            <a:off x="2294986" y="1883637"/>
            <a:ext cx="3063456" cy="683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b="1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46D27A3-0C1B-9E7C-CF94-2F9B768DA4B6}"/>
              </a:ext>
            </a:extLst>
          </p:cNvPr>
          <p:cNvCxnSpPr>
            <a:stCxn id="3" idx="0"/>
            <a:endCxn id="2" idx="2"/>
          </p:cNvCxnSpPr>
          <p:nvPr/>
        </p:nvCxnSpPr>
        <p:spPr>
          <a:xfrm flipH="1" flipV="1">
            <a:off x="2294987" y="1404986"/>
            <a:ext cx="1531727" cy="4786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9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1D88-A2CC-755F-B799-8A822B4AC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AB16D317-07D0-2525-0AF3-BA86B2EB5B75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0C7D8CD-1488-4C0C-5D08-753D0433D448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5B3BBB-CE9D-5015-89F9-9EDE83687FB6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네트워크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828580-12D0-8715-9CFB-4A6FB9EB699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6BA55F5-AC95-2535-98AE-B0220086932D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3579C9-016E-8F96-E1D7-D4263A3C4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91" y="1199125"/>
            <a:ext cx="2645438" cy="120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A80A592-EC4C-7D2F-A8A0-FCF882CAB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770" y="1077646"/>
            <a:ext cx="2843621" cy="159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F294A55-0568-F4E4-4656-C134F1377CE6}"/>
              </a:ext>
            </a:extLst>
          </p:cNvPr>
          <p:cNvCxnSpPr/>
          <p:nvPr/>
        </p:nvCxnSpPr>
        <p:spPr>
          <a:xfrm>
            <a:off x="5686697" y="1375954"/>
            <a:ext cx="0" cy="46113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63111E4-C72F-D9DB-4F01-45D4FB8D0F09}"/>
              </a:ext>
            </a:extLst>
          </p:cNvPr>
          <p:cNvSpPr txBox="1"/>
          <p:nvPr/>
        </p:nvSpPr>
        <p:spPr>
          <a:xfrm>
            <a:off x="186508" y="2663331"/>
            <a:ext cx="534343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highlight>
                  <a:srgbClr val="FFFF00"/>
                </a:highlight>
              </a:rPr>
              <a:t>완전한 웹 프레임워크</a:t>
            </a:r>
            <a:r>
              <a:rPr lang="en-US" altLang="ko-KR" sz="1400" dirty="0">
                <a:highlight>
                  <a:srgbClr val="FFFF00"/>
                </a:highlight>
              </a:rPr>
              <a:t>: </a:t>
            </a:r>
            <a:br>
              <a:rPr lang="en-US" altLang="ko-KR" sz="1400" dirty="0">
                <a:highlight>
                  <a:srgbClr val="FFFF00"/>
                </a:highlight>
              </a:rPr>
            </a:br>
            <a:r>
              <a:rPr lang="en-US" altLang="ko-KR" sz="1400" dirty="0">
                <a:highlight>
                  <a:srgbClr val="FFFF00"/>
                </a:highlight>
              </a:rPr>
              <a:t>Django</a:t>
            </a:r>
            <a:r>
              <a:rPr lang="ko-KR" altLang="en-US" sz="1400" dirty="0">
                <a:highlight>
                  <a:srgbClr val="FFFF00"/>
                </a:highlight>
              </a:rPr>
              <a:t>는 강력한 기능을 가진 완전한 웹 프레임워크</a:t>
            </a:r>
            <a:r>
              <a:rPr lang="en-US" altLang="ko-KR" sz="1400" dirty="0">
                <a:highlight>
                  <a:srgbClr val="FFFF00"/>
                </a:highlight>
              </a:rPr>
              <a:t> 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ko-KR" altLang="en-US" sz="1400" dirty="0"/>
              <a:t>높은 수준의 추상화</a:t>
            </a:r>
            <a:r>
              <a:rPr lang="en-US" altLang="ko-KR" sz="1400" dirty="0"/>
              <a:t>: Django</a:t>
            </a:r>
            <a:r>
              <a:rPr lang="ko-KR" altLang="en-US" sz="1400" dirty="0"/>
              <a:t>는 많은 작업을 </a:t>
            </a:r>
            <a:r>
              <a:rPr lang="ko-KR" altLang="en-US" sz="1400" dirty="0" err="1"/>
              <a:t>추상화하여</a:t>
            </a:r>
            <a:r>
              <a:rPr lang="ko-KR" altLang="en-US" sz="1400" dirty="0"/>
              <a:t> 개발자가 더 쉽게 애플리케이션을 만들 수 있도록 도와줍니다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이로 인해 빠른 개발이 가능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Admin </a:t>
            </a:r>
            <a:r>
              <a:rPr lang="ko-KR" altLang="en-US" sz="1400" dirty="0"/>
              <a:t>기능 제공</a:t>
            </a:r>
            <a:r>
              <a:rPr lang="en-US" altLang="ko-KR" sz="1400" dirty="0"/>
              <a:t>: Django</a:t>
            </a:r>
            <a:r>
              <a:rPr lang="ko-KR" altLang="en-US" sz="1400" dirty="0"/>
              <a:t>는 관리자 페이지를 생성하기 위한 기능을 내장하고 있어 데이터베이스 관리 및 </a:t>
            </a:r>
            <a:r>
              <a:rPr lang="en-US" altLang="ko-KR" sz="1400" dirty="0"/>
              <a:t>CRUD </a:t>
            </a:r>
            <a:r>
              <a:rPr lang="ko-KR" altLang="en-US" sz="1400" dirty="0"/>
              <a:t>작업을 쉽게 수행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ORM (Object-Relational Mapping): Django</a:t>
            </a:r>
            <a:r>
              <a:rPr lang="ko-KR" altLang="en-US" sz="1400" dirty="0"/>
              <a:t>의 </a:t>
            </a:r>
            <a:r>
              <a:rPr lang="en-US" altLang="ko-KR" sz="1400" dirty="0"/>
              <a:t>ORM</a:t>
            </a:r>
            <a:r>
              <a:rPr lang="ko-KR" altLang="en-US" sz="1400" dirty="0"/>
              <a:t>은 데이터베이스와의 상호 작용을 </a:t>
            </a:r>
            <a:r>
              <a:rPr lang="ko-KR" altLang="en-US" sz="1400" dirty="0" err="1"/>
              <a:t>추상화하여</a:t>
            </a:r>
            <a:r>
              <a:rPr lang="ko-KR" altLang="en-US" sz="1400" dirty="0"/>
              <a:t> 개발자가 </a:t>
            </a:r>
            <a:r>
              <a:rPr lang="en-US" altLang="ko-KR" sz="1400" dirty="0"/>
              <a:t>SQL </a:t>
            </a:r>
            <a:r>
              <a:rPr lang="ko-KR" altLang="en-US" sz="1400" dirty="0"/>
              <a:t>쿼리 대신 파이썬 코드를 사용하여 데이터베이스 조작을 수행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보다 큰 프로젝트에 적합</a:t>
            </a:r>
            <a:r>
              <a:rPr lang="en-US" altLang="ko-KR" sz="1400" dirty="0"/>
              <a:t>: Django</a:t>
            </a:r>
            <a:r>
              <a:rPr lang="ko-KR" altLang="en-US" sz="1400" dirty="0"/>
              <a:t>는 대규모 및 복잡한 웹 애플리케이션에 적합한 구조를 가지고 있음</a:t>
            </a:r>
            <a:r>
              <a:rPr lang="en-US" altLang="ko-KR" sz="1400" dirty="0"/>
              <a:t>. </a:t>
            </a:r>
            <a:r>
              <a:rPr lang="ko-KR" altLang="en-US" sz="1400" dirty="0"/>
              <a:t>자체적으로 많은 기능과 패키지를 제공하여 개발자의 작업을 줄여줍니다</a:t>
            </a:r>
            <a:r>
              <a:rPr lang="en-US" altLang="ko-KR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7BB1B-DA3D-E755-2412-AD24624E2315}"/>
              </a:ext>
            </a:extLst>
          </p:cNvPr>
          <p:cNvSpPr txBox="1"/>
          <p:nvPr/>
        </p:nvSpPr>
        <p:spPr>
          <a:xfrm>
            <a:off x="5843453" y="2663331"/>
            <a:ext cx="61874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마이크로 웹 프레임워크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</a:p>
          <a:p>
            <a:pPr algn="l" fontAlgn="base"/>
            <a:r>
              <a:rPr lang="en-US" altLang="ko-KR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apple-system"/>
              </a:rPr>
              <a:t>Flask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apple-system"/>
              </a:rPr>
              <a:t>는 더 작고 가볍게 설계된 웹 </a:t>
            </a:r>
            <a:r>
              <a:rPr lang="ko-KR" altLang="en-US" sz="1400" b="0" i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-apple-system"/>
              </a:rPr>
              <a:t>프레임워크입니다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필요한 기능만 선택적으로 추가하여 사용할 수 있으며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,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더 많은 제어를 원하는 개발자에게 적합합니다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ko-KR" altLang="en-US" sz="1400" b="0" i="0" dirty="0">
              <a:solidFill>
                <a:srgbClr val="333333"/>
              </a:solidFill>
              <a:effectLst/>
              <a:latin typeface="inherit"/>
            </a:endParaRPr>
          </a:p>
          <a:p>
            <a:pPr algn="l" fontAlgn="base"/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최소한의 추상화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: Flask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는 개발자에게 높은 수준의 제어를 제공합니다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이는 프로젝트가 </a:t>
            </a:r>
            <a:r>
              <a:rPr lang="ko-KR" altLang="en-US" sz="1400" b="0" i="0" dirty="0" err="1">
                <a:solidFill>
                  <a:srgbClr val="000000"/>
                </a:solidFill>
                <a:effectLst/>
                <a:latin typeface="-apple-system"/>
              </a:rPr>
              <a:t>복잡해질수록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 더 유용할 수 있습니다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ko-KR" altLang="en-US" sz="1400" b="0" i="0" dirty="0">
              <a:solidFill>
                <a:srgbClr val="333333"/>
              </a:solidFill>
              <a:effectLst/>
              <a:latin typeface="inherit"/>
            </a:endParaRPr>
          </a:p>
          <a:p>
            <a:pPr algn="l" fontAlgn="base"/>
            <a:endParaRPr lang="en-US" altLang="ko-KR" sz="1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 fontAlgn="base"/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확장성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: Flask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는 필요한 기능을 원하는 대로 추가하여 사용할 수 있기 때문에 작은 프로젝트부터 대규모 프로젝트까지 다양한 규모의 애플리케이션을 개발할 수 있습니다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ko-KR" altLang="en-US" sz="1400" b="0" i="0" dirty="0">
              <a:solidFill>
                <a:srgbClr val="333333"/>
              </a:solidFill>
              <a:effectLst/>
              <a:latin typeface="inherit"/>
            </a:endParaRPr>
          </a:p>
          <a:p>
            <a:pPr algn="l" fontAlgn="base"/>
            <a:endParaRPr lang="en-US" altLang="ko-KR" sz="1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 fontAlgn="base"/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ORM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미포함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: Flask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는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ORM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을 기본으로 제공하지 않습니다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따라서 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ORM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라이브러리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(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예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: </a:t>
            </a:r>
            <a:r>
              <a:rPr lang="en-US" altLang="ko-KR" sz="1400" b="0" i="0" dirty="0" err="1">
                <a:solidFill>
                  <a:srgbClr val="000000"/>
                </a:solidFill>
                <a:effectLst/>
                <a:latin typeface="-apple-system"/>
              </a:rPr>
              <a:t>SQLAlchemy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)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를 별도로 선택하여 사용해야 </a:t>
            </a:r>
            <a:r>
              <a:rPr lang="ko-KR" altLang="en-US" sz="1400" dirty="0">
                <a:solidFill>
                  <a:srgbClr val="000000"/>
                </a:solidFill>
                <a:latin typeface="-apple-system"/>
              </a:rPr>
              <a:t>함</a:t>
            </a:r>
            <a:r>
              <a:rPr lang="en-US" altLang="ko-KR" sz="1400" dirty="0">
                <a:solidFill>
                  <a:srgbClr val="000000"/>
                </a:solidFill>
                <a:latin typeface="-apple-system"/>
              </a:rPr>
              <a:t>.</a:t>
            </a:r>
          </a:p>
          <a:p>
            <a:pPr algn="l" fontAlgn="base"/>
            <a:endParaRPr lang="ko-KR" altLang="en-US" sz="1400" b="0" i="0" dirty="0">
              <a:solidFill>
                <a:srgbClr val="333333"/>
              </a:solidFill>
              <a:effectLst/>
              <a:latin typeface="inherit"/>
            </a:endParaRPr>
          </a:p>
          <a:p>
            <a:pPr algn="l" fontAlgn="base"/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유연한 구조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: Flask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는 개발자가 애플리케이션의 구조와 기능을 더 유연하게 설계할 수 있도록 합니다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 </a:t>
            </a:r>
            <a:r>
              <a:rPr lang="ko-KR" altLang="en-US" sz="1400" b="0" i="0" dirty="0">
                <a:solidFill>
                  <a:srgbClr val="000000"/>
                </a:solidFill>
                <a:effectLst/>
                <a:latin typeface="-apple-system"/>
              </a:rPr>
              <a:t>이는 몇 가지 기본 구성 요소만 제공하고 필요한 기능은 확장 가능한 방식으로 추가할 수 있음을 의미합니다</a:t>
            </a:r>
            <a:r>
              <a:rPr lang="en-US" altLang="ko-KR" sz="1400" b="0" i="0" dirty="0">
                <a:solidFill>
                  <a:srgbClr val="000000"/>
                </a:solidFill>
                <a:effectLst/>
                <a:latin typeface="-apple-system"/>
              </a:rPr>
              <a:t>.</a:t>
            </a:r>
            <a:endParaRPr lang="ko-KR" altLang="en-US" sz="1400" b="0" i="0" dirty="0">
              <a:solidFill>
                <a:srgbClr val="333333"/>
              </a:solidFill>
              <a:effectLst/>
              <a:latin typeface="inheri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90A90-0F8B-F92B-7D98-0A452FC41A01}"/>
              </a:ext>
            </a:extLst>
          </p:cNvPr>
          <p:cNvSpPr txBox="1"/>
          <p:nvPr/>
        </p:nvSpPr>
        <p:spPr>
          <a:xfrm>
            <a:off x="7593874" y="6610868"/>
            <a:ext cx="45981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https://blog.naver.com/it-edu/223193268573?trackingCode=rss</a:t>
            </a:r>
          </a:p>
        </p:txBody>
      </p:sp>
    </p:spTree>
    <p:extLst>
      <p:ext uri="{BB962C8B-B14F-4D97-AF65-F5344CB8AC3E}">
        <p14:creationId xmlns:p14="http://schemas.microsoft.com/office/powerpoint/2010/main" val="305559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2268-1DAE-3863-BECF-D75A3F23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D1A5D826-FCE1-3F32-F728-CAA764A66AF3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BEB0AB3-7F4C-FE60-D29E-503FDC5E2F8F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567C21-3547-397A-E99D-6F19F0DE3AA6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네트워크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FD28C1-8131-411F-4356-274C85699D84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B9945CC-5A20-F2B0-7F23-79B7F7B366D7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B38116E1-5A6D-661D-0EF9-EFC2AE595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730" y="922225"/>
            <a:ext cx="5134170" cy="1851915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6E5141-552A-2B2E-8DD0-EE3A418EC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378221"/>
              </p:ext>
            </p:extLst>
          </p:nvPr>
        </p:nvGraphicFramePr>
        <p:xfrm>
          <a:off x="838200" y="2721134"/>
          <a:ext cx="10515600" cy="3577032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527640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03600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3331895"/>
                    </a:ext>
                  </a:extLst>
                </a:gridCol>
              </a:tblGrid>
              <a:tr h="6915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>
                          <a:solidFill>
                            <a:srgbClr val="333333"/>
                          </a:solidFill>
                          <a:effectLst/>
                        </a:rPr>
                        <a:t>구분</a:t>
                      </a:r>
                      <a:endParaRPr lang="ko-KR" sz="2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 err="1">
                          <a:solidFill>
                            <a:srgbClr val="333333"/>
                          </a:solidFill>
                          <a:effectLst/>
                        </a:rPr>
                        <a:t>FastAPI</a:t>
                      </a:r>
                      <a:endParaRPr lang="ko-KR" sz="2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400" b="1" dirty="0" err="1">
                          <a:solidFill>
                            <a:srgbClr val="333333"/>
                          </a:solidFill>
                          <a:effectLst/>
                        </a:rPr>
                        <a:t>Django</a:t>
                      </a:r>
                      <a:endParaRPr lang="ko-KR" sz="2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358313"/>
                  </a:ext>
                </a:extLst>
              </a:tr>
              <a:tr h="480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 dirty="0">
                          <a:solidFill>
                            <a:srgbClr val="333333"/>
                          </a:solidFill>
                          <a:effectLst/>
                        </a:rPr>
                        <a:t>개발 목적</a:t>
                      </a:r>
                      <a:endParaRPr lang="ko-KR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경량 API</a:t>
                      </a: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, </a:t>
                      </a:r>
                      <a:r>
                        <a:rPr lang="ko-KR" dirty="0" err="1">
                          <a:solidFill>
                            <a:srgbClr val="333333"/>
                          </a:solidFill>
                          <a:effectLst/>
                        </a:rPr>
                        <a:t>마이크로서비스</a:t>
                      </a:r>
                      <a:r>
                        <a:rPr lang="en-US" altLang="ko-KR" dirty="0">
                          <a:solidFill>
                            <a:srgbClr val="333333"/>
                          </a:solidFill>
                          <a:effectLst/>
                        </a:rPr>
                        <a:t>,</a:t>
                      </a:r>
                      <a:r>
                        <a:rPr lang="ko-KR" altLang="en-US" dirty="0">
                          <a:solidFill>
                            <a:srgbClr val="333333"/>
                          </a:solidFill>
                          <a:effectLst/>
                        </a:rPr>
                        <a:t>속도</a:t>
                      </a:r>
                      <a:r>
                        <a:rPr lang="en-US" altLang="ko-KR" dirty="0">
                          <a:solidFill>
                            <a:srgbClr val="333333"/>
                          </a:solidFill>
                          <a:effectLst/>
                        </a:rPr>
                        <a:t>2</a:t>
                      </a:r>
                      <a:r>
                        <a:rPr lang="ko-KR" altLang="en-US" dirty="0">
                          <a:solidFill>
                            <a:srgbClr val="333333"/>
                          </a:solidFill>
                          <a:effectLst/>
                        </a:rPr>
                        <a:t>배</a:t>
                      </a:r>
                      <a:endParaRPr lang="ko-KR" dirty="0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rgbClr val="333333"/>
                          </a:solidFill>
                          <a:effectLst/>
                        </a:rPr>
                        <a:t>대규모 웹사이트, 웹서비스</a:t>
                      </a:r>
                      <a:endParaRPr lang="ko-KR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739049"/>
                  </a:ext>
                </a:extLst>
              </a:tr>
              <a:tr h="480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>
                          <a:solidFill>
                            <a:srgbClr val="333333"/>
                          </a:solidFill>
                          <a:effectLst/>
                        </a:rPr>
                        <a:t>비동기 지원</a:t>
                      </a:r>
                      <a:endParaRPr lang="ko-K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기본 지원</a:t>
                      </a:r>
                      <a:endParaRPr lang="ko-KR" dirty="0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rgbClr val="333333"/>
                          </a:solidFill>
                          <a:effectLst/>
                        </a:rPr>
                        <a:t>Channels로 지원(옵션)</a:t>
                      </a:r>
                      <a:endParaRPr lang="ko-KR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649325"/>
                  </a:ext>
                </a:extLst>
              </a:tr>
              <a:tr h="480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>
                          <a:solidFill>
                            <a:srgbClr val="333333"/>
                          </a:solidFill>
                          <a:effectLst/>
                        </a:rPr>
                        <a:t>문서화</a:t>
                      </a:r>
                      <a:endParaRPr lang="ko-K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자동 생성(</a:t>
                      </a:r>
                      <a:r>
                        <a:rPr lang="ko-KR" dirty="0" err="1">
                          <a:solidFill>
                            <a:srgbClr val="333333"/>
                          </a:solidFill>
                          <a:effectLst/>
                        </a:rPr>
                        <a:t>OpenAPI</a:t>
                      </a: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, </a:t>
                      </a:r>
                      <a:r>
                        <a:rPr lang="ko-KR" dirty="0" err="1">
                          <a:solidFill>
                            <a:srgbClr val="333333"/>
                          </a:solidFill>
                          <a:effectLst/>
                        </a:rPr>
                        <a:t>Swagger</a:t>
                      </a: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)</a:t>
                      </a:r>
                      <a:endParaRPr lang="ko-KR" dirty="0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rgbClr val="333333"/>
                          </a:solidFill>
                          <a:effectLst/>
                        </a:rPr>
                        <a:t>별도 플러그인 필요</a:t>
                      </a:r>
                      <a:endParaRPr lang="ko-KR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974880"/>
                  </a:ext>
                </a:extLst>
              </a:tr>
              <a:tr h="480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>
                          <a:solidFill>
                            <a:srgbClr val="333333"/>
                          </a:solidFill>
                          <a:effectLst/>
                        </a:rPr>
                        <a:t>내장 기능</a:t>
                      </a:r>
                      <a:endParaRPr lang="ko-K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최소화(필요시 선택적 추가)</a:t>
                      </a:r>
                      <a:endParaRPr lang="ko-KR" dirty="0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rgbClr val="333333"/>
                          </a:solidFill>
                          <a:effectLst/>
                        </a:rPr>
                        <a:t>ORM, Admin 등 풀스택 지원</a:t>
                      </a:r>
                      <a:endParaRPr lang="ko-KR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26831"/>
                  </a:ext>
                </a:extLst>
              </a:tr>
              <a:tr h="480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>
                          <a:solidFill>
                            <a:srgbClr val="333333"/>
                          </a:solidFill>
                          <a:effectLst/>
                        </a:rPr>
                        <a:t>커뮤니티</a:t>
                      </a:r>
                      <a:endParaRPr lang="ko-K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rgbClr val="333333"/>
                          </a:solidFill>
                          <a:effectLst/>
                        </a:rPr>
                        <a:t>최근 급성장</a:t>
                      </a:r>
                      <a:endParaRPr lang="ko-KR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>
                          <a:solidFill>
                            <a:srgbClr val="333333"/>
                          </a:solidFill>
                          <a:effectLst/>
                        </a:rPr>
                        <a:t>15년 이상, 방대한 자료</a:t>
                      </a:r>
                      <a:endParaRPr lang="ko-KR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433598"/>
                  </a:ext>
                </a:extLst>
              </a:tr>
              <a:tr h="4809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b="1">
                          <a:solidFill>
                            <a:srgbClr val="333333"/>
                          </a:solidFill>
                          <a:effectLst/>
                        </a:rPr>
                        <a:t>학습 곡선</a:t>
                      </a:r>
                      <a:endParaRPr lang="ko-K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비교적 단순</a:t>
                      </a:r>
                      <a:endParaRPr lang="ko-KR" dirty="0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>
                          <a:solidFill>
                            <a:srgbClr val="333333"/>
                          </a:solidFill>
                          <a:effectLst/>
                        </a:rPr>
                        <a:t>조금 더 복잡</a:t>
                      </a:r>
                      <a:endParaRPr lang="ko-KR" dirty="0">
                        <a:effectLst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137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448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client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server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E67A8A4-01D2-44F8-9AA7-19102A837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28" y="1260594"/>
            <a:ext cx="10206505" cy="50227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B072B21-6C09-4021-B2D2-6CC1D8F9C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057" r="69867" b="9434"/>
          <a:stretch>
            <a:fillRect/>
          </a:stretch>
        </p:blipFill>
        <p:spPr>
          <a:xfrm>
            <a:off x="6137945" y="5689205"/>
            <a:ext cx="2340530" cy="5962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0109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처리 방식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E3EB1180-02F1-4558-B28C-A9CE44608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458" y="1447835"/>
            <a:ext cx="10052807" cy="453948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AB0BE8F-41A6-4858-A978-DF410D22B5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52" t="27422" r="25897" b="2588"/>
          <a:stretch>
            <a:fillRect/>
          </a:stretch>
        </p:blipFill>
        <p:spPr>
          <a:xfrm>
            <a:off x="4986859" y="4481664"/>
            <a:ext cx="2890404" cy="217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8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서버 구성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0D16D498-53A7-45E1-9D8C-257B4DA1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70" y="1624824"/>
            <a:ext cx="9935361" cy="447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2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D7B34-EF87-7B6A-6B26-86639CD68222}"/>
              </a:ext>
            </a:extLst>
          </p:cNvPr>
          <p:cNvSpPr txBox="1"/>
          <p:nvPr/>
        </p:nvSpPr>
        <p:spPr>
          <a:xfrm>
            <a:off x="2726421" y="2967335"/>
            <a:ext cx="6375634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 err="1"/>
              <a:t>fastApi</a:t>
            </a:r>
            <a:r>
              <a:rPr lang="ko-KR" altLang="en-US" sz="5400" b="1" dirty="0"/>
              <a:t> 설치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B2A0E9F-BC04-FF41-2773-685839C12E3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41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python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패키지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pip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업그레이드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08E856A-B482-5300-82A4-40591081BEBD}"/>
              </a:ext>
            </a:extLst>
          </p:cNvPr>
          <p:cNvSpPr/>
          <p:nvPr/>
        </p:nvSpPr>
        <p:spPr>
          <a:xfrm>
            <a:off x="416358" y="1560536"/>
            <a:ext cx="10937442" cy="13278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 : Python Install Package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의 약자로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SW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패키지를 사용하기 위한 명령어</a:t>
            </a:r>
            <a:endParaRPr lang="en-US" altLang="ko-KR" sz="16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–m pip install --upgrade pip  (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윈도우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7DBF5D-5DE0-F4A5-D353-A05AB94FAFDE}"/>
              </a:ext>
            </a:extLst>
          </p:cNvPr>
          <p:cNvSpPr/>
          <p:nvPr/>
        </p:nvSpPr>
        <p:spPr>
          <a:xfrm>
            <a:off x="416358" y="3734495"/>
            <a:ext cx="5545903" cy="19798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 install </a:t>
            </a:r>
            <a:r>
              <a:rPr lang="en-US" altLang="ko-KR" sz="24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fastapi</a:t>
            </a:r>
            <a:endParaRPr lang="en-US" altLang="ko-KR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 install </a:t>
            </a:r>
            <a:r>
              <a:rPr lang="en-US" altLang="ko-KR" sz="24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uvicorn</a:t>
            </a:r>
            <a:endParaRPr lang="en-US" altLang="ko-KR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b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확인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</a:t>
            </a:r>
            <a:b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 list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C0A123-D5A5-9240-7D98-9DD2DAC49BC2}"/>
              </a:ext>
            </a:extLst>
          </p:cNvPr>
          <p:cNvCxnSpPr/>
          <p:nvPr/>
        </p:nvCxnSpPr>
        <p:spPr>
          <a:xfrm>
            <a:off x="416358" y="2983679"/>
            <a:ext cx="10875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08D7D5-7EAA-3515-79E3-7A703CDBC65F}"/>
              </a:ext>
            </a:extLst>
          </p:cNvPr>
          <p:cNvSpPr/>
          <p:nvPr/>
        </p:nvSpPr>
        <p:spPr>
          <a:xfrm>
            <a:off x="538480" y="3126341"/>
            <a:ext cx="1795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 err="1">
                <a:latin typeface="Noto Sans KR"/>
              </a:rPr>
              <a:t>fastApi</a:t>
            </a:r>
            <a:r>
              <a:rPr lang="en-US" altLang="ko-KR" sz="2400" b="0" i="0" dirty="0">
                <a:effectLst/>
                <a:latin typeface="Noto Sans KR"/>
              </a:rPr>
              <a:t> </a:t>
            </a:r>
            <a:r>
              <a:rPr lang="ko-KR" altLang="en-US" sz="2400" b="0" i="0" dirty="0">
                <a:effectLst/>
                <a:latin typeface="Noto Sans KR"/>
              </a:rPr>
              <a:t>설치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463664-85A4-1AEE-3A26-5D27B893253D}"/>
              </a:ext>
            </a:extLst>
          </p:cNvPr>
          <p:cNvSpPr/>
          <p:nvPr/>
        </p:nvSpPr>
        <p:spPr>
          <a:xfrm>
            <a:off x="538480" y="1003562"/>
            <a:ext cx="21275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Noto Sans KR"/>
              </a:rPr>
              <a:t>Pip </a:t>
            </a:r>
            <a:r>
              <a:rPr lang="ko-KR" altLang="en-US" sz="2400" dirty="0">
                <a:latin typeface="Noto Sans KR"/>
              </a:rPr>
              <a:t>업그레이드</a:t>
            </a:r>
            <a:endParaRPr lang="ko-KR" altLang="en-US" sz="2400" b="0" i="0" dirty="0">
              <a:effectLst/>
              <a:latin typeface="Noto Sans KR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ADB9C50-C6A2-DEDC-5E28-16288ABA9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34789"/>
              </p:ext>
            </p:extLst>
          </p:nvPr>
        </p:nvGraphicFramePr>
        <p:xfrm>
          <a:off x="6223430" y="3734495"/>
          <a:ext cx="5257800" cy="172426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21236">
                  <a:extLst>
                    <a:ext uri="{9D8B030D-6E8A-4147-A177-3AD203B41FA5}">
                      <a16:colId xmlns:a16="http://schemas.microsoft.com/office/drawing/2014/main" val="1186072405"/>
                    </a:ext>
                  </a:extLst>
                </a:gridCol>
                <a:gridCol w="3636564">
                  <a:extLst>
                    <a:ext uri="{9D8B030D-6E8A-4147-A177-3AD203B41FA5}">
                      <a16:colId xmlns:a16="http://schemas.microsoft.com/office/drawing/2014/main" val="1957459269"/>
                    </a:ext>
                  </a:extLst>
                </a:gridCol>
              </a:tblGrid>
              <a:tr h="626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역할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07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uvicorn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FastAPI 앱 실행 서버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27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uv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 err="1"/>
                        <a:t>Python</a:t>
                      </a:r>
                      <a:r>
                        <a:rPr lang="ko-KR" dirty="0"/>
                        <a:t> 패키지/환경 관리 도구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757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/>
                        <a:t>fastapi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dirty="0"/>
                        <a:t>API 프레임워크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0064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CCE45CA-3DF5-D26C-6ED7-C098A732B360}"/>
              </a:ext>
            </a:extLst>
          </p:cNvPr>
          <p:cNvSpPr/>
          <p:nvPr/>
        </p:nvSpPr>
        <p:spPr>
          <a:xfrm>
            <a:off x="416358" y="5860875"/>
            <a:ext cx="5545903" cy="793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150" dirty="0" err="1">
                <a:solidFill>
                  <a:srgbClr val="EE0000"/>
                </a:solidFill>
              </a:rPr>
              <a:t>uvicorn</a:t>
            </a:r>
            <a:r>
              <a:rPr lang="en-US" altLang="ko-KR" sz="2400" spc="-150" dirty="0">
                <a:solidFill>
                  <a:srgbClr val="EE0000"/>
                </a:solidFill>
              </a:rPr>
              <a:t> </a:t>
            </a:r>
            <a:r>
              <a:rPr lang="en-US" altLang="ko-KR" sz="2400" spc="-150" dirty="0" err="1">
                <a:solidFill>
                  <a:srgbClr val="EE0000"/>
                </a:solidFill>
              </a:rPr>
              <a:t>main:app</a:t>
            </a:r>
            <a:r>
              <a:rPr lang="en-US" altLang="ko-KR" sz="2400" spc="-150" dirty="0">
                <a:solidFill>
                  <a:srgbClr val="EE0000"/>
                </a:solidFill>
              </a:rPr>
              <a:t> –reload   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실행</a:t>
            </a:r>
            <a:b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24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uvicorn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4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main:app</a:t>
            </a: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--reload --port 8001</a:t>
            </a:r>
          </a:p>
        </p:txBody>
      </p:sp>
    </p:spTree>
    <p:extLst>
      <p:ext uri="{BB962C8B-B14F-4D97-AF65-F5344CB8AC3E}">
        <p14:creationId xmlns:p14="http://schemas.microsoft.com/office/powerpoint/2010/main" val="1755670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참조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] 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가상환경 세팅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en-US" altLang="ko-KR" sz="3600" b="1" i="0" dirty="0">
                <a:solidFill>
                  <a:srgbClr val="333333"/>
                </a:solidFill>
                <a:effectLst/>
                <a:latin typeface="Helvetica Neue"/>
              </a:rPr>
              <a:t>Virtual environment</a:t>
            </a:r>
            <a:r>
              <a:rPr lang="ko-KR" altLang="en-US" sz="3300" b="1" i="0" spc="-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Helvetica Neue"/>
              </a:rPr>
              <a:t> </a:t>
            </a:r>
            <a:endParaRPr lang="en-US" altLang="ko-KR" sz="3600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5CA7527-5E2B-47BB-9383-4F8ADF9018AB}"/>
              </a:ext>
            </a:extLst>
          </p:cNvPr>
          <p:cNvSpPr/>
          <p:nvPr/>
        </p:nvSpPr>
        <p:spPr>
          <a:xfrm>
            <a:off x="416358" y="1064241"/>
            <a:ext cx="10937442" cy="16433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가상환경 </a:t>
            </a:r>
            <a:r>
              <a:rPr lang="en-US" altLang="ko-KR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altLang="ko-KR" sz="28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endParaRPr lang="en-US" altLang="ko-KR" sz="28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 서버에서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여러개의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프로젝트 진행 시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</a:p>
          <a:p>
            <a:pPr algn="ctr"/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여러 프로젝트의 파이썬 라이브러리 버전간 충돌을 방지하기 위해 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프로젝트마다 독립적인 환경을 제공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6A46C2-EE30-4665-B00C-39AC83354162}"/>
              </a:ext>
            </a:extLst>
          </p:cNvPr>
          <p:cNvSpPr/>
          <p:nvPr/>
        </p:nvSpPr>
        <p:spPr>
          <a:xfrm>
            <a:off x="405538" y="2921904"/>
            <a:ext cx="7530447" cy="126188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  <a:t># </a:t>
            </a:r>
            <a:r>
              <a:rPr lang="ko-KR" altLang="en-US" sz="2000" b="1" spc="-150" dirty="0">
                <a:solidFill>
                  <a:schemeClr val="accent3">
                    <a:lumMod val="50000"/>
                  </a:schemeClr>
                </a:solidFill>
              </a:rPr>
              <a:t>해당 폴더 생성 후 </a:t>
            </a:r>
            <a: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  <a:t>&gt; </a:t>
            </a:r>
            <a:r>
              <a:rPr lang="ko-KR" altLang="en-US" sz="2000" b="1" spc="-150" dirty="0">
                <a:solidFill>
                  <a:schemeClr val="accent3">
                    <a:lumMod val="50000"/>
                  </a:schemeClr>
                </a:solidFill>
              </a:rPr>
              <a:t>폴더 위치 이동 </a:t>
            </a:r>
            <a:b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</a:br>
            <a:endParaRPr lang="ko-KR" altLang="en-US" sz="2000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pip install 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#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가상환경 설치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-m 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venv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.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venv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#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가상환경 생성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현재 폴더에 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my_env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폴더 생성됨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99C21AB-3D8C-440B-9B15-984332D6F976}"/>
              </a:ext>
            </a:extLst>
          </p:cNvPr>
          <p:cNvSpPr/>
          <p:nvPr/>
        </p:nvSpPr>
        <p:spPr>
          <a:xfrm>
            <a:off x="405538" y="4398111"/>
            <a:ext cx="7530447" cy="15388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  <a:t># </a:t>
            </a:r>
            <a:r>
              <a:rPr lang="ko-KR" altLang="en-US" sz="2000" b="1" spc="-150" dirty="0">
                <a:solidFill>
                  <a:schemeClr val="accent3">
                    <a:lumMod val="50000"/>
                  </a:schemeClr>
                </a:solidFill>
              </a:rPr>
              <a:t>가상환경 활성화 </a:t>
            </a:r>
            <a: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  <a:t>/ </a:t>
            </a:r>
            <a:r>
              <a:rPr lang="ko-KR" altLang="en-US" sz="2000" b="1" spc="-150" dirty="0">
                <a:solidFill>
                  <a:schemeClr val="accent3">
                    <a:lumMod val="50000"/>
                  </a:schemeClr>
                </a:solidFill>
              </a:rPr>
              <a:t>가상환경 해제 </a:t>
            </a:r>
            <a:b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</a:br>
            <a:endParaRPr lang="ko-KR" altLang="en-US" sz="2000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SF Mono"/>
              </a:rPr>
              <a:t>.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SF Mono"/>
              </a:rPr>
              <a:t>venv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F Mono"/>
              </a:rPr>
              <a:t>\Scripts\activate.bat   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my_env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\Scripts\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폴더에서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activate.bat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실행</a:t>
            </a:r>
            <a:b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                         # (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my_env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표시가 나타남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SF Mono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SF Mono"/>
              </a:rPr>
              <a:t>my_env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F Mono"/>
              </a:rPr>
              <a:t>) </a:t>
            </a:r>
            <a:r>
              <a:rPr lang="en-US" altLang="ko-KR" b="0" i="0" dirty="0" err="1">
                <a:solidFill>
                  <a:srgbClr val="000000"/>
                </a:solidFill>
                <a:effectLst/>
                <a:latin typeface="SF Mono"/>
              </a:rPr>
              <a:t>venv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SF Mono"/>
              </a:rPr>
              <a:t>\Scripts\deactivate  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 deactivate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빠져나옴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10E3069-FA79-4E4E-B7C2-C5325D75F702}"/>
              </a:ext>
            </a:extLst>
          </p:cNvPr>
          <p:cNvSpPr/>
          <p:nvPr/>
        </p:nvSpPr>
        <p:spPr>
          <a:xfrm>
            <a:off x="8657438" y="3143956"/>
            <a:ext cx="2508309" cy="25083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같은 환경에서</a:t>
            </a:r>
            <a:endParaRPr lang="en-US" altLang="ko-KR" dirty="0"/>
          </a:p>
          <a:p>
            <a:pPr algn="ctr"/>
            <a:r>
              <a:rPr lang="ko-KR" altLang="en-US" dirty="0"/>
              <a:t>진행된다면</a:t>
            </a:r>
            <a:endParaRPr lang="en-US" altLang="ko-KR" dirty="0"/>
          </a:p>
          <a:p>
            <a:pPr algn="ctr"/>
            <a:r>
              <a:rPr lang="ko-KR" altLang="en-US" dirty="0"/>
              <a:t>설정할 </a:t>
            </a:r>
            <a:r>
              <a:rPr lang="ko-KR" altLang="en-US" dirty="0" err="1"/>
              <a:t>필요없음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8885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D7B34-EF87-7B6A-6B26-86639CD68222}"/>
              </a:ext>
            </a:extLst>
          </p:cNvPr>
          <p:cNvSpPr txBox="1"/>
          <p:nvPr/>
        </p:nvSpPr>
        <p:spPr>
          <a:xfrm>
            <a:off x="2491530" y="2956339"/>
            <a:ext cx="7046753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dirty="0"/>
              <a:t>실행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B2A0E9F-BC04-FF41-2773-685839C12E3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9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8A5C-7A86-AC4A-FE89-F16E52AB3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098816-DFCD-0DFB-B060-C96231D27DA9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0F0C1E0-B474-38EF-D4BF-58C9CD675112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DE5999-2786-4D25-8C48-0BE6A9313863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main.py : router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없는 버전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5FCCB3-848A-9497-C180-982A8BCFF3B3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0D1D4FF-9D5B-0C88-24D1-28DF07426D8C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28230B5-DBF7-6AC8-B351-7B4748704DB5}"/>
              </a:ext>
            </a:extLst>
          </p:cNvPr>
          <p:cNvSpPr txBox="1"/>
          <p:nvPr/>
        </p:nvSpPr>
        <p:spPr>
          <a:xfrm>
            <a:off x="2603241" y="937614"/>
            <a:ext cx="5696622" cy="47705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fastapi</a:t>
            </a:r>
            <a:r>
              <a:rPr lang="ko-KR" altLang="ko-KR" dirty="0"/>
              <a:t> </a:t>
            </a:r>
            <a:r>
              <a:rPr lang="ko-KR" altLang="ko-KR" dirty="0" err="1"/>
              <a:t>import</a:t>
            </a:r>
            <a:r>
              <a:rPr lang="ko-KR" altLang="ko-KR" dirty="0"/>
              <a:t> </a:t>
            </a:r>
            <a:r>
              <a:rPr lang="ko-KR" altLang="ko-KR" dirty="0" err="1"/>
              <a:t>FastAPI</a:t>
            </a:r>
            <a:endParaRPr lang="ko-KR" altLang="ko-KR" dirty="0"/>
          </a:p>
          <a:p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typing</a:t>
            </a:r>
            <a:r>
              <a:rPr lang="ko-KR" altLang="ko-KR" dirty="0"/>
              <a:t> </a:t>
            </a:r>
            <a:r>
              <a:rPr lang="ko-KR" altLang="ko-KR" dirty="0" err="1"/>
              <a:t>import</a:t>
            </a:r>
            <a:r>
              <a:rPr lang="ko-KR" altLang="ko-KR" dirty="0"/>
              <a:t> Union</a:t>
            </a:r>
          </a:p>
          <a:p>
            <a:br>
              <a:rPr lang="ko-KR" altLang="ko-KR" dirty="0"/>
            </a:br>
            <a:r>
              <a:rPr lang="ko-KR" altLang="ko-KR" dirty="0" err="1"/>
              <a:t>app</a:t>
            </a:r>
            <a:r>
              <a:rPr lang="ko-KR" altLang="ko-KR" dirty="0"/>
              <a:t> = </a:t>
            </a:r>
            <a:r>
              <a:rPr lang="ko-KR" altLang="ko-KR" dirty="0" err="1"/>
              <a:t>FastAPI</a:t>
            </a:r>
            <a:r>
              <a:rPr lang="ko-KR" altLang="ko-KR" dirty="0"/>
              <a:t>()</a:t>
            </a:r>
          </a:p>
          <a:p>
            <a:endParaRPr lang="ko-KR" altLang="ko-KR" dirty="0"/>
          </a:p>
          <a:p>
            <a:r>
              <a:rPr lang="ko-KR" altLang="ko-KR" dirty="0"/>
              <a:t>@app.get("/")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read_root</a:t>
            </a:r>
            <a:r>
              <a:rPr lang="ko-KR" altLang="ko-KR" dirty="0"/>
              <a:t>():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{"</a:t>
            </a:r>
            <a:r>
              <a:rPr lang="ko-KR" altLang="ko-KR" dirty="0" err="1"/>
              <a:t>Hello</a:t>
            </a:r>
            <a:r>
              <a:rPr lang="ko-KR" altLang="ko-KR" dirty="0"/>
              <a:t>":"</a:t>
            </a:r>
            <a:r>
              <a:rPr lang="ko-KR" altLang="ko-KR" dirty="0" err="1"/>
              <a:t>world</a:t>
            </a:r>
            <a:r>
              <a:rPr lang="ko-KR" altLang="ko-KR" dirty="0"/>
              <a:t>"}</a:t>
            </a:r>
          </a:p>
          <a:p>
            <a:endParaRPr lang="ko-KR" altLang="ko-KR" dirty="0"/>
          </a:p>
          <a:p>
            <a:r>
              <a:rPr lang="ko-KR" altLang="ko-KR" dirty="0"/>
              <a:t>@app.get("/items/{item_id}")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read_item</a:t>
            </a:r>
            <a:r>
              <a:rPr lang="ko-KR" altLang="ko-KR" dirty="0"/>
              <a:t>(</a:t>
            </a:r>
            <a:r>
              <a:rPr lang="ko-KR" altLang="ko-KR" dirty="0" err="1"/>
              <a:t>item_id:int,q:str</a:t>
            </a:r>
            <a:r>
              <a:rPr lang="en-US" altLang="ko-KR" dirty="0"/>
              <a:t> | </a:t>
            </a:r>
            <a:r>
              <a:rPr lang="ko-KR" altLang="ko-KR" dirty="0" err="1"/>
              <a:t>None</a:t>
            </a:r>
            <a:r>
              <a:rPr lang="ko-KR" altLang="ko-KR" dirty="0"/>
              <a:t> = </a:t>
            </a:r>
            <a:r>
              <a:rPr lang="ko-KR" altLang="ko-KR" dirty="0" err="1"/>
              <a:t>None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{"item_</a:t>
            </a:r>
            <a:r>
              <a:rPr lang="ko-KR" altLang="ko-KR" dirty="0" err="1"/>
              <a:t>id</a:t>
            </a:r>
            <a:r>
              <a:rPr lang="ko-KR" altLang="ko-KR" dirty="0"/>
              <a:t>":item_</a:t>
            </a:r>
            <a:r>
              <a:rPr lang="ko-KR" altLang="ko-KR" dirty="0" err="1"/>
              <a:t>id</a:t>
            </a:r>
            <a:r>
              <a:rPr lang="ko-KR" altLang="ko-KR" dirty="0"/>
              <a:t>,"</a:t>
            </a:r>
            <a:r>
              <a:rPr lang="ko-KR" altLang="ko-KR" dirty="0" err="1"/>
              <a:t>q</a:t>
            </a:r>
            <a:r>
              <a:rPr lang="ko-KR" altLang="ko-KR" dirty="0"/>
              <a:t>":</a:t>
            </a:r>
            <a:r>
              <a:rPr lang="ko-KR" altLang="ko-KR" dirty="0" err="1"/>
              <a:t>q</a:t>
            </a:r>
            <a:r>
              <a:rPr lang="ko-KR" altLang="ko-KR" dirty="0"/>
              <a:t>}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1400" dirty="0">
                <a:solidFill>
                  <a:srgbClr val="EE0000"/>
                </a:solidFill>
              </a:rPr>
              <a:t># 2</a:t>
            </a:r>
            <a:r>
              <a:rPr lang="ko-KR" altLang="en-US" sz="1400" dirty="0">
                <a:solidFill>
                  <a:srgbClr val="EE0000"/>
                </a:solidFill>
              </a:rPr>
              <a:t>개 쿼리</a:t>
            </a:r>
            <a:br>
              <a:rPr lang="en-US" altLang="ko-KR" dirty="0"/>
            </a:br>
            <a:r>
              <a:rPr lang="ko-KR" altLang="ko-KR" sz="1400" dirty="0">
                <a:solidFill>
                  <a:srgbClr val="EE0000"/>
                </a:solidFill>
              </a:rPr>
              <a:t>@app.get("/items/{item_id}")</a:t>
            </a:r>
          </a:p>
          <a:p>
            <a:r>
              <a:rPr lang="ko-KR" altLang="ko-KR" sz="1400" dirty="0" err="1">
                <a:solidFill>
                  <a:srgbClr val="EE0000"/>
                </a:solidFill>
              </a:rPr>
              <a:t>def</a:t>
            </a:r>
            <a:r>
              <a:rPr lang="ko-KR" altLang="ko-KR" sz="1400" dirty="0">
                <a:solidFill>
                  <a:srgbClr val="EE0000"/>
                </a:solidFill>
              </a:rPr>
              <a:t> </a:t>
            </a:r>
            <a:r>
              <a:rPr lang="ko-KR" altLang="ko-KR" sz="1400" dirty="0" err="1">
                <a:solidFill>
                  <a:srgbClr val="EE0000"/>
                </a:solidFill>
              </a:rPr>
              <a:t>read_item</a:t>
            </a:r>
            <a:r>
              <a:rPr lang="ko-KR" altLang="ko-KR" sz="1400" dirty="0">
                <a:solidFill>
                  <a:srgbClr val="EE0000"/>
                </a:solidFill>
              </a:rPr>
              <a:t>(</a:t>
            </a:r>
            <a:r>
              <a:rPr lang="ko-KR" altLang="ko-KR" sz="1400" dirty="0" err="1">
                <a:solidFill>
                  <a:srgbClr val="EE0000"/>
                </a:solidFill>
              </a:rPr>
              <a:t>item_id:int,name:str</a:t>
            </a:r>
            <a:r>
              <a:rPr lang="ko-KR" altLang="ko-KR" sz="1400" dirty="0">
                <a:solidFill>
                  <a:srgbClr val="EE0000"/>
                </a:solidFill>
              </a:rPr>
              <a:t> | </a:t>
            </a:r>
            <a:r>
              <a:rPr lang="ko-KR" altLang="ko-KR" sz="1400" dirty="0" err="1">
                <a:solidFill>
                  <a:srgbClr val="EE0000"/>
                </a:solidFill>
              </a:rPr>
              <a:t>None</a:t>
            </a:r>
            <a:r>
              <a:rPr lang="ko-KR" altLang="ko-KR" sz="1400" dirty="0">
                <a:solidFill>
                  <a:srgbClr val="EE0000"/>
                </a:solidFill>
              </a:rPr>
              <a:t>=</a:t>
            </a:r>
            <a:r>
              <a:rPr lang="ko-KR" altLang="ko-KR" sz="1400" dirty="0" err="1">
                <a:solidFill>
                  <a:srgbClr val="EE0000"/>
                </a:solidFill>
              </a:rPr>
              <a:t>None,id:str</a:t>
            </a:r>
            <a:r>
              <a:rPr lang="ko-KR" altLang="ko-KR" sz="1400" dirty="0">
                <a:solidFill>
                  <a:srgbClr val="EE0000"/>
                </a:solidFill>
              </a:rPr>
              <a:t> | </a:t>
            </a:r>
            <a:r>
              <a:rPr lang="ko-KR" altLang="ko-KR" sz="1400" dirty="0" err="1">
                <a:solidFill>
                  <a:srgbClr val="EE0000"/>
                </a:solidFill>
              </a:rPr>
              <a:t>None</a:t>
            </a:r>
            <a:r>
              <a:rPr lang="ko-KR" altLang="ko-KR" sz="1400" dirty="0">
                <a:solidFill>
                  <a:srgbClr val="EE0000"/>
                </a:solidFill>
              </a:rPr>
              <a:t>=</a:t>
            </a:r>
            <a:r>
              <a:rPr lang="ko-KR" altLang="ko-KR" sz="1400" dirty="0" err="1">
                <a:solidFill>
                  <a:srgbClr val="EE0000"/>
                </a:solidFill>
              </a:rPr>
              <a:t>None</a:t>
            </a:r>
            <a:r>
              <a:rPr lang="ko-KR" altLang="ko-KR" sz="1400" dirty="0">
                <a:solidFill>
                  <a:srgbClr val="EE0000"/>
                </a:solidFill>
              </a:rPr>
              <a:t>):</a:t>
            </a:r>
          </a:p>
          <a:p>
            <a:r>
              <a:rPr lang="ko-KR" altLang="ko-KR" sz="1400" dirty="0">
                <a:solidFill>
                  <a:srgbClr val="EE0000"/>
                </a:solidFill>
              </a:rPr>
              <a:t>    </a:t>
            </a:r>
            <a:r>
              <a:rPr lang="ko-KR" altLang="ko-KR" sz="1400" dirty="0" err="1">
                <a:solidFill>
                  <a:srgbClr val="EE0000"/>
                </a:solidFill>
              </a:rPr>
              <a:t>return</a:t>
            </a:r>
            <a:r>
              <a:rPr lang="ko-KR" altLang="ko-KR" sz="1400" dirty="0">
                <a:solidFill>
                  <a:srgbClr val="EE0000"/>
                </a:solidFill>
              </a:rPr>
              <a:t> {"item_</a:t>
            </a:r>
            <a:r>
              <a:rPr lang="ko-KR" altLang="ko-KR" sz="1400" dirty="0" err="1">
                <a:solidFill>
                  <a:srgbClr val="EE0000"/>
                </a:solidFill>
              </a:rPr>
              <a:t>id</a:t>
            </a:r>
            <a:r>
              <a:rPr lang="ko-KR" altLang="ko-KR" sz="1400" dirty="0">
                <a:solidFill>
                  <a:srgbClr val="EE0000"/>
                </a:solidFill>
              </a:rPr>
              <a:t>":item_</a:t>
            </a:r>
            <a:r>
              <a:rPr lang="ko-KR" altLang="ko-KR" sz="1400" dirty="0" err="1">
                <a:solidFill>
                  <a:srgbClr val="EE0000"/>
                </a:solidFill>
              </a:rPr>
              <a:t>id</a:t>
            </a:r>
            <a:r>
              <a:rPr lang="ko-KR" altLang="ko-KR" sz="1400" dirty="0">
                <a:solidFill>
                  <a:srgbClr val="EE0000"/>
                </a:solidFill>
              </a:rPr>
              <a:t>,"</a:t>
            </a:r>
            <a:r>
              <a:rPr lang="ko-KR" altLang="ko-KR" sz="1400" dirty="0" err="1">
                <a:solidFill>
                  <a:srgbClr val="EE0000"/>
                </a:solidFill>
              </a:rPr>
              <a:t>name</a:t>
            </a:r>
            <a:r>
              <a:rPr lang="ko-KR" altLang="ko-KR" sz="1400" dirty="0">
                <a:solidFill>
                  <a:srgbClr val="EE0000"/>
                </a:solidFill>
              </a:rPr>
              <a:t>":</a:t>
            </a:r>
            <a:r>
              <a:rPr lang="ko-KR" altLang="ko-KR" sz="1400" dirty="0" err="1">
                <a:solidFill>
                  <a:srgbClr val="EE0000"/>
                </a:solidFill>
              </a:rPr>
              <a:t>name</a:t>
            </a:r>
            <a:r>
              <a:rPr lang="ko-KR" altLang="ko-KR" sz="1400" dirty="0">
                <a:solidFill>
                  <a:srgbClr val="EE0000"/>
                </a:solidFill>
              </a:rPr>
              <a:t>,"</a:t>
            </a:r>
            <a:r>
              <a:rPr lang="ko-KR" altLang="ko-KR" sz="1400" dirty="0" err="1">
                <a:solidFill>
                  <a:srgbClr val="EE0000"/>
                </a:solidFill>
              </a:rPr>
              <a:t>id</a:t>
            </a:r>
            <a:r>
              <a:rPr lang="ko-KR" altLang="ko-KR" sz="1400" dirty="0">
                <a:solidFill>
                  <a:srgbClr val="EE0000"/>
                </a:solidFill>
              </a:rPr>
              <a:t>":</a:t>
            </a:r>
            <a:r>
              <a:rPr lang="ko-KR" altLang="ko-KR" sz="1400" dirty="0" err="1">
                <a:solidFill>
                  <a:srgbClr val="EE0000"/>
                </a:solidFill>
              </a:rPr>
              <a:t>id</a:t>
            </a:r>
            <a:r>
              <a:rPr lang="ko-KR" altLang="ko-KR" sz="1400" dirty="0">
                <a:solidFill>
                  <a:srgbClr val="EE0000"/>
                </a:solidFill>
              </a:rPr>
              <a:t>}</a:t>
            </a:r>
          </a:p>
          <a:p>
            <a:endParaRPr lang="en-US" altLang="ko-KR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068843-4604-C0AB-CC9B-85AA0BCDB08D}"/>
              </a:ext>
            </a:extLst>
          </p:cNvPr>
          <p:cNvSpPr/>
          <p:nvPr/>
        </p:nvSpPr>
        <p:spPr>
          <a:xfrm>
            <a:off x="6534335" y="946003"/>
            <a:ext cx="1765527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7780034-AC49-E0C8-0E1A-64D439FEE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10658"/>
            <a:ext cx="2224090" cy="2758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953E37-F045-5B6A-E619-0A1AB3FA4DE9}"/>
              </a:ext>
            </a:extLst>
          </p:cNvPr>
          <p:cNvSpPr txBox="1"/>
          <p:nvPr/>
        </p:nvSpPr>
        <p:spPr>
          <a:xfrm>
            <a:off x="8448444" y="946003"/>
            <a:ext cx="3634699" cy="160043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get </a:t>
            </a:r>
            <a:r>
              <a:rPr lang="ko-KR" altLang="en-US" sz="1600" dirty="0"/>
              <a:t>요청으로 들어오면</a:t>
            </a:r>
            <a:endParaRPr lang="en-US" altLang="ko-KR" sz="1600" dirty="0"/>
          </a:p>
          <a:p>
            <a:r>
              <a:rPr lang="ko-KR" altLang="ko-KR" sz="1600" dirty="0"/>
              <a:t>/</a:t>
            </a:r>
            <a:r>
              <a:rPr lang="ko-KR" altLang="ko-KR" sz="1600" dirty="0" err="1"/>
              <a:t>items</a:t>
            </a:r>
            <a:r>
              <a:rPr lang="ko-KR" altLang="ko-KR" sz="1600" dirty="0"/>
              <a:t>/1</a:t>
            </a:r>
            <a:br>
              <a:rPr lang="ko-KR" altLang="ko-KR" sz="1600" dirty="0"/>
            </a:br>
            <a:r>
              <a:rPr lang="ko-KR" altLang="ko-KR" sz="1600" dirty="0"/>
              <a:t>/</a:t>
            </a:r>
            <a:r>
              <a:rPr lang="ko-KR" altLang="ko-KR" sz="1600" dirty="0" err="1"/>
              <a:t>items</a:t>
            </a:r>
            <a:r>
              <a:rPr lang="ko-KR" altLang="ko-KR" sz="1600" dirty="0"/>
              <a:t>/100</a:t>
            </a:r>
            <a:br>
              <a:rPr lang="ko-KR" altLang="ko-KR" sz="1600" dirty="0"/>
            </a:br>
            <a:r>
              <a:rPr lang="ko-KR" altLang="ko-KR" sz="1600" dirty="0"/>
              <a:t>/</a:t>
            </a:r>
            <a:r>
              <a:rPr lang="ko-KR" altLang="ko-KR" sz="1600" dirty="0" err="1"/>
              <a:t>items</a:t>
            </a:r>
            <a:r>
              <a:rPr lang="ko-KR" altLang="ko-KR" sz="1600" dirty="0"/>
              <a:t>/35</a:t>
            </a:r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ko-KR" dirty="0">
                <a:latin typeface="나눔스퀘어 Light (본문)"/>
              </a:rPr>
              <a:t>{</a:t>
            </a:r>
            <a:r>
              <a:rPr lang="ko-KR" altLang="ko-KR" dirty="0" err="1">
                <a:latin typeface="나눔스퀘어 Light (본문)"/>
              </a:rPr>
              <a:t>item_id</a:t>
            </a:r>
            <a:r>
              <a:rPr lang="ko-KR" altLang="ko-KR" dirty="0">
                <a:latin typeface="나눔스퀘어 Light (본문)"/>
              </a:rPr>
              <a:t>}</a:t>
            </a:r>
            <a:r>
              <a:rPr lang="ko-KR" altLang="ko-KR" sz="1600" dirty="0">
                <a:latin typeface="나눔스퀘어 Light (본문)"/>
              </a:rPr>
              <a:t>는 </a:t>
            </a:r>
            <a:r>
              <a:rPr lang="ko-KR" altLang="ko-KR" sz="1600" b="1" dirty="0">
                <a:latin typeface="나눔스퀘어 Light (본문)"/>
              </a:rPr>
              <a:t>경로 파라미터</a:t>
            </a:r>
            <a:br>
              <a:rPr lang="en-US" altLang="ko-KR" sz="1600" b="1" dirty="0">
                <a:latin typeface="나눔스퀘어 Light (본문)"/>
              </a:rPr>
            </a:br>
            <a:r>
              <a:rPr lang="ko-KR" altLang="en-US" sz="1600" b="1" dirty="0">
                <a:latin typeface="나눔스퀘어 Light (본문)"/>
              </a:rPr>
              <a:t>타입 </a:t>
            </a:r>
            <a:r>
              <a:rPr lang="en-US" altLang="ko-KR" sz="1600" b="1" dirty="0">
                <a:latin typeface="나눔스퀘어 Light (본문)"/>
              </a:rPr>
              <a:t>: int</a:t>
            </a:r>
            <a:r>
              <a:rPr lang="ko-KR" altLang="en-US" sz="1600" b="1" dirty="0">
                <a:latin typeface="나눔스퀘어 Light (본문)"/>
              </a:rPr>
              <a:t> 타입으로 자동변환</a:t>
            </a:r>
            <a:endParaRPr lang="en-US" altLang="ko-KR" sz="1600" b="1" dirty="0">
              <a:solidFill>
                <a:srgbClr val="FF0000"/>
              </a:solidFill>
              <a:latin typeface="나눔스퀘어 Light (본문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C10E4-BD1E-3D54-4B5C-95E38E6BBECB}"/>
              </a:ext>
            </a:extLst>
          </p:cNvPr>
          <p:cNvSpPr txBox="1"/>
          <p:nvPr/>
        </p:nvSpPr>
        <p:spPr>
          <a:xfrm>
            <a:off x="8448444" y="2621761"/>
            <a:ext cx="3634699" cy="212365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q</a:t>
            </a:r>
            <a:r>
              <a:rPr lang="ko-KR" altLang="en-US" sz="1600" dirty="0"/>
              <a:t>는 쿼리 파라미터 </a:t>
            </a:r>
            <a:r>
              <a:rPr lang="en-US" altLang="ko-KR" sz="1600" dirty="0"/>
              <a:t>: ?</a:t>
            </a:r>
            <a:r>
              <a:rPr lang="ko-KR" altLang="en-US" sz="1600" dirty="0"/>
              <a:t>로</a:t>
            </a:r>
            <a:r>
              <a:rPr lang="en-US" altLang="ko-KR" sz="1600" dirty="0"/>
              <a:t> </a:t>
            </a:r>
            <a:r>
              <a:rPr lang="ko-KR" altLang="en-US" sz="1600" dirty="0"/>
              <a:t>들어오는 값</a:t>
            </a:r>
            <a:endParaRPr lang="en-US" altLang="ko-KR" sz="1600" dirty="0"/>
          </a:p>
          <a:p>
            <a:r>
              <a:rPr lang="ko-KR" altLang="ko-KR" sz="1600" dirty="0"/>
              <a:t>/</a:t>
            </a:r>
            <a:r>
              <a:rPr lang="ko-KR" altLang="ko-KR" sz="1600" dirty="0" err="1"/>
              <a:t>items</a:t>
            </a:r>
            <a:r>
              <a:rPr lang="ko-KR" altLang="ko-KR" sz="1600" dirty="0"/>
              <a:t>/10?q=</a:t>
            </a:r>
            <a:r>
              <a:rPr lang="ko-KR" altLang="ko-KR" sz="1600" dirty="0" err="1"/>
              <a:t>apple</a:t>
            </a:r>
            <a:br>
              <a:rPr lang="en-US" altLang="ko-KR" sz="1600" dirty="0"/>
            </a:br>
            <a:endParaRPr lang="en-US" altLang="ko-KR" sz="1600" dirty="0"/>
          </a:p>
          <a:p>
            <a:r>
              <a:rPr lang="en-US" altLang="ko-KR" sz="1600" dirty="0"/>
              <a:t>* </a:t>
            </a:r>
            <a:r>
              <a:rPr lang="ko-KR" altLang="en-US" sz="1600" dirty="0" err="1"/>
              <a:t>다른방법</a:t>
            </a:r>
            <a:br>
              <a:rPr lang="en-US" altLang="ko-KR" sz="1600" dirty="0"/>
            </a:br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typing</a:t>
            </a:r>
            <a:r>
              <a:rPr lang="ko-KR" altLang="ko-KR" dirty="0"/>
              <a:t> </a:t>
            </a:r>
            <a:r>
              <a:rPr lang="ko-KR" altLang="ko-KR" dirty="0" err="1"/>
              <a:t>import</a:t>
            </a:r>
            <a:r>
              <a:rPr lang="ko-KR" altLang="ko-KR" dirty="0"/>
              <a:t> Union</a:t>
            </a:r>
          </a:p>
          <a:p>
            <a:br>
              <a:rPr lang="en-US" altLang="ko-KR" sz="1600" dirty="0"/>
            </a:br>
            <a:r>
              <a:rPr lang="ko-KR" altLang="ko-KR" sz="1600" dirty="0"/>
              <a:t>q: Union[</a:t>
            </a:r>
            <a:r>
              <a:rPr lang="ko-KR" altLang="ko-KR" sz="1600" dirty="0" err="1"/>
              <a:t>str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None</a:t>
            </a:r>
            <a:r>
              <a:rPr lang="ko-KR" altLang="ko-KR" sz="1600" dirty="0"/>
              <a:t>] = </a:t>
            </a:r>
            <a:r>
              <a:rPr lang="ko-KR" altLang="ko-KR" sz="1600" dirty="0" err="1"/>
              <a:t>None</a:t>
            </a:r>
            <a:br>
              <a:rPr lang="en-US" altLang="ko-KR" sz="1600" dirty="0"/>
            </a:br>
            <a:r>
              <a:rPr lang="ko-KR" altLang="ko-KR" sz="1600" dirty="0"/>
              <a:t>사용자가 </a:t>
            </a:r>
            <a:r>
              <a:rPr lang="ko-KR" altLang="ko-KR" dirty="0" err="1"/>
              <a:t>q</a:t>
            </a:r>
            <a:r>
              <a:rPr lang="ko-KR" altLang="ko-KR" sz="1600" dirty="0" err="1"/>
              <a:t>를</a:t>
            </a:r>
            <a:r>
              <a:rPr lang="ko-KR" altLang="ko-KR" sz="1600" dirty="0"/>
              <a:t> 안 보내도 에러가 나지 않</a:t>
            </a:r>
            <a:r>
              <a:rPr lang="ko-KR" altLang="en-US" sz="1600" dirty="0"/>
              <a:t>음</a:t>
            </a:r>
            <a:r>
              <a:rPr lang="ko-KR" altLang="ko-KR" sz="1600" dirty="0"/>
              <a:t>.</a:t>
            </a:r>
            <a:endParaRPr lang="en-US" altLang="ko-KR" sz="1600" b="1" dirty="0">
              <a:solidFill>
                <a:srgbClr val="FF0000"/>
              </a:solidFill>
              <a:latin typeface="나눔스퀘어 Light (본문)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4BFF72-8ACC-61CB-86EC-8CCC7B725511}"/>
              </a:ext>
            </a:extLst>
          </p:cNvPr>
          <p:cNvSpPr txBox="1"/>
          <p:nvPr/>
        </p:nvSpPr>
        <p:spPr>
          <a:xfrm>
            <a:off x="2603241" y="5775759"/>
            <a:ext cx="5696622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uvicorn</a:t>
            </a:r>
            <a:r>
              <a:rPr lang="ko-KR" altLang="ko-KR" dirty="0"/>
              <a:t> </a:t>
            </a:r>
            <a:r>
              <a:rPr lang="ko-KR" altLang="ko-KR" dirty="0" err="1"/>
              <a:t>main:app</a:t>
            </a:r>
            <a:r>
              <a:rPr lang="ko-KR" altLang="ko-KR" dirty="0"/>
              <a:t> </a:t>
            </a:r>
            <a:r>
              <a:rPr lang="en-US" altLang="ko-KR" dirty="0"/>
              <a:t>–</a:t>
            </a:r>
            <a:r>
              <a:rPr lang="ko-KR" altLang="ko-KR" dirty="0" err="1"/>
              <a:t>reload</a:t>
            </a:r>
            <a:br>
              <a:rPr lang="en-US" altLang="ko-KR" dirty="0"/>
            </a:br>
            <a:r>
              <a:rPr lang="ko-KR" altLang="ko-KR" dirty="0" err="1">
                <a:highlight>
                  <a:srgbClr val="FFFF00"/>
                </a:highlight>
              </a:rPr>
              <a:t>uvicorn</a:t>
            </a:r>
            <a:r>
              <a:rPr lang="ko-KR" altLang="ko-KR" dirty="0">
                <a:highlight>
                  <a:srgbClr val="FFFF00"/>
                </a:highlight>
              </a:rPr>
              <a:t> </a:t>
            </a:r>
            <a:r>
              <a:rPr lang="ko-KR" altLang="ko-KR" dirty="0" err="1">
                <a:highlight>
                  <a:srgbClr val="FFFF00"/>
                </a:highlight>
              </a:rPr>
              <a:t>main:app</a:t>
            </a:r>
            <a:r>
              <a:rPr lang="ko-KR" altLang="ko-KR" dirty="0">
                <a:highlight>
                  <a:srgbClr val="FFFF00"/>
                </a:highlight>
              </a:rPr>
              <a:t> --</a:t>
            </a:r>
            <a:r>
              <a:rPr lang="ko-KR" altLang="ko-KR" dirty="0" err="1">
                <a:highlight>
                  <a:srgbClr val="FFFF00"/>
                </a:highlight>
              </a:rPr>
              <a:t>reload</a:t>
            </a:r>
            <a:r>
              <a:rPr lang="ko-KR" altLang="ko-KR" dirty="0">
                <a:highlight>
                  <a:srgbClr val="FFFF00"/>
                </a:highlight>
              </a:rPr>
              <a:t> --</a:t>
            </a:r>
            <a:r>
              <a:rPr lang="ko-KR" altLang="ko-KR" dirty="0" err="1">
                <a:highlight>
                  <a:srgbClr val="FFFF00"/>
                </a:highlight>
              </a:rPr>
              <a:t>port</a:t>
            </a:r>
            <a:r>
              <a:rPr lang="ko-KR" altLang="ko-KR" dirty="0">
                <a:highlight>
                  <a:srgbClr val="FFFF00"/>
                </a:highlight>
              </a:rPr>
              <a:t> 8001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python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–m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ko-KR" altLang="ko-KR" dirty="0" err="1">
                <a:highlight>
                  <a:srgbClr val="FFFF00"/>
                </a:highlight>
              </a:rPr>
              <a:t>uvicorn</a:t>
            </a:r>
            <a:r>
              <a:rPr lang="ko-KR" altLang="ko-KR" dirty="0">
                <a:highlight>
                  <a:srgbClr val="FFFF00"/>
                </a:highlight>
              </a:rPr>
              <a:t> </a:t>
            </a:r>
            <a:r>
              <a:rPr lang="ko-KR" altLang="ko-KR" dirty="0" err="1">
                <a:highlight>
                  <a:srgbClr val="FFFF00"/>
                </a:highlight>
              </a:rPr>
              <a:t>main:app</a:t>
            </a:r>
            <a:r>
              <a:rPr lang="ko-KR" altLang="ko-KR" dirty="0">
                <a:highlight>
                  <a:srgbClr val="FFFF00"/>
                </a:highlight>
              </a:rPr>
              <a:t> --</a:t>
            </a:r>
            <a:r>
              <a:rPr lang="ko-KR" altLang="ko-KR" dirty="0" err="1">
                <a:highlight>
                  <a:srgbClr val="FFFF00"/>
                </a:highlight>
              </a:rPr>
              <a:t>reload</a:t>
            </a:r>
            <a:r>
              <a:rPr lang="ko-KR" altLang="ko-KR" dirty="0">
                <a:highlight>
                  <a:srgbClr val="FFFF00"/>
                </a:highlight>
              </a:rPr>
              <a:t> --</a:t>
            </a:r>
            <a:r>
              <a:rPr lang="ko-KR" altLang="ko-KR" dirty="0" err="1">
                <a:highlight>
                  <a:srgbClr val="FFFF00"/>
                </a:highlight>
              </a:rPr>
              <a:t>port</a:t>
            </a:r>
            <a:r>
              <a:rPr lang="ko-KR" altLang="ko-KR" dirty="0">
                <a:highlight>
                  <a:srgbClr val="FFFF00"/>
                </a:highlight>
              </a:rPr>
              <a:t> 8001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2774E8-D310-C222-098F-5ACA57332EBE}"/>
              </a:ext>
            </a:extLst>
          </p:cNvPr>
          <p:cNvSpPr/>
          <p:nvPr/>
        </p:nvSpPr>
        <p:spPr>
          <a:xfrm>
            <a:off x="6534335" y="5784148"/>
            <a:ext cx="1765527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run.bat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6F86D3-BCFB-FB18-0290-50E6C8DCFDCF}"/>
              </a:ext>
            </a:extLst>
          </p:cNvPr>
          <p:cNvSpPr txBox="1"/>
          <p:nvPr/>
        </p:nvSpPr>
        <p:spPr>
          <a:xfrm>
            <a:off x="8448444" y="5784148"/>
            <a:ext cx="3634699" cy="10772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command </a:t>
            </a:r>
            <a:r>
              <a:rPr lang="ko-KR" altLang="en-US" sz="1600" dirty="0"/>
              <a:t>창</a:t>
            </a:r>
            <a:br>
              <a:rPr lang="en-US" altLang="ko-KR" sz="1600" dirty="0"/>
            </a:br>
            <a:r>
              <a:rPr lang="en-US" altLang="ko-KR" sz="1600" dirty="0"/>
              <a:t>run  : </a:t>
            </a:r>
            <a:r>
              <a:rPr lang="ko-KR" altLang="en-US" sz="1600" dirty="0" err="1"/>
              <a:t>입력시</a:t>
            </a:r>
            <a:r>
              <a:rPr lang="ko-KR" altLang="en-US" sz="1600" dirty="0"/>
              <a:t> 바로 실행 됨</a:t>
            </a:r>
            <a:br>
              <a:rPr lang="en-US" altLang="ko-KR" sz="1600" dirty="0"/>
            </a:br>
            <a:br>
              <a:rPr lang="en-US" altLang="ko-KR" sz="1600" dirty="0"/>
            </a:br>
            <a:r>
              <a:rPr lang="en-US" altLang="ko-KR" sz="1600" dirty="0">
                <a:solidFill>
                  <a:srgbClr val="EE0000"/>
                </a:solidFill>
              </a:rPr>
              <a:t>port</a:t>
            </a:r>
            <a:r>
              <a:rPr lang="ko-KR" altLang="en-US" sz="1600" dirty="0">
                <a:solidFill>
                  <a:srgbClr val="EE0000"/>
                </a:solidFill>
              </a:rPr>
              <a:t> 변경가능</a:t>
            </a:r>
            <a:endParaRPr lang="en-US" altLang="ko-KR" sz="1600" b="1" dirty="0">
              <a:solidFill>
                <a:srgbClr val="EE0000"/>
              </a:solidFill>
              <a:latin typeface="나눔스퀘어 Light (본문)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157D813-C989-D618-EC74-85B6BAB7AA8E}"/>
              </a:ext>
            </a:extLst>
          </p:cNvPr>
          <p:cNvSpPr/>
          <p:nvPr/>
        </p:nvSpPr>
        <p:spPr>
          <a:xfrm>
            <a:off x="422200" y="2071249"/>
            <a:ext cx="1840827" cy="299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629CBA-AF99-F15F-EB14-8F7D0F1A1349}"/>
              </a:ext>
            </a:extLst>
          </p:cNvPr>
          <p:cNvSpPr/>
          <p:nvPr/>
        </p:nvSpPr>
        <p:spPr>
          <a:xfrm>
            <a:off x="422200" y="2454206"/>
            <a:ext cx="1840827" cy="299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06791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2ACC-5199-4B67-0727-23AD9C1F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9ECFA603-48F5-299B-484F-4C7277E3AC8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18774E3-B17E-B303-5BE7-1C088BC2641A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A9DF79B-7D34-4D76-E7B1-9EFE0456C171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docs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형태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127.0.0.1/docs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3D00B58-7DB7-6573-6D4F-09C2EF12EC5A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C85FA6F-8092-8C87-6291-F154C85E1E5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E200927-B973-C46D-5FCC-E5203EAF0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084755"/>
            <a:ext cx="10997682" cy="44186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E25D95-F047-F18F-9F17-547D0368F524}"/>
              </a:ext>
            </a:extLst>
          </p:cNvPr>
          <p:cNvSpPr/>
          <p:nvPr/>
        </p:nvSpPr>
        <p:spPr>
          <a:xfrm>
            <a:off x="627278" y="1028691"/>
            <a:ext cx="11030803" cy="902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3600" dirty="0" err="1">
                <a:solidFill>
                  <a:srgbClr val="333333"/>
                </a:solidFill>
              </a:rPr>
              <a:t>Swagger</a:t>
            </a:r>
            <a:r>
              <a:rPr lang="en-US" altLang="ko-KR" sz="3600" dirty="0">
                <a:solidFill>
                  <a:srgbClr val="333333"/>
                </a:solidFill>
              </a:rPr>
              <a:t> : </a:t>
            </a:r>
            <a:r>
              <a:rPr lang="ko-KR" altLang="en-US" sz="36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문서보기</a:t>
            </a:r>
          </a:p>
        </p:txBody>
      </p:sp>
    </p:spTree>
    <p:extLst>
      <p:ext uri="{BB962C8B-B14F-4D97-AF65-F5344CB8AC3E}">
        <p14:creationId xmlns:p14="http://schemas.microsoft.com/office/powerpoint/2010/main" val="244422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MVC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패턴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546E41F-9B47-448E-8023-D8B93EAB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69" y="1308683"/>
            <a:ext cx="11262413" cy="504274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0212327-B7EC-4CEB-86AF-8E8BBE199F8E}"/>
              </a:ext>
            </a:extLst>
          </p:cNvPr>
          <p:cNvSpPr/>
          <p:nvPr/>
        </p:nvSpPr>
        <p:spPr>
          <a:xfrm>
            <a:off x="8081250" y="3584805"/>
            <a:ext cx="1622587" cy="688615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router</a:t>
            </a:r>
            <a:br>
              <a:rPr lang="en-US" altLang="ko-KR" sz="2000" dirty="0"/>
            </a:br>
            <a:r>
              <a:rPr lang="en-US" altLang="ko-KR" sz="2000" dirty="0"/>
              <a:t>( controller)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2771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431C-E474-132E-77A9-87B73254A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DB96779-7F5F-755F-DACD-B175C990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8" y="1010658"/>
            <a:ext cx="2277600" cy="2824224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F7C913-DC51-6EAA-4402-511E513C52C8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54A563E-9A69-1CC0-8FAE-073A9A47404D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9340644-7426-BD21-D30A-1D126DC416AD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controller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분리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02DF1D-B250-D628-ADF4-F5F606065B91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DF6EF0E-E484-AEE1-56BA-7770373BA265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EB1D8F-D5E0-2632-1F42-6753D0F907AD}"/>
              </a:ext>
            </a:extLst>
          </p:cNvPr>
          <p:cNvSpPr txBox="1"/>
          <p:nvPr/>
        </p:nvSpPr>
        <p:spPr>
          <a:xfrm>
            <a:off x="2603241" y="937614"/>
            <a:ext cx="5696622" cy="42473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fastapi</a:t>
            </a:r>
            <a:r>
              <a:rPr lang="ko-KR" altLang="ko-KR" dirty="0"/>
              <a:t> </a:t>
            </a:r>
            <a:r>
              <a:rPr lang="ko-KR" altLang="ko-KR" dirty="0" err="1"/>
              <a:t>import</a:t>
            </a:r>
            <a:r>
              <a:rPr lang="ko-KR" altLang="ko-KR" dirty="0"/>
              <a:t> </a:t>
            </a:r>
            <a:r>
              <a:rPr lang="ko-KR" altLang="ko-KR" dirty="0" err="1"/>
              <a:t>FastAPI</a:t>
            </a:r>
            <a:endParaRPr lang="ko-KR" altLang="ko-KR" dirty="0"/>
          </a:p>
          <a:p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controller</a:t>
            </a:r>
            <a:r>
              <a:rPr lang="ko-KR" altLang="ko-KR" dirty="0"/>
              <a:t> </a:t>
            </a:r>
            <a:r>
              <a:rPr lang="ko-KR" altLang="ko-KR" dirty="0" err="1"/>
              <a:t>import</a:t>
            </a:r>
            <a:r>
              <a:rPr lang="ko-KR" altLang="ko-KR" dirty="0"/>
              <a:t> </a:t>
            </a:r>
            <a:r>
              <a:rPr lang="ko-KR" altLang="ko-KR" dirty="0" err="1"/>
              <a:t>itemsCont</a:t>
            </a:r>
            <a:r>
              <a:rPr lang="en-US" altLang="ko-KR" dirty="0"/>
              <a:t>r</a:t>
            </a:r>
            <a:r>
              <a:rPr lang="ko-KR" altLang="ko-KR" dirty="0" err="1"/>
              <a:t>oller</a:t>
            </a:r>
            <a:r>
              <a:rPr lang="ko-KR" altLang="ko-KR" dirty="0"/>
              <a:t>, </a:t>
            </a:r>
            <a:r>
              <a:rPr lang="ko-KR" altLang="ko-KR" dirty="0" err="1"/>
              <a:t>usersController</a:t>
            </a:r>
            <a:endParaRPr lang="ko-KR" altLang="ko-KR" dirty="0"/>
          </a:p>
          <a:p>
            <a:br>
              <a:rPr lang="ko-KR" altLang="ko-KR" dirty="0"/>
            </a:br>
            <a:r>
              <a:rPr lang="ko-KR" altLang="ko-KR" dirty="0" err="1"/>
              <a:t>app</a:t>
            </a:r>
            <a:r>
              <a:rPr lang="ko-KR" altLang="ko-KR" dirty="0"/>
              <a:t> = </a:t>
            </a:r>
            <a:r>
              <a:rPr lang="ko-KR" altLang="ko-KR" dirty="0" err="1"/>
              <a:t>FastAPI</a:t>
            </a:r>
            <a:r>
              <a:rPr lang="ko-KR" altLang="ko-KR" dirty="0"/>
              <a:t>()</a:t>
            </a:r>
          </a:p>
          <a:p>
            <a:endParaRPr lang="en-US" altLang="ko-KR" dirty="0"/>
          </a:p>
          <a:p>
            <a:r>
              <a:rPr lang="ko-KR" altLang="ko-KR" dirty="0" err="1"/>
              <a:t>app.include_router</a:t>
            </a:r>
            <a:r>
              <a:rPr lang="ko-KR" altLang="ko-KR" dirty="0"/>
              <a:t>(</a:t>
            </a:r>
            <a:r>
              <a:rPr lang="ko-KR" altLang="ko-KR" dirty="0" err="1"/>
              <a:t>itemsCont</a:t>
            </a:r>
            <a:r>
              <a:rPr lang="en-US" altLang="ko-KR" dirty="0"/>
              <a:t>r</a:t>
            </a:r>
            <a:r>
              <a:rPr lang="ko-KR" altLang="ko-KR" dirty="0" err="1"/>
              <a:t>oller.router</a:t>
            </a:r>
            <a:r>
              <a:rPr lang="ko-KR" altLang="ko-KR" dirty="0"/>
              <a:t>)</a:t>
            </a:r>
          </a:p>
          <a:p>
            <a:r>
              <a:rPr lang="ko-KR" altLang="ko-KR" dirty="0" err="1"/>
              <a:t>app.include_router</a:t>
            </a:r>
            <a:r>
              <a:rPr lang="ko-KR" altLang="ko-KR" dirty="0"/>
              <a:t>(</a:t>
            </a:r>
            <a:r>
              <a:rPr lang="ko-KR" altLang="ko-KR" dirty="0" err="1"/>
              <a:t>usersController.router</a:t>
            </a:r>
            <a:r>
              <a:rPr lang="ko-KR" altLang="ko-KR" dirty="0"/>
              <a:t>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@app.get("/")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read_root</a:t>
            </a:r>
            <a:r>
              <a:rPr lang="ko-KR" altLang="ko-KR" dirty="0"/>
              <a:t>():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{"</a:t>
            </a:r>
            <a:r>
              <a:rPr lang="ko-KR" altLang="ko-KR" dirty="0" err="1"/>
              <a:t>Hello</a:t>
            </a:r>
            <a:r>
              <a:rPr lang="ko-KR" altLang="ko-KR" dirty="0"/>
              <a:t>":"</a:t>
            </a:r>
            <a:r>
              <a:rPr lang="ko-KR" altLang="ko-KR" dirty="0" err="1"/>
              <a:t>world</a:t>
            </a:r>
            <a:r>
              <a:rPr lang="ko-KR" altLang="ko-KR" dirty="0"/>
              <a:t>"}</a:t>
            </a:r>
          </a:p>
          <a:p>
            <a:br>
              <a:rPr lang="ko-KR" altLang="ko-KR" dirty="0"/>
            </a:br>
            <a:endParaRPr lang="ko-KR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0AB841-66B8-1087-214C-D791C3F797D8}"/>
              </a:ext>
            </a:extLst>
          </p:cNvPr>
          <p:cNvSpPr/>
          <p:nvPr/>
        </p:nvSpPr>
        <p:spPr>
          <a:xfrm>
            <a:off x="6534335" y="946003"/>
            <a:ext cx="1765527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main.py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5E6AC4-F9FE-984D-2EE5-FB573A98810A}"/>
              </a:ext>
            </a:extLst>
          </p:cNvPr>
          <p:cNvSpPr txBox="1"/>
          <p:nvPr/>
        </p:nvSpPr>
        <p:spPr>
          <a:xfrm>
            <a:off x="8448444" y="1530779"/>
            <a:ext cx="3634699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다른파일을</a:t>
            </a:r>
            <a:r>
              <a:rPr lang="ko-KR" altLang="en-US" sz="1600" dirty="0"/>
              <a:t> 사용하려면 </a:t>
            </a:r>
            <a:r>
              <a:rPr lang="en-US" altLang="ko-KR" sz="1600" dirty="0"/>
              <a:t>import </a:t>
            </a:r>
            <a:r>
              <a:rPr lang="ko-KR" altLang="en-US" sz="1600" dirty="0"/>
              <a:t>해야 함</a:t>
            </a:r>
            <a:endParaRPr lang="en-US" altLang="ko-KR" sz="1600" b="1" dirty="0">
              <a:solidFill>
                <a:srgbClr val="FF0000"/>
              </a:solidFill>
              <a:latin typeface="나눔스퀘어 Light (본문)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EFDDB0-78B0-3191-AF7B-365315E242C6}"/>
              </a:ext>
            </a:extLst>
          </p:cNvPr>
          <p:cNvSpPr/>
          <p:nvPr/>
        </p:nvSpPr>
        <p:spPr>
          <a:xfrm flipV="1">
            <a:off x="422200" y="3088429"/>
            <a:ext cx="2032460" cy="3032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B1F4FD-F655-ADB2-592F-52DEA4A34A6F}"/>
              </a:ext>
            </a:extLst>
          </p:cNvPr>
          <p:cNvSpPr/>
          <p:nvPr/>
        </p:nvSpPr>
        <p:spPr>
          <a:xfrm>
            <a:off x="2603240" y="1530779"/>
            <a:ext cx="5696621" cy="391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5906BC-347B-3767-BA61-8CEF77D7B9B5}"/>
              </a:ext>
            </a:extLst>
          </p:cNvPr>
          <p:cNvSpPr/>
          <p:nvPr/>
        </p:nvSpPr>
        <p:spPr>
          <a:xfrm>
            <a:off x="2603240" y="2550213"/>
            <a:ext cx="5696621" cy="7808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19BC11-CBF0-E297-2942-35E215C6D30A}"/>
              </a:ext>
            </a:extLst>
          </p:cNvPr>
          <p:cNvSpPr txBox="1"/>
          <p:nvPr/>
        </p:nvSpPr>
        <p:spPr>
          <a:xfrm>
            <a:off x="8448444" y="2529429"/>
            <a:ext cx="3634699" cy="33855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FF0000"/>
                </a:solidFill>
                <a:latin typeface="나눔스퀘어 Light (본문)"/>
              </a:rPr>
              <a:t>itemsController</a:t>
            </a:r>
            <a:r>
              <a:rPr lang="ko-KR" altLang="en-US" sz="1600" b="1" dirty="0">
                <a:solidFill>
                  <a:srgbClr val="FF0000"/>
                </a:solidFill>
                <a:latin typeface="나눔스퀘어 Light (본문)"/>
              </a:rPr>
              <a:t>의 </a:t>
            </a:r>
            <a:r>
              <a:rPr lang="en-US" altLang="ko-KR" sz="1600" b="1" dirty="0">
                <a:solidFill>
                  <a:srgbClr val="FF0000"/>
                </a:solidFill>
                <a:latin typeface="나눔스퀘어 Light (본문)"/>
              </a:rPr>
              <a:t>router </a:t>
            </a:r>
            <a:r>
              <a:rPr lang="ko-KR" altLang="en-US" sz="1600" b="1" dirty="0">
                <a:solidFill>
                  <a:srgbClr val="FF0000"/>
                </a:solidFill>
                <a:latin typeface="나눔스퀘어 Light (본문)"/>
              </a:rPr>
              <a:t>사용</a:t>
            </a:r>
            <a:endParaRPr lang="en-US" altLang="ko-KR" sz="1600" b="1" dirty="0">
              <a:solidFill>
                <a:srgbClr val="FF0000"/>
              </a:solidFill>
              <a:latin typeface="나눔스퀘어 Light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199739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E36E-2DE0-E1F3-D85B-E8638BF2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0EABCC58-97F2-8269-8E25-6F37EFB7B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8" y="1010658"/>
            <a:ext cx="2277600" cy="2824224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0CDE461D-591D-87E1-A741-BE3F627F8D2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80DEF59-7E6A-40DE-E870-018096402F5C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EF1902-350B-563B-64CB-4CCEB6BA4B8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controller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분리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8095D3-E5EF-06FF-6FFF-B1B026C48EF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3699F879-8704-9B7F-A1B1-F5D1A5567854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CA6CA56-A66D-29BB-4AF1-79865B77D1F1}"/>
              </a:ext>
            </a:extLst>
          </p:cNvPr>
          <p:cNvSpPr txBox="1"/>
          <p:nvPr/>
        </p:nvSpPr>
        <p:spPr>
          <a:xfrm>
            <a:off x="2603240" y="937614"/>
            <a:ext cx="7231225" cy="2893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fastapi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APIRouter</a:t>
            </a:r>
            <a:endParaRPr lang="ko-KR" altLang="ko-KR" sz="1600" dirty="0"/>
          </a:p>
          <a:p>
            <a:endParaRPr lang="ko-KR" altLang="ko-KR" sz="1600" dirty="0"/>
          </a:p>
          <a:p>
            <a:r>
              <a:rPr lang="ko-KR" altLang="ko-KR" sz="1600" dirty="0" err="1"/>
              <a:t>router</a:t>
            </a:r>
            <a:r>
              <a:rPr lang="ko-KR" altLang="ko-KR" sz="1600" dirty="0"/>
              <a:t> = </a:t>
            </a:r>
            <a:r>
              <a:rPr lang="ko-KR" altLang="ko-KR" sz="1600" dirty="0" err="1"/>
              <a:t>APIRouter</a:t>
            </a:r>
            <a:r>
              <a:rPr lang="ko-KR" altLang="ko-KR" sz="1600" dirty="0"/>
              <a:t>(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prefix</a:t>
            </a:r>
            <a:r>
              <a:rPr lang="ko-KR" altLang="ko-KR" sz="1600" dirty="0"/>
              <a:t>="/</a:t>
            </a:r>
            <a:r>
              <a:rPr lang="ko-KR" altLang="ko-KR" sz="1600" dirty="0" err="1"/>
              <a:t>items</a:t>
            </a:r>
            <a:r>
              <a:rPr lang="ko-KR" altLang="ko-KR" sz="1600" dirty="0"/>
              <a:t>",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tags</a:t>
            </a:r>
            <a:r>
              <a:rPr lang="ko-KR" altLang="ko-KR" sz="1600" dirty="0"/>
              <a:t>= ["</a:t>
            </a:r>
            <a:r>
              <a:rPr lang="ko-KR" altLang="ko-KR" sz="1600" dirty="0" err="1"/>
              <a:t>items</a:t>
            </a:r>
            <a:r>
              <a:rPr lang="ko-KR" altLang="ko-KR" sz="1600" dirty="0"/>
              <a:t>"],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responses</a:t>
            </a:r>
            <a:r>
              <a:rPr lang="ko-KR" altLang="ko-KR" sz="1600" dirty="0"/>
              <a:t>={404:{"</a:t>
            </a:r>
            <a:r>
              <a:rPr lang="ko-KR" altLang="ko-KR" sz="1600" dirty="0" err="1"/>
              <a:t>description</a:t>
            </a:r>
            <a:r>
              <a:rPr lang="ko-KR" altLang="ko-KR" sz="1600" dirty="0"/>
              <a:t>":"페이지 없음"}},</a:t>
            </a:r>
          </a:p>
          <a:p>
            <a:r>
              <a:rPr lang="ko-KR" altLang="ko-KR" sz="1600" dirty="0"/>
              <a:t>)</a:t>
            </a:r>
          </a:p>
          <a:p>
            <a:endParaRPr lang="ko-KR" altLang="ko-KR" sz="1600" dirty="0"/>
          </a:p>
          <a:p>
            <a:r>
              <a:rPr lang="ko-KR" altLang="ko-KR" sz="1600" dirty="0"/>
              <a:t>@router.get("/{item_id}")</a:t>
            </a:r>
          </a:p>
          <a:p>
            <a:r>
              <a:rPr lang="ko-KR" altLang="ko-KR" sz="1600" dirty="0" err="1"/>
              <a:t>def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read_item</a:t>
            </a:r>
            <a:r>
              <a:rPr lang="ko-KR" altLang="ko-KR" sz="1600" dirty="0"/>
              <a:t>(</a:t>
            </a:r>
            <a:r>
              <a:rPr lang="ko-KR" altLang="ko-KR" sz="1600" dirty="0" err="1"/>
              <a:t>item_id:int,name:str</a:t>
            </a:r>
            <a:r>
              <a:rPr lang="ko-KR" altLang="ko-KR" sz="1600" dirty="0"/>
              <a:t> | </a:t>
            </a:r>
            <a:r>
              <a:rPr lang="ko-KR" altLang="ko-KR" sz="1600" dirty="0" err="1"/>
              <a:t>None</a:t>
            </a:r>
            <a:r>
              <a:rPr lang="ko-KR" altLang="ko-KR" sz="1600" dirty="0"/>
              <a:t>=</a:t>
            </a:r>
            <a:r>
              <a:rPr lang="ko-KR" altLang="ko-KR" sz="1600" dirty="0" err="1"/>
              <a:t>None,id:str</a:t>
            </a:r>
            <a:r>
              <a:rPr lang="ko-KR" altLang="ko-KR" sz="1600" dirty="0"/>
              <a:t> | </a:t>
            </a:r>
            <a:r>
              <a:rPr lang="ko-KR" altLang="ko-KR" sz="1600" dirty="0" err="1"/>
              <a:t>None</a:t>
            </a:r>
            <a:r>
              <a:rPr lang="ko-KR" altLang="ko-KR" sz="1600" dirty="0"/>
              <a:t>=</a:t>
            </a:r>
            <a:r>
              <a:rPr lang="ko-KR" altLang="ko-KR" sz="1600" dirty="0" err="1"/>
              <a:t>None</a:t>
            </a:r>
            <a:r>
              <a:rPr lang="ko-KR" altLang="ko-KR" sz="1600" dirty="0"/>
              <a:t>):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return</a:t>
            </a:r>
            <a:r>
              <a:rPr lang="ko-KR" altLang="ko-KR" sz="1600" dirty="0"/>
              <a:t> {"item_</a:t>
            </a:r>
            <a:r>
              <a:rPr lang="ko-KR" altLang="ko-KR" sz="1600" dirty="0" err="1"/>
              <a:t>id</a:t>
            </a:r>
            <a:r>
              <a:rPr lang="ko-KR" altLang="ko-KR" sz="1600" dirty="0"/>
              <a:t>":item_</a:t>
            </a:r>
            <a:r>
              <a:rPr lang="ko-KR" altLang="ko-KR" sz="1600" dirty="0" err="1"/>
              <a:t>id</a:t>
            </a:r>
            <a:r>
              <a:rPr lang="ko-KR" altLang="ko-KR" sz="1600" dirty="0"/>
              <a:t>,"</a:t>
            </a:r>
            <a:r>
              <a:rPr lang="ko-KR" altLang="ko-KR" sz="1600" dirty="0" err="1"/>
              <a:t>name</a:t>
            </a:r>
            <a:r>
              <a:rPr lang="ko-KR" altLang="ko-KR" sz="1600" dirty="0"/>
              <a:t>":</a:t>
            </a:r>
            <a:r>
              <a:rPr lang="ko-KR" altLang="ko-KR" sz="1600" dirty="0" err="1"/>
              <a:t>name</a:t>
            </a:r>
            <a:r>
              <a:rPr lang="ko-KR" altLang="ko-KR" sz="1600" dirty="0"/>
              <a:t>,"</a:t>
            </a:r>
            <a:r>
              <a:rPr lang="ko-KR" altLang="ko-KR" sz="1600" dirty="0" err="1"/>
              <a:t>id</a:t>
            </a:r>
            <a:r>
              <a:rPr lang="ko-KR" altLang="ko-KR" sz="1600" dirty="0"/>
              <a:t>":</a:t>
            </a:r>
            <a:r>
              <a:rPr lang="ko-KR" altLang="ko-KR" sz="1600" dirty="0" err="1"/>
              <a:t>id</a:t>
            </a:r>
            <a:r>
              <a:rPr lang="ko-KR" altLang="ko-KR" sz="1600" dirty="0"/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2FF144-6D9F-2E00-2805-58E8DB1B8483}"/>
              </a:ext>
            </a:extLst>
          </p:cNvPr>
          <p:cNvSpPr/>
          <p:nvPr/>
        </p:nvSpPr>
        <p:spPr>
          <a:xfrm>
            <a:off x="7262123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itemsCont</a:t>
            </a:r>
            <a:r>
              <a:rPr lang="en-US" altLang="ko-KR" dirty="0"/>
              <a:t>r</a:t>
            </a:r>
            <a:r>
              <a:rPr lang="ko-KR" altLang="ko-KR" dirty="0" err="1"/>
              <a:t>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9E33E-4B3E-1E25-2E33-CE2C2776A3E2}"/>
              </a:ext>
            </a:extLst>
          </p:cNvPr>
          <p:cNvSpPr txBox="1"/>
          <p:nvPr/>
        </p:nvSpPr>
        <p:spPr>
          <a:xfrm>
            <a:off x="8448444" y="1397720"/>
            <a:ext cx="3634699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sz="1600" b="1" dirty="0">
              <a:latin typeface="나눔스퀘어 Light (본문)"/>
            </a:endParaRPr>
          </a:p>
          <a:p>
            <a:r>
              <a:rPr lang="en-US" altLang="ko-KR" sz="1600" b="1" dirty="0">
                <a:latin typeface="나눔스퀘어 Light (본문)"/>
              </a:rPr>
              <a:t>prefix </a:t>
            </a:r>
            <a:r>
              <a:rPr lang="ko-KR" altLang="en-US" sz="1600" b="1" dirty="0">
                <a:latin typeface="나눔스퀘어 Light (본문)"/>
              </a:rPr>
              <a:t>접두사</a:t>
            </a:r>
            <a:br>
              <a:rPr lang="en-US" altLang="ko-KR" sz="1600" b="1" dirty="0">
                <a:latin typeface="나눔스퀘어 Light (본문)"/>
              </a:rPr>
            </a:br>
            <a:r>
              <a:rPr lang="en-US" altLang="ko-KR" sz="1600" b="1" dirty="0">
                <a:latin typeface="나눔스퀘어 Light (본문)"/>
              </a:rPr>
              <a:t>tags</a:t>
            </a:r>
            <a:r>
              <a:rPr lang="ko-KR" altLang="en-US" sz="1600" b="1" dirty="0">
                <a:latin typeface="나눔스퀘어 Light (본문)"/>
              </a:rPr>
              <a:t> </a:t>
            </a:r>
            <a:r>
              <a:rPr lang="en-US" altLang="ko-KR" sz="1600" b="1" dirty="0">
                <a:latin typeface="나눔스퀘어 Light (본문)"/>
              </a:rPr>
              <a:t>:</a:t>
            </a:r>
            <a:r>
              <a:rPr lang="ko-KR" altLang="en-US" sz="1600" b="1" dirty="0">
                <a:latin typeface="나눔스퀘어 Light (본문)"/>
              </a:rPr>
              <a:t> </a:t>
            </a:r>
            <a:r>
              <a:rPr lang="en-US" altLang="ko-KR" sz="1600" b="1" dirty="0">
                <a:latin typeface="나눔스퀘어 Light (본문)"/>
              </a:rPr>
              <a:t>Swagger </a:t>
            </a:r>
            <a:r>
              <a:rPr lang="ko-KR" altLang="en-US" sz="1600" b="1" dirty="0">
                <a:latin typeface="나눔스퀘어 Light (본문)"/>
              </a:rPr>
              <a:t>문서에서 사용</a:t>
            </a:r>
            <a:br>
              <a:rPr lang="en-US" altLang="ko-KR" sz="1600" b="1" dirty="0">
                <a:latin typeface="나눔스퀘어 Light (본문)"/>
              </a:rPr>
            </a:br>
            <a:r>
              <a:rPr lang="ko-KR" altLang="en-US" sz="1600" b="1" dirty="0" err="1">
                <a:latin typeface="나눔스퀘어 Light (본문)"/>
              </a:rPr>
              <a:t>응답없을</a:t>
            </a:r>
            <a:r>
              <a:rPr lang="ko-KR" altLang="en-US" sz="1600" b="1" dirty="0">
                <a:latin typeface="나눔스퀘어 Light (본문)"/>
              </a:rPr>
              <a:t> 시 리턴</a:t>
            </a:r>
            <a:br>
              <a:rPr lang="en-US" altLang="ko-KR" sz="1600" b="1" dirty="0">
                <a:latin typeface="나눔스퀘어 Light (본문)"/>
              </a:rPr>
            </a:br>
            <a:endParaRPr lang="en-US" altLang="ko-KR" sz="1600" b="1" dirty="0">
              <a:latin typeface="나눔스퀘어 Light (본문)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8D8BAB1-9948-ABD3-3A98-70C47743CB5E}"/>
              </a:ext>
            </a:extLst>
          </p:cNvPr>
          <p:cNvSpPr/>
          <p:nvPr/>
        </p:nvSpPr>
        <p:spPr>
          <a:xfrm>
            <a:off x="422200" y="2444620"/>
            <a:ext cx="2032460" cy="6531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C4A1C8-16CB-B3A6-4951-3DAD4AFD724B}"/>
              </a:ext>
            </a:extLst>
          </p:cNvPr>
          <p:cNvSpPr/>
          <p:nvPr/>
        </p:nvSpPr>
        <p:spPr>
          <a:xfrm>
            <a:off x="2603240" y="1371536"/>
            <a:ext cx="5696621" cy="14183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1124A3-68B5-76AF-DECC-B63CCAAB9267}"/>
              </a:ext>
            </a:extLst>
          </p:cNvPr>
          <p:cNvSpPr txBox="1"/>
          <p:nvPr/>
        </p:nvSpPr>
        <p:spPr>
          <a:xfrm>
            <a:off x="2603240" y="3964900"/>
            <a:ext cx="7231225" cy="2893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from </a:t>
            </a:r>
            <a:r>
              <a:rPr lang="en-US" altLang="ko-KR" sz="1600" dirty="0" err="1"/>
              <a:t>fastapi</a:t>
            </a:r>
            <a:r>
              <a:rPr lang="en-US" altLang="ko-KR" sz="1600" dirty="0"/>
              <a:t> import </a:t>
            </a:r>
            <a:r>
              <a:rPr lang="en-US" altLang="ko-KR" sz="1600" dirty="0" err="1"/>
              <a:t>APIRouter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router = </a:t>
            </a:r>
            <a:r>
              <a:rPr lang="en-US" altLang="ko-KR" sz="1600" dirty="0" err="1"/>
              <a:t>APIRouter</a:t>
            </a:r>
            <a:r>
              <a:rPr lang="en-US" altLang="ko-KR" sz="1600" dirty="0"/>
              <a:t>(</a:t>
            </a:r>
          </a:p>
          <a:p>
            <a:r>
              <a:rPr lang="en-US" altLang="ko-KR" sz="1600" dirty="0"/>
              <a:t>    prefix="/users",</a:t>
            </a:r>
          </a:p>
          <a:p>
            <a:r>
              <a:rPr lang="en-US" altLang="ko-KR" sz="1600" dirty="0"/>
              <a:t>    tags= ["users"],</a:t>
            </a:r>
          </a:p>
          <a:p>
            <a:r>
              <a:rPr lang="en-US" altLang="ko-KR" sz="1600" dirty="0"/>
              <a:t>    responses={404:{"description":"</a:t>
            </a:r>
            <a:r>
              <a:rPr lang="ko-KR" altLang="en-US" sz="1600" dirty="0"/>
              <a:t>페이지 없음</a:t>
            </a:r>
            <a:r>
              <a:rPr lang="en-US" altLang="ko-KR" sz="1600" dirty="0"/>
              <a:t>"}},</a:t>
            </a:r>
          </a:p>
          <a:p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@router.get("/{user_id}")</a:t>
            </a:r>
          </a:p>
          <a:p>
            <a:r>
              <a:rPr lang="en-US" altLang="ko-KR" sz="1600" dirty="0"/>
              <a:t>def </a:t>
            </a:r>
            <a:r>
              <a:rPr lang="en-US" altLang="ko-KR" sz="1600" dirty="0" err="1"/>
              <a:t>read_user</a:t>
            </a:r>
            <a:r>
              <a:rPr lang="en-US" altLang="ko-KR" sz="1600" dirty="0"/>
              <a:t>(</a:t>
            </a:r>
            <a:r>
              <a:rPr lang="en-US" altLang="ko-KR" sz="1600" dirty="0" err="1"/>
              <a:t>user_id:str</a:t>
            </a:r>
            <a:r>
              <a:rPr lang="en-US" altLang="ko-KR" sz="1600" dirty="0"/>
              <a:t>):</a:t>
            </a:r>
          </a:p>
          <a:p>
            <a:r>
              <a:rPr lang="en-US" altLang="ko-KR" sz="1600" dirty="0"/>
              <a:t>    return {"user_id":</a:t>
            </a:r>
            <a:r>
              <a:rPr lang="en-US" altLang="ko-KR" sz="1600" dirty="0" err="1"/>
              <a:t>user_id</a:t>
            </a:r>
            <a:r>
              <a:rPr lang="en-US" altLang="ko-KR" sz="1600" dirty="0"/>
              <a:t>}</a:t>
            </a:r>
            <a:endParaRPr lang="ko-KR" altLang="ko-KR" sz="16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76468D5-6919-F2F5-499E-BD788F106E8D}"/>
              </a:ext>
            </a:extLst>
          </p:cNvPr>
          <p:cNvSpPr/>
          <p:nvPr/>
        </p:nvSpPr>
        <p:spPr>
          <a:xfrm>
            <a:off x="7262123" y="3973289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6622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BF9CE-2740-DE52-759C-F3127AE94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0969E97E-EC59-BEAB-62A3-A291751C39BF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5ECE613-1EE8-D694-662C-957E9820A5CC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224B5F2-715D-D199-9DFC-A9473E84C0C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APIRouter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 –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리스트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(get)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D476E5-141C-7EA6-F200-C68672E2D521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C332381-DA88-3B4A-D0BE-060BEF56A77C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3622CB-61FD-1029-3830-45235280CD68}"/>
              </a:ext>
            </a:extLst>
          </p:cNvPr>
          <p:cNvSpPr txBox="1"/>
          <p:nvPr/>
        </p:nvSpPr>
        <p:spPr>
          <a:xfrm>
            <a:off x="9187887" y="1002620"/>
            <a:ext cx="279451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/1</a:t>
            </a:r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create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delete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01749C-210F-E852-5AAA-0A37A6712295}"/>
              </a:ext>
            </a:extLst>
          </p:cNvPr>
          <p:cNvSpPr txBox="1"/>
          <p:nvPr/>
        </p:nvSpPr>
        <p:spPr>
          <a:xfrm>
            <a:off x="1767808" y="994231"/>
            <a:ext cx="7231225" cy="575542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from </a:t>
            </a:r>
            <a:r>
              <a:rPr lang="en-US" altLang="ko-KR" sz="1600" dirty="0" err="1"/>
              <a:t>fastapi</a:t>
            </a:r>
            <a:r>
              <a:rPr lang="en-US" altLang="ko-KR" sz="1600" dirty="0"/>
              <a:t> import </a:t>
            </a:r>
            <a:r>
              <a:rPr lang="en-US" altLang="ko-KR" sz="1600" dirty="0" err="1"/>
              <a:t>APIRouter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HTTPException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router = </a:t>
            </a:r>
            <a:r>
              <a:rPr lang="en-US" altLang="ko-KR" sz="1600" dirty="0" err="1"/>
              <a:t>APIRouter</a:t>
            </a:r>
            <a:r>
              <a:rPr lang="en-US" altLang="ko-KR" sz="1600" dirty="0"/>
              <a:t>(</a:t>
            </a:r>
          </a:p>
          <a:p>
            <a:r>
              <a:rPr lang="en-US" altLang="ko-KR" sz="1600" dirty="0"/>
              <a:t>    prefix="/users",</a:t>
            </a:r>
          </a:p>
          <a:p>
            <a:r>
              <a:rPr lang="en-US" altLang="ko-KR" sz="1600" dirty="0"/>
              <a:t>    tags=["users"],</a:t>
            </a:r>
          </a:p>
          <a:p>
            <a:r>
              <a:rPr lang="en-US" altLang="ko-KR" sz="1600" dirty="0"/>
              <a:t>    responses={404: {"description": "</a:t>
            </a:r>
            <a:r>
              <a:rPr lang="ko-KR" altLang="en-US" sz="1600" dirty="0"/>
              <a:t>페이지 없음</a:t>
            </a:r>
            <a:r>
              <a:rPr lang="en-US" altLang="ko-KR" sz="1600" dirty="0"/>
              <a:t>"}},</a:t>
            </a:r>
          </a:p>
          <a:p>
            <a:r>
              <a:rPr lang="en-US" altLang="ko-KR" sz="1600" dirty="0"/>
              <a:t>)</a:t>
            </a:r>
          </a:p>
          <a:p>
            <a:endParaRPr lang="en-US" altLang="ko-KR" sz="1600" dirty="0"/>
          </a:p>
          <a:p>
            <a:r>
              <a:rPr lang="en-US" altLang="ko-KR" sz="1600" dirty="0"/>
              <a:t># </a:t>
            </a:r>
            <a:r>
              <a:rPr lang="ko-KR" altLang="en-US" sz="1600" dirty="0"/>
              <a:t>임시 사용자 데이터</a:t>
            </a:r>
          </a:p>
          <a:p>
            <a:r>
              <a:rPr lang="en-US" altLang="ko-KR" sz="1600" dirty="0" err="1"/>
              <a:t>fake_users</a:t>
            </a:r>
            <a:r>
              <a:rPr lang="en-US" altLang="ko-KR" sz="1600" dirty="0"/>
              <a:t> = [</a:t>
            </a:r>
          </a:p>
          <a:p>
            <a:r>
              <a:rPr lang="en-US" altLang="ko-KR" sz="1600" dirty="0"/>
              <a:t>    {"id": 1, "name": "</a:t>
            </a:r>
            <a:r>
              <a:rPr lang="ko-KR" altLang="en-US" sz="1600" dirty="0"/>
              <a:t>홍길동</a:t>
            </a:r>
            <a:r>
              <a:rPr lang="en-US" altLang="ko-KR" sz="1600" dirty="0"/>
              <a:t>", "email": “aaa@test.com"},</a:t>
            </a:r>
          </a:p>
          <a:p>
            <a:r>
              <a:rPr lang="en-US" altLang="ko-KR" sz="1600" dirty="0"/>
              <a:t>    {"id": 2, "name": ＂</a:t>
            </a:r>
            <a:r>
              <a:rPr lang="ko-KR" altLang="en-US" sz="1600" dirty="0"/>
              <a:t>유관순</a:t>
            </a:r>
            <a:r>
              <a:rPr lang="en-US" altLang="ko-KR" sz="1600" dirty="0"/>
              <a:t>", "email": “bbb@test.com"},</a:t>
            </a:r>
          </a:p>
          <a:p>
            <a:r>
              <a:rPr lang="en-US" altLang="ko-KR" sz="1600" dirty="0"/>
              <a:t>]</a:t>
            </a:r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# GET /users</a:t>
            </a:r>
          </a:p>
          <a:p>
            <a:r>
              <a:rPr lang="en-US" altLang="ko-KR" sz="1600" dirty="0"/>
              <a:t>@router.get("/")</a:t>
            </a:r>
          </a:p>
          <a:p>
            <a:r>
              <a:rPr lang="en-US" altLang="ko-KR" sz="1600" dirty="0"/>
              <a:t>def </a:t>
            </a:r>
            <a:r>
              <a:rPr lang="en-US" altLang="ko-KR" sz="1600" dirty="0" err="1"/>
              <a:t>get_users</a:t>
            </a:r>
            <a:r>
              <a:rPr lang="en-US" altLang="ko-KR" sz="1600" dirty="0"/>
              <a:t>():</a:t>
            </a:r>
          </a:p>
          <a:p>
            <a:r>
              <a:rPr lang="en-US" altLang="ko-KR" sz="1600" dirty="0"/>
              <a:t>    return {</a:t>
            </a:r>
          </a:p>
          <a:p>
            <a:r>
              <a:rPr lang="en-US" altLang="ko-KR" sz="1600" dirty="0"/>
              <a:t>        "message": "</a:t>
            </a:r>
            <a:r>
              <a:rPr lang="ko-KR" altLang="en-US" sz="1600" dirty="0"/>
              <a:t>사용자 목록 조회</a:t>
            </a:r>
            <a:r>
              <a:rPr lang="en-US" altLang="ko-KR" sz="1600" dirty="0"/>
              <a:t>",</a:t>
            </a:r>
          </a:p>
          <a:p>
            <a:r>
              <a:rPr lang="en-US" altLang="ko-KR" sz="1600" dirty="0"/>
              <a:t>        "users": </a:t>
            </a:r>
            <a:r>
              <a:rPr lang="en-US" altLang="ko-KR" sz="1600" dirty="0" err="1"/>
              <a:t>fake_users</a:t>
            </a:r>
            <a:endParaRPr lang="en-US" altLang="ko-KR" sz="1600" dirty="0"/>
          </a:p>
          <a:p>
            <a:r>
              <a:rPr lang="en-US" altLang="ko-KR" sz="1600" dirty="0"/>
              <a:t>    }</a:t>
            </a:r>
          </a:p>
          <a:p>
            <a:endParaRPr lang="ko-KR" altLang="ko-KR" sz="16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56F53C4-FE2C-8F1B-C3A2-7E63E6C74E85}"/>
              </a:ext>
            </a:extLst>
          </p:cNvPr>
          <p:cNvSpPr/>
          <p:nvPr/>
        </p:nvSpPr>
        <p:spPr>
          <a:xfrm>
            <a:off x="6426691" y="1002620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1A6B5C-4067-97DC-98A7-991FC2DC0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02620"/>
            <a:ext cx="1557590" cy="15077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497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5F544-24F1-0810-1224-55A862ECC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29D0F116-EF1F-349B-6BB1-49ACA9AD01B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A12E15A-5988-6664-49FA-07334526B7D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B91562-BE16-5D34-D6A8-A28DC051CDD8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APIRouter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검색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(get),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저장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(post)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39DE2F-C091-C999-9494-E04DEC8922A4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60D6A47B-C2D2-07EA-709A-24478EE967E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7BE6F8E-B731-DE0D-40FE-47FB50D130FA}"/>
              </a:ext>
            </a:extLst>
          </p:cNvPr>
          <p:cNvSpPr txBox="1"/>
          <p:nvPr/>
        </p:nvSpPr>
        <p:spPr>
          <a:xfrm>
            <a:off x="9187887" y="1002620"/>
            <a:ext cx="279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/1</a:t>
            </a:r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create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delete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5D06CD-0A85-56C1-651D-9884B234E46A}"/>
              </a:ext>
            </a:extLst>
          </p:cNvPr>
          <p:cNvSpPr txBox="1"/>
          <p:nvPr/>
        </p:nvSpPr>
        <p:spPr>
          <a:xfrm>
            <a:off x="1767808" y="994231"/>
            <a:ext cx="7231225" cy="59093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GET /users/1</a:t>
            </a:r>
          </a:p>
          <a:p>
            <a:r>
              <a:rPr lang="en-US" altLang="ko-KR" sz="1400" dirty="0"/>
              <a:t>@router.get("/{user_id}")</a:t>
            </a:r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get_user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 int):</a:t>
            </a:r>
          </a:p>
          <a:p>
            <a:r>
              <a:rPr lang="en-US" altLang="ko-KR" sz="1400" dirty="0"/>
              <a:t>    for user in </a:t>
            </a:r>
            <a:r>
              <a:rPr lang="en-US" altLang="ko-KR" sz="1400" dirty="0" err="1"/>
              <a:t>fake_users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if user["id"] == 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    return user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raise </a:t>
            </a:r>
            <a:r>
              <a:rPr lang="en-US" altLang="ko-KR" sz="1400" dirty="0" err="1"/>
              <a:t>HTTPException</a:t>
            </a:r>
            <a:r>
              <a:rPr lang="en-US" altLang="ko-KR" sz="1400" dirty="0"/>
              <a:t>(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status_code</a:t>
            </a:r>
            <a:r>
              <a:rPr lang="en-US" altLang="ko-KR" sz="1400" dirty="0"/>
              <a:t>=404,</a:t>
            </a:r>
          </a:p>
          <a:p>
            <a:r>
              <a:rPr lang="en-US" altLang="ko-KR" sz="1400" dirty="0"/>
              <a:t>        detail="</a:t>
            </a:r>
            <a:r>
              <a:rPr lang="ko-KR" altLang="en-US" sz="1400" dirty="0"/>
              <a:t>사용자를 찾을 수 없습니다</a:t>
            </a:r>
            <a:r>
              <a:rPr lang="en-US" altLang="ko-KR" sz="1400" dirty="0"/>
              <a:t>."</a:t>
            </a:r>
          </a:p>
          <a:p>
            <a:r>
              <a:rPr lang="en-US" altLang="ko-KR" sz="1400" dirty="0"/>
              <a:t>    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POST /users/</a:t>
            </a:r>
          </a:p>
          <a:p>
            <a:r>
              <a:rPr lang="en-US" altLang="ko-KR" sz="1400" dirty="0"/>
              <a:t>@router.post("/")</a:t>
            </a:r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create_user</a:t>
            </a:r>
            <a:r>
              <a:rPr lang="en-US" altLang="ko-KR" sz="1400" dirty="0"/>
              <a:t>(name: str, email: str):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new_user</a:t>
            </a:r>
            <a:r>
              <a:rPr lang="en-US" altLang="ko-KR" sz="1400" dirty="0"/>
              <a:t> = {</a:t>
            </a:r>
          </a:p>
          <a:p>
            <a:r>
              <a:rPr lang="en-US" altLang="ko-KR" sz="1400" dirty="0"/>
              <a:t>        "id":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fake_users</a:t>
            </a:r>
            <a:r>
              <a:rPr lang="en-US" altLang="ko-KR" sz="1400" dirty="0"/>
              <a:t>) + 1,</a:t>
            </a:r>
          </a:p>
          <a:p>
            <a:r>
              <a:rPr lang="en-US" altLang="ko-KR" sz="1400" dirty="0"/>
              <a:t>        "name": name,</a:t>
            </a:r>
          </a:p>
          <a:p>
            <a:r>
              <a:rPr lang="en-US" altLang="ko-KR" sz="1400" dirty="0"/>
              <a:t>        "email": email</a:t>
            </a:r>
          </a:p>
          <a:p>
            <a:r>
              <a:rPr lang="en-US" altLang="ko-KR" sz="1400" dirty="0"/>
              <a:t>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fake_users.append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new_user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return {</a:t>
            </a:r>
          </a:p>
          <a:p>
            <a:r>
              <a:rPr lang="en-US" altLang="ko-KR" sz="1400" dirty="0"/>
              <a:t>        "message": "</a:t>
            </a:r>
            <a:r>
              <a:rPr lang="ko-KR" altLang="en-US" sz="1400" dirty="0"/>
              <a:t>사용자가 생성되었습니다</a:t>
            </a:r>
            <a:r>
              <a:rPr lang="en-US" altLang="ko-KR" sz="1400" dirty="0"/>
              <a:t>.",</a:t>
            </a:r>
          </a:p>
          <a:p>
            <a:r>
              <a:rPr lang="en-US" altLang="ko-KR" sz="1400" dirty="0"/>
              <a:t>        "user": </a:t>
            </a:r>
            <a:r>
              <a:rPr lang="en-US" altLang="ko-KR" sz="1400" dirty="0" err="1"/>
              <a:t>new_user</a:t>
            </a:r>
            <a:endParaRPr lang="en-US" altLang="ko-KR" sz="1400" dirty="0"/>
          </a:p>
          <a:p>
            <a:r>
              <a:rPr lang="en-US" altLang="ko-KR" sz="1400" dirty="0"/>
              <a:t>    }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4DB54D-ECFD-7DFD-A469-9EAB9E1A002C}"/>
              </a:ext>
            </a:extLst>
          </p:cNvPr>
          <p:cNvSpPr/>
          <p:nvPr/>
        </p:nvSpPr>
        <p:spPr>
          <a:xfrm>
            <a:off x="6426691" y="1002620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79A391-E550-FE9F-4B2A-FC72C54AA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02620"/>
            <a:ext cx="1557590" cy="15077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229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CDBB-07C9-4785-DE64-36F56E54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AF33D3B6-93D4-E79D-DC25-BAC143B1A639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105D663-E6D5-A3E5-B44C-C30D44CBEA1C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72D254-2D1F-04D7-83C6-79B0994145A7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APIRouter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검색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(get)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5E6437-87BE-130C-0AB0-4E2DAE3E3F4F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12738A1-6784-6816-39A3-62C4C50040A0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D0EEE8-3A6E-E301-FA0C-315A26970BAC}"/>
              </a:ext>
            </a:extLst>
          </p:cNvPr>
          <p:cNvSpPr txBox="1"/>
          <p:nvPr/>
        </p:nvSpPr>
        <p:spPr>
          <a:xfrm>
            <a:off x="9187887" y="1002620"/>
            <a:ext cx="279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/1</a:t>
            </a:r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create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delete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C2F90F-33C0-EA31-0088-3484E54F3C3B}"/>
              </a:ext>
            </a:extLst>
          </p:cNvPr>
          <p:cNvSpPr txBox="1"/>
          <p:nvPr/>
        </p:nvSpPr>
        <p:spPr>
          <a:xfrm>
            <a:off x="1767808" y="994231"/>
            <a:ext cx="7231225" cy="24622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GET /users/1</a:t>
            </a:r>
          </a:p>
          <a:p>
            <a:r>
              <a:rPr lang="en-US" altLang="ko-KR" sz="1400" dirty="0"/>
              <a:t>@router.get("/{user_id}")</a:t>
            </a:r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get_user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 int):</a:t>
            </a:r>
          </a:p>
          <a:p>
            <a:r>
              <a:rPr lang="en-US" altLang="ko-KR" sz="1400" dirty="0"/>
              <a:t>    for user in </a:t>
            </a:r>
            <a:r>
              <a:rPr lang="en-US" altLang="ko-KR" sz="1400" dirty="0" err="1"/>
              <a:t>fake_users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if user["id"] == 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    return user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raise </a:t>
            </a:r>
            <a:r>
              <a:rPr lang="en-US" altLang="ko-KR" sz="1400" dirty="0" err="1"/>
              <a:t>HTTPException</a:t>
            </a:r>
            <a:r>
              <a:rPr lang="en-US" altLang="ko-KR" sz="1400" dirty="0"/>
              <a:t>(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status_code</a:t>
            </a:r>
            <a:r>
              <a:rPr lang="en-US" altLang="ko-KR" sz="1400" dirty="0"/>
              <a:t>=404,</a:t>
            </a:r>
          </a:p>
          <a:p>
            <a:r>
              <a:rPr lang="en-US" altLang="ko-KR" sz="1400" dirty="0"/>
              <a:t>        detail="</a:t>
            </a:r>
            <a:r>
              <a:rPr lang="ko-KR" altLang="en-US" sz="1400" dirty="0"/>
              <a:t>사용자를 찾을 수 없습니다</a:t>
            </a:r>
            <a:r>
              <a:rPr lang="en-US" altLang="ko-KR" sz="1400" dirty="0"/>
              <a:t>."</a:t>
            </a:r>
          </a:p>
          <a:p>
            <a:r>
              <a:rPr lang="en-US" altLang="ko-KR" sz="1400" dirty="0"/>
              <a:t>    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D7C7C8D-1FE1-1EFB-025C-7B1B3A09E864}"/>
              </a:ext>
            </a:extLst>
          </p:cNvPr>
          <p:cNvSpPr/>
          <p:nvPr/>
        </p:nvSpPr>
        <p:spPr>
          <a:xfrm>
            <a:off x="6426691" y="1002620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3045BD-F87C-8E1E-F06A-942DD948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02620"/>
            <a:ext cx="1557590" cy="15077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043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67D0B-40E0-6219-91B4-B6FDE38CC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D5757BCE-4261-362F-4D4C-2D343716C79F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8FC8D9B-6687-8974-A0F1-9D4B7B1D238B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0D1D02-AC5E-5EB7-1967-B207F961F859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APIRouter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저장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(post)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D97C3F5-B00D-7EEF-3C61-1E28D67EE84B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F61CD30-2E23-49EC-1285-CA0ED063D709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4ACCD7-B412-B4D6-AF11-FCFE598F6654}"/>
              </a:ext>
            </a:extLst>
          </p:cNvPr>
          <p:cNvSpPr txBox="1"/>
          <p:nvPr/>
        </p:nvSpPr>
        <p:spPr>
          <a:xfrm>
            <a:off x="9187887" y="1002620"/>
            <a:ext cx="279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/1</a:t>
            </a:r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create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delete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11F372-754A-C771-1F16-C724CB9F0006}"/>
              </a:ext>
            </a:extLst>
          </p:cNvPr>
          <p:cNvSpPr txBox="1"/>
          <p:nvPr/>
        </p:nvSpPr>
        <p:spPr>
          <a:xfrm>
            <a:off x="1767808" y="994231"/>
            <a:ext cx="7231225" cy="33239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# POST /users/</a:t>
            </a:r>
          </a:p>
          <a:p>
            <a:r>
              <a:rPr lang="en-US" altLang="ko-KR" sz="1400" dirty="0"/>
              <a:t>@router.post("/")</a:t>
            </a:r>
          </a:p>
          <a:p>
            <a:r>
              <a:rPr lang="en-US" altLang="ko-KR" sz="1400" dirty="0">
                <a:highlight>
                  <a:srgbClr val="FFFF00"/>
                </a:highlight>
              </a:rPr>
              <a:t>def </a:t>
            </a:r>
            <a:r>
              <a:rPr lang="en-US" altLang="ko-KR" sz="1400" dirty="0" err="1">
                <a:highlight>
                  <a:srgbClr val="FFFF00"/>
                </a:highlight>
              </a:rPr>
              <a:t>create_user</a:t>
            </a:r>
            <a:r>
              <a:rPr lang="en-US" altLang="ko-KR" sz="1400" dirty="0">
                <a:highlight>
                  <a:srgbClr val="FFFF00"/>
                </a:highlight>
              </a:rPr>
              <a:t>(name: str, email: str):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new_user</a:t>
            </a:r>
            <a:r>
              <a:rPr lang="en-US" altLang="ko-KR" sz="1400" dirty="0"/>
              <a:t> = {</a:t>
            </a:r>
          </a:p>
          <a:p>
            <a:r>
              <a:rPr lang="en-US" altLang="ko-KR" sz="1400" dirty="0"/>
              <a:t>        "id": </a:t>
            </a:r>
            <a:r>
              <a:rPr lang="en-US" altLang="ko-KR" sz="1400" dirty="0" err="1"/>
              <a:t>len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fake_users</a:t>
            </a:r>
            <a:r>
              <a:rPr lang="en-US" altLang="ko-KR" sz="1400" dirty="0"/>
              <a:t>) + 1,</a:t>
            </a:r>
          </a:p>
          <a:p>
            <a:r>
              <a:rPr lang="en-US" altLang="ko-KR" sz="1400" dirty="0"/>
              <a:t>        "name": name,</a:t>
            </a:r>
          </a:p>
          <a:p>
            <a:r>
              <a:rPr lang="en-US" altLang="ko-KR" sz="1400" dirty="0"/>
              <a:t>        "email": email</a:t>
            </a:r>
          </a:p>
          <a:p>
            <a:r>
              <a:rPr lang="en-US" altLang="ko-KR" sz="1400" dirty="0"/>
              <a:t>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fake_users.append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new_user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return {</a:t>
            </a:r>
          </a:p>
          <a:p>
            <a:r>
              <a:rPr lang="en-US" altLang="ko-KR" sz="1400" dirty="0"/>
              <a:t>        "message": "</a:t>
            </a:r>
            <a:r>
              <a:rPr lang="ko-KR" altLang="en-US" sz="1400" dirty="0"/>
              <a:t>사용자가 생성되었습니다</a:t>
            </a:r>
            <a:r>
              <a:rPr lang="en-US" altLang="ko-KR" sz="1400" dirty="0"/>
              <a:t>.",</a:t>
            </a:r>
          </a:p>
          <a:p>
            <a:r>
              <a:rPr lang="en-US" altLang="ko-KR" sz="1400" dirty="0"/>
              <a:t>        "user": </a:t>
            </a:r>
            <a:r>
              <a:rPr lang="en-US" altLang="ko-KR" sz="1400" dirty="0" err="1"/>
              <a:t>new_user</a:t>
            </a:r>
            <a:endParaRPr lang="en-US" altLang="ko-KR" sz="1400" dirty="0"/>
          </a:p>
          <a:p>
            <a:r>
              <a:rPr lang="en-US" altLang="ko-KR" sz="1400" dirty="0"/>
              <a:t>    }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3C270B-1292-D35F-10FA-8BF36C612286}"/>
              </a:ext>
            </a:extLst>
          </p:cNvPr>
          <p:cNvSpPr/>
          <p:nvPr/>
        </p:nvSpPr>
        <p:spPr>
          <a:xfrm>
            <a:off x="6426691" y="1002620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8B750C-E764-1588-F142-D988C754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02620"/>
            <a:ext cx="1557590" cy="15077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A34C28-85A6-6E53-1D87-F4B327C9BAD9}"/>
              </a:ext>
            </a:extLst>
          </p:cNvPr>
          <p:cNvSpPr txBox="1"/>
          <p:nvPr/>
        </p:nvSpPr>
        <p:spPr>
          <a:xfrm>
            <a:off x="1767808" y="4446010"/>
            <a:ext cx="7231225" cy="212365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/>
              <a:t># 회원 등록</a:t>
            </a:r>
          </a:p>
          <a:p>
            <a:r>
              <a:rPr lang="ko-KR" altLang="ko-KR" sz="1600" dirty="0"/>
              <a:t>@router.post("/")</a:t>
            </a:r>
          </a:p>
          <a:p>
            <a:r>
              <a:rPr lang="ko-KR" altLang="ko-KR" sz="1600" dirty="0" err="1">
                <a:highlight>
                  <a:srgbClr val="FFFF00"/>
                </a:highlight>
              </a:rPr>
              <a:t>def</a:t>
            </a:r>
            <a:r>
              <a:rPr lang="ko-KR" altLang="ko-KR" sz="1600" dirty="0">
                <a:highlight>
                  <a:srgbClr val="FFFF00"/>
                </a:highlight>
              </a:rPr>
              <a:t> </a:t>
            </a:r>
            <a:r>
              <a:rPr lang="ko-KR" altLang="ko-KR" sz="1600" dirty="0" err="1">
                <a:highlight>
                  <a:srgbClr val="FFFF00"/>
                </a:highlight>
              </a:rPr>
              <a:t>insert_member</a:t>
            </a:r>
            <a:r>
              <a:rPr lang="ko-KR" altLang="ko-KR" sz="1600" dirty="0">
                <a:highlight>
                  <a:srgbClr val="FFFF00"/>
                </a:highlight>
              </a:rPr>
              <a:t>(</a:t>
            </a:r>
            <a:r>
              <a:rPr lang="ko-KR" altLang="ko-KR" sz="1600" dirty="0" err="1">
                <a:highlight>
                  <a:srgbClr val="FFFF00"/>
                </a:highlight>
              </a:rPr>
              <a:t>item:dict</a:t>
            </a:r>
            <a:r>
              <a:rPr lang="ko-KR" altLang="ko-KR" sz="1600" dirty="0">
                <a:highlight>
                  <a:srgbClr val="FFFF00"/>
                </a:highlight>
              </a:rPr>
              <a:t>):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data_member.append</a:t>
            </a:r>
            <a:r>
              <a:rPr lang="ko-KR" altLang="ko-KR" sz="1600" dirty="0"/>
              <a:t>(</a:t>
            </a:r>
            <a:r>
              <a:rPr lang="ko-KR" altLang="ko-KR" sz="1600" dirty="0" err="1"/>
              <a:t>item</a:t>
            </a:r>
            <a:r>
              <a:rPr lang="ko-KR" altLang="ko-KR" sz="1600" dirty="0"/>
              <a:t>)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return</a:t>
            </a:r>
            <a:r>
              <a:rPr lang="ko-KR" altLang="ko-KR" sz="1600" dirty="0"/>
              <a:t> {</a:t>
            </a:r>
          </a:p>
          <a:p>
            <a:r>
              <a:rPr lang="ko-KR" altLang="ko-KR" sz="1600" dirty="0"/>
              <a:t>        "</a:t>
            </a:r>
            <a:r>
              <a:rPr lang="ko-KR" altLang="ko-KR" sz="1600" dirty="0" err="1"/>
              <a:t>message</a:t>
            </a:r>
            <a:r>
              <a:rPr lang="ko-KR" altLang="ko-KR" sz="1600" dirty="0"/>
              <a:t>":"회원 등록이 완료되었습니다.",</a:t>
            </a:r>
          </a:p>
          <a:p>
            <a:r>
              <a:rPr lang="ko-KR" altLang="ko-KR" sz="1600" dirty="0"/>
              <a:t>        "</a:t>
            </a:r>
            <a:r>
              <a:rPr lang="ko-KR" altLang="ko-KR" sz="1600" dirty="0" err="1"/>
              <a:t>member</a:t>
            </a:r>
            <a:r>
              <a:rPr lang="ko-KR" altLang="ko-KR" sz="1600" dirty="0"/>
              <a:t>":</a:t>
            </a:r>
            <a:r>
              <a:rPr lang="ko-KR" altLang="ko-KR" sz="1600" dirty="0" err="1"/>
              <a:t>item</a:t>
            </a:r>
            <a:endParaRPr lang="ko-KR" altLang="ko-KR" sz="1600" dirty="0"/>
          </a:p>
          <a:p>
            <a:r>
              <a:rPr lang="ko-KR" altLang="ko-KR" sz="1600" dirty="0"/>
              <a:t>    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9213B-FAAE-D131-5D56-45AC0B82A229}"/>
              </a:ext>
            </a:extLst>
          </p:cNvPr>
          <p:cNvSpPr txBox="1"/>
          <p:nvPr/>
        </p:nvSpPr>
        <p:spPr>
          <a:xfrm>
            <a:off x="6223430" y="3856553"/>
            <a:ext cx="596857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ko-KR" dirty="0"/>
              <a:t>POST "http://127.0.0.1:8000/members/" `</a:t>
            </a:r>
            <a:br>
              <a:rPr lang="ko-KR" altLang="ko-KR" dirty="0"/>
            </a:br>
            <a:r>
              <a:rPr lang="ko-KR" altLang="ko-KR" dirty="0"/>
              <a:t>-</a:t>
            </a:r>
            <a:r>
              <a:rPr lang="ko-KR" altLang="ko-KR" dirty="0" err="1"/>
              <a:t>Headers</a:t>
            </a:r>
            <a:r>
              <a:rPr lang="ko-KR" altLang="ko-KR" dirty="0"/>
              <a:t> @{"Content-Type"="application/json"} `</a:t>
            </a:r>
            <a:br>
              <a:rPr lang="ko-KR" altLang="ko-KR" dirty="0"/>
            </a:br>
            <a:r>
              <a:rPr lang="ko-KR" altLang="ko-KR" dirty="0"/>
              <a:t>-</a:t>
            </a:r>
            <a:r>
              <a:rPr lang="ko-KR" altLang="ko-KR" dirty="0" err="1"/>
              <a:t>Body</a:t>
            </a:r>
            <a:r>
              <a:rPr lang="ko-KR" altLang="ko-KR" dirty="0"/>
              <a:t> '{"id":1,"name":"홍길동","email":"hong@test.com"}'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74801EA-D80A-4848-4B19-1904BEDEC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30" y="4907675"/>
            <a:ext cx="5968570" cy="143502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370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9662-4EEC-38DA-9147-514E1CF5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5C6D3AB-F91E-7B1A-1424-6BE6265EB10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27C8A98-1323-E32B-E7B3-03B7E3DCBC8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ADD694-3305-8893-5355-5F5EC73597C3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APIRouter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수정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(put)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A5A3C96-A1DB-299F-BAD0-57EE7E8F783F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D4A12C1-0AC5-3B58-CBA3-E24E635D36A6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6B6C039-AB1B-28D6-5256-80DCF061B6FB}"/>
              </a:ext>
            </a:extLst>
          </p:cNvPr>
          <p:cNvSpPr txBox="1"/>
          <p:nvPr/>
        </p:nvSpPr>
        <p:spPr>
          <a:xfrm>
            <a:off x="1767808" y="994231"/>
            <a:ext cx="7231225" cy="37548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@router.put("/{user_id}")  # </a:t>
            </a:r>
            <a:r>
              <a:rPr lang="ko-KR" altLang="en-US" sz="1400" dirty="0"/>
              <a:t>수정</a:t>
            </a:r>
            <a:endParaRPr lang="en-US" altLang="ko-KR" sz="1400" dirty="0"/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update_user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 int, name: str, email: str):</a:t>
            </a:r>
          </a:p>
          <a:p>
            <a:r>
              <a:rPr lang="en-US" altLang="ko-KR" sz="1400" dirty="0"/>
              <a:t>    for user in </a:t>
            </a:r>
            <a:r>
              <a:rPr lang="en-US" altLang="ko-KR" sz="1400" dirty="0" err="1"/>
              <a:t>fake_users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if user["id"] == 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    user["name"] = name</a:t>
            </a:r>
          </a:p>
          <a:p>
            <a:r>
              <a:rPr lang="en-US" altLang="ko-KR" sz="1400" dirty="0"/>
              <a:t>            user["email"] = email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    return {</a:t>
            </a:r>
          </a:p>
          <a:p>
            <a:r>
              <a:rPr lang="en-US" altLang="ko-KR" sz="1400" dirty="0"/>
              <a:t>                "message": "</a:t>
            </a:r>
            <a:r>
              <a:rPr lang="ko-KR" altLang="en-US" sz="1400" dirty="0"/>
              <a:t>사용자 정보가 수정되었습니다</a:t>
            </a:r>
            <a:r>
              <a:rPr lang="en-US" altLang="ko-KR" sz="1400" dirty="0"/>
              <a:t>.",</a:t>
            </a:r>
          </a:p>
          <a:p>
            <a:r>
              <a:rPr lang="en-US" altLang="ko-KR" sz="1400" dirty="0"/>
              <a:t>                "user": user</a:t>
            </a:r>
          </a:p>
          <a:p>
            <a:r>
              <a:rPr lang="en-US" altLang="ko-KR" sz="1400" dirty="0"/>
              <a:t>        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return {</a:t>
            </a:r>
          </a:p>
          <a:p>
            <a:r>
              <a:rPr lang="en-US" altLang="ko-KR" sz="1400" dirty="0"/>
              <a:t>        "message": "</a:t>
            </a:r>
            <a:r>
              <a:rPr lang="ko-KR" altLang="en-US" sz="1400" dirty="0"/>
              <a:t>해당 사용자를 찾을 수 없습니다</a:t>
            </a:r>
            <a:r>
              <a:rPr lang="en-US" altLang="ko-KR" sz="1400" dirty="0"/>
              <a:t>."</a:t>
            </a:r>
          </a:p>
          <a:p>
            <a:r>
              <a:rPr lang="en-US" altLang="ko-KR" sz="1400" dirty="0"/>
              <a:t>    }</a:t>
            </a:r>
            <a:endParaRPr lang="ko-KR" altLang="ko-KR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AE0CA5-9800-D392-2948-F239658AE7BF}"/>
              </a:ext>
            </a:extLst>
          </p:cNvPr>
          <p:cNvSpPr/>
          <p:nvPr/>
        </p:nvSpPr>
        <p:spPr>
          <a:xfrm>
            <a:off x="6426691" y="1002620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614AA0-7FC5-A66E-DA3C-A2F3B70D7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02620"/>
            <a:ext cx="1557590" cy="15077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0089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0C2C-C291-4176-7922-138CFECA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FE67261D-16E0-4095-3585-00E7277ADCCA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EB15190-FCFE-EAFE-BFB5-A286C2FB156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AD2E785-3555-60FA-BDCD-A365794C3354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APIRouter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삭제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(delete)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29A32F-11F2-DEE4-FC05-1BAD1C2CA24E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83CB783-3C38-AED2-FB55-FDCE5D9522FA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FAF778F-2554-B586-366C-8C3169C9F86E}"/>
              </a:ext>
            </a:extLst>
          </p:cNvPr>
          <p:cNvSpPr txBox="1"/>
          <p:nvPr/>
        </p:nvSpPr>
        <p:spPr>
          <a:xfrm>
            <a:off x="9187887" y="3333332"/>
            <a:ext cx="2794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raise </a:t>
            </a:r>
            <a:r>
              <a:rPr lang="ko-KR" altLang="en-US" dirty="0"/>
              <a:t>강제 예외발생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1D5903-C646-3C57-D264-83F2D0EA606A}"/>
              </a:ext>
            </a:extLst>
          </p:cNvPr>
          <p:cNvSpPr txBox="1"/>
          <p:nvPr/>
        </p:nvSpPr>
        <p:spPr>
          <a:xfrm>
            <a:off x="1767808" y="994231"/>
            <a:ext cx="7231225" cy="3539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sz="1400" dirty="0"/>
          </a:p>
          <a:p>
            <a:r>
              <a:rPr lang="en-US" altLang="ko-KR" sz="1400" dirty="0"/>
              <a:t># DELETE /users/delete/1</a:t>
            </a:r>
          </a:p>
          <a:p>
            <a:r>
              <a:rPr lang="en-US" altLang="ko-KR" sz="1400" dirty="0"/>
              <a:t>@router.delete("/delete/{user_id}")</a:t>
            </a:r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delete_user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 int):</a:t>
            </a:r>
          </a:p>
          <a:p>
            <a:r>
              <a:rPr lang="en-US" altLang="ko-KR" sz="1400" dirty="0"/>
              <a:t>    for user in </a:t>
            </a:r>
            <a:r>
              <a:rPr lang="en-US" altLang="ko-KR" sz="1400" dirty="0" err="1"/>
              <a:t>fake_users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if user["id"] == </a:t>
            </a:r>
            <a:r>
              <a:rPr lang="en-US" altLang="ko-KR" sz="1400" dirty="0" err="1"/>
              <a:t>user_id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        </a:t>
            </a:r>
            <a:r>
              <a:rPr lang="en-US" altLang="ko-KR" sz="1400" dirty="0" err="1"/>
              <a:t>fake_users.remove</a:t>
            </a:r>
            <a:r>
              <a:rPr lang="en-US" altLang="ko-KR" sz="1400" dirty="0"/>
              <a:t>(user)</a:t>
            </a:r>
          </a:p>
          <a:p>
            <a:r>
              <a:rPr lang="en-US" altLang="ko-KR" sz="1400" dirty="0"/>
              <a:t>            return {</a:t>
            </a:r>
          </a:p>
          <a:p>
            <a:r>
              <a:rPr lang="en-US" altLang="ko-KR" sz="1400" dirty="0"/>
              <a:t>                "message": "</a:t>
            </a:r>
            <a:r>
              <a:rPr lang="ko-KR" altLang="en-US" sz="1400" dirty="0"/>
              <a:t>사용자가 삭제되었습니다</a:t>
            </a:r>
            <a:r>
              <a:rPr lang="en-US" altLang="ko-KR" sz="1400" dirty="0"/>
              <a:t>.",</a:t>
            </a:r>
          </a:p>
          <a:p>
            <a:r>
              <a:rPr lang="en-US" altLang="ko-KR" sz="1400" dirty="0"/>
              <a:t>                "</a:t>
            </a:r>
            <a:r>
              <a:rPr lang="en-US" altLang="ko-KR" sz="1400" dirty="0" err="1"/>
              <a:t>deleted_user</a:t>
            </a:r>
            <a:r>
              <a:rPr lang="en-US" altLang="ko-KR" sz="1400" dirty="0"/>
              <a:t>": user</a:t>
            </a:r>
          </a:p>
          <a:p>
            <a:r>
              <a:rPr lang="en-US" altLang="ko-KR" sz="1400" dirty="0"/>
              <a:t>        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raise </a:t>
            </a:r>
            <a:r>
              <a:rPr lang="en-US" altLang="ko-KR" sz="1400" dirty="0" err="1"/>
              <a:t>HTTPException</a:t>
            </a:r>
            <a:r>
              <a:rPr lang="en-US" altLang="ko-KR" sz="1400" dirty="0"/>
              <a:t>(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status_code</a:t>
            </a:r>
            <a:r>
              <a:rPr lang="en-US" altLang="ko-KR" sz="1400" dirty="0"/>
              <a:t>=404,</a:t>
            </a:r>
          </a:p>
          <a:p>
            <a:r>
              <a:rPr lang="en-US" altLang="ko-KR" sz="1400" dirty="0"/>
              <a:t>        detail="</a:t>
            </a:r>
            <a:r>
              <a:rPr lang="ko-KR" altLang="en-US" sz="1400" dirty="0"/>
              <a:t>삭제할 사용자를 찾을 수 없습니다</a:t>
            </a:r>
            <a:r>
              <a:rPr lang="en-US" altLang="ko-KR" sz="1400" dirty="0"/>
              <a:t>."</a:t>
            </a:r>
          </a:p>
          <a:p>
            <a:r>
              <a:rPr lang="en-US" altLang="ko-KR" sz="1400" dirty="0"/>
              <a:t>    )</a:t>
            </a:r>
            <a:endParaRPr lang="ko-KR" altLang="ko-KR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9C2F727-4738-78E2-C7A4-37DF9E81221D}"/>
              </a:ext>
            </a:extLst>
          </p:cNvPr>
          <p:cNvSpPr/>
          <p:nvPr/>
        </p:nvSpPr>
        <p:spPr>
          <a:xfrm>
            <a:off x="6426691" y="1002620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E65C1C-1640-8363-C45A-45C9E4D0B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002620"/>
            <a:ext cx="1557590" cy="15077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18CB6E-9C08-536B-EE39-EB53367DD233}"/>
              </a:ext>
            </a:extLst>
          </p:cNvPr>
          <p:cNvSpPr txBox="1"/>
          <p:nvPr/>
        </p:nvSpPr>
        <p:spPr>
          <a:xfrm>
            <a:off x="1767808" y="5255215"/>
            <a:ext cx="723122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users.py     → 사용자 API</a:t>
            </a:r>
          </a:p>
          <a:p>
            <a:r>
              <a:rPr lang="ko-KR" altLang="en-US" dirty="0"/>
              <a:t>items.py     → 상품 API</a:t>
            </a:r>
          </a:p>
          <a:p>
            <a:r>
              <a:rPr lang="ko-KR" altLang="en-US" dirty="0"/>
              <a:t>orders.py    → 주문 API</a:t>
            </a:r>
          </a:p>
          <a:p>
            <a:r>
              <a:rPr lang="ko-KR" altLang="en-US" dirty="0"/>
              <a:t>admin.py     → 관리자 API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D0335E-ED39-E8A2-8638-0509373CA8FB}"/>
              </a:ext>
            </a:extLst>
          </p:cNvPr>
          <p:cNvSpPr/>
          <p:nvPr/>
        </p:nvSpPr>
        <p:spPr>
          <a:xfrm>
            <a:off x="6426691" y="5255215"/>
            <a:ext cx="2572342" cy="373333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샘플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65906-EBEF-9094-CF8A-61E96D7AE2C7}"/>
              </a:ext>
            </a:extLst>
          </p:cNvPr>
          <p:cNvSpPr txBox="1"/>
          <p:nvPr/>
        </p:nvSpPr>
        <p:spPr>
          <a:xfrm>
            <a:off x="9187887" y="5255214"/>
            <a:ext cx="2794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/1</a:t>
            </a:r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create</a:t>
            </a:r>
            <a:endParaRPr lang="ko-KR" altLang="en-US" dirty="0"/>
          </a:p>
          <a:p>
            <a:r>
              <a:rPr lang="ko-KR" altLang="en-US" dirty="0"/>
              <a:t>/</a:t>
            </a:r>
            <a:r>
              <a:rPr lang="ko-KR" altLang="en-US" dirty="0" err="1"/>
              <a:t>users</a:t>
            </a:r>
            <a:r>
              <a:rPr lang="ko-KR" altLang="en-US" dirty="0"/>
              <a:t>/</a:t>
            </a:r>
            <a:r>
              <a:rPr lang="ko-KR" altLang="en-US" dirty="0" err="1"/>
              <a:t>delete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576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16F4-6216-1BB5-18AE-7A806ABA2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4EA26A3F-E273-6EA4-2D70-0C5C94DC364B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F27D80E-CEA7-A930-9CA2-985F3430A489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77F482-18AA-1ADA-FC3A-2BBF2F6D4E00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712FB4-5AFE-913D-EF47-5B8DEBF5B96B}"/>
              </a:ext>
            </a:extLst>
          </p:cNvPr>
          <p:cNvSpPr txBox="1"/>
          <p:nvPr/>
        </p:nvSpPr>
        <p:spPr>
          <a:xfrm>
            <a:off x="2491530" y="2956339"/>
            <a:ext cx="7046753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b="1" dirty="0"/>
              <a:t>데이터베이스 연결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F882EAF-0493-F80B-157C-B3D482C9FBFC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34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6C9A5-AC73-C16A-FAE1-3F3B228B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1C45734-20C2-866D-D0F1-64AA53476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6DACE2DC-1EBF-8E98-E6BC-2E1D5BC40406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076AACB-27B1-FFAA-C040-02EC27B85D1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850103-1B00-5FFF-7B05-A1C9668EC6AA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sqlite3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config.py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5167BE-7964-9256-79C5-CF288BA3FA59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356D2D5-3EA0-E1FD-0A78-15BD26E9A451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3D6E93-758D-E3AF-A3E2-CFFF34248591}"/>
              </a:ext>
            </a:extLst>
          </p:cNvPr>
          <p:cNvSpPr txBox="1"/>
          <p:nvPr/>
        </p:nvSpPr>
        <p:spPr>
          <a:xfrm>
            <a:off x="2603241" y="937614"/>
            <a:ext cx="6187954" cy="41549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 err="1"/>
              <a:t>import</a:t>
            </a:r>
            <a:r>
              <a:rPr lang="ko-KR" altLang="ko-KR" sz="1600" dirty="0"/>
              <a:t> sqlite3</a:t>
            </a:r>
          </a:p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pathlib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Path</a:t>
            </a:r>
            <a:endParaRPr lang="ko-KR" altLang="ko-KR" sz="1600" dirty="0"/>
          </a:p>
          <a:p>
            <a:br>
              <a:rPr lang="ko-KR" altLang="ko-KR" sz="1600" dirty="0"/>
            </a:br>
            <a:endParaRPr lang="ko-KR" altLang="ko-KR" sz="1600" dirty="0"/>
          </a:p>
          <a:p>
            <a:r>
              <a:rPr lang="ko-KR" altLang="ko-KR" sz="1600" dirty="0"/>
              <a:t># 프로젝트 루트 경로</a:t>
            </a:r>
          </a:p>
          <a:p>
            <a:r>
              <a:rPr lang="ko-KR" altLang="ko-KR" sz="1600" dirty="0"/>
              <a:t>BASE_DIR = </a:t>
            </a:r>
            <a:r>
              <a:rPr lang="ko-KR" altLang="ko-KR" sz="1600" dirty="0" err="1"/>
              <a:t>Path</a:t>
            </a:r>
            <a:r>
              <a:rPr lang="ko-KR" altLang="ko-KR" sz="1600" dirty="0"/>
              <a:t>(__</a:t>
            </a:r>
            <a:r>
              <a:rPr lang="ko-KR" altLang="ko-KR" sz="1600" dirty="0" err="1"/>
              <a:t>file</a:t>
            </a:r>
            <a:r>
              <a:rPr lang="ko-KR" altLang="ko-KR" sz="1600" dirty="0"/>
              <a:t>__).</a:t>
            </a:r>
            <a:r>
              <a:rPr lang="ko-KR" altLang="ko-KR" sz="1600" dirty="0" err="1"/>
              <a:t>resolve</a:t>
            </a:r>
            <a:r>
              <a:rPr lang="ko-KR" altLang="ko-KR" sz="1600" dirty="0"/>
              <a:t>().</a:t>
            </a:r>
            <a:r>
              <a:rPr lang="ko-KR" altLang="ko-KR" sz="1600" dirty="0" err="1"/>
              <a:t>parent.parent</a:t>
            </a:r>
            <a:endParaRPr lang="ko-KR" altLang="ko-KR" sz="1600" dirty="0"/>
          </a:p>
          <a:p>
            <a:br>
              <a:rPr lang="ko-KR" altLang="ko-KR" sz="1600" dirty="0"/>
            </a:br>
            <a:endParaRPr lang="ko-KR" altLang="ko-KR" sz="1600" dirty="0"/>
          </a:p>
          <a:p>
            <a:r>
              <a:rPr lang="ko-KR" altLang="ko-KR" sz="1600" dirty="0"/>
              <a:t># DB 파일 경로</a:t>
            </a:r>
          </a:p>
          <a:p>
            <a:r>
              <a:rPr lang="ko-KR" altLang="ko-KR" sz="1600" dirty="0"/>
              <a:t>DB_PATH = BASE_DIR / "project01.db"</a:t>
            </a:r>
          </a:p>
          <a:p>
            <a:br>
              <a:rPr lang="ko-KR" altLang="ko-KR" sz="1600" dirty="0"/>
            </a:br>
            <a:endParaRPr lang="ko-KR" altLang="ko-KR" sz="1600" dirty="0"/>
          </a:p>
          <a:p>
            <a:r>
              <a:rPr lang="ko-KR" altLang="ko-KR" sz="1600" dirty="0" err="1"/>
              <a:t>def</a:t>
            </a:r>
            <a:r>
              <a:rPr lang="ko-KR" altLang="ko-KR" sz="1600" dirty="0"/>
              <a:t> </a:t>
            </a:r>
            <a:r>
              <a:rPr lang="ko-KR" altLang="ko-KR" sz="1600" dirty="0" err="1"/>
              <a:t>get_connection</a:t>
            </a:r>
            <a:r>
              <a:rPr lang="ko-KR" altLang="ko-KR" sz="1600" dirty="0"/>
              <a:t>():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conn</a:t>
            </a:r>
            <a:r>
              <a:rPr lang="ko-KR" altLang="ko-KR" sz="1600" dirty="0"/>
              <a:t> = sqlite3.connect(DB_PATH)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>
                <a:highlight>
                  <a:srgbClr val="FFFF00"/>
                </a:highlight>
              </a:rPr>
              <a:t>conn.row_factory</a:t>
            </a:r>
            <a:r>
              <a:rPr lang="ko-KR" altLang="ko-KR" sz="1600" dirty="0">
                <a:highlight>
                  <a:srgbClr val="FFFF00"/>
                </a:highlight>
              </a:rPr>
              <a:t> = sqlite3.Row</a:t>
            </a:r>
            <a:r>
              <a:rPr lang="en-US" altLang="ko-KR" sz="1600" dirty="0">
                <a:highlight>
                  <a:srgbClr val="FFFF00"/>
                </a:highlight>
              </a:rPr>
              <a:t>   # </a:t>
            </a:r>
            <a:r>
              <a:rPr lang="ko-KR" altLang="en-US" sz="1600" dirty="0" err="1">
                <a:highlight>
                  <a:srgbClr val="FFFF00"/>
                </a:highlight>
              </a:rPr>
              <a:t>딕셔너리형태변경</a:t>
            </a:r>
            <a:endParaRPr lang="ko-KR" altLang="ko-KR" sz="1600" dirty="0">
              <a:highlight>
                <a:srgbClr val="FFFF00"/>
              </a:highlight>
            </a:endParaRP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return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conn</a:t>
            </a:r>
            <a:endParaRPr lang="ko-KR" altLang="ko-KR"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388902-A427-186C-A56E-F6F96DAC8FB0}"/>
              </a:ext>
            </a:extLst>
          </p:cNvPr>
          <p:cNvSpPr/>
          <p:nvPr/>
        </p:nvSpPr>
        <p:spPr>
          <a:xfrm>
            <a:off x="6218852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config.py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F40069-F904-6715-1DD1-1FE3BCFFB742}"/>
              </a:ext>
            </a:extLst>
          </p:cNvPr>
          <p:cNvSpPr txBox="1"/>
          <p:nvPr/>
        </p:nvSpPr>
        <p:spPr>
          <a:xfrm>
            <a:off x="8448444" y="1860773"/>
            <a:ext cx="36346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parent.parent</a:t>
            </a:r>
            <a:r>
              <a:rPr lang="ko-KR" altLang="ko-KR" sz="1600" dirty="0" err="1"/>
              <a:t>를</a:t>
            </a:r>
            <a:r>
              <a:rPr lang="ko-KR" altLang="ko-KR" sz="1600" dirty="0"/>
              <a:t> 하면 </a:t>
            </a:r>
            <a:br>
              <a:rPr lang="en-US" altLang="ko-KR" sz="1600" dirty="0"/>
            </a:br>
            <a:r>
              <a:rPr lang="ko-KR" altLang="ko-KR" sz="1600" dirty="0"/>
              <a:t>프로젝트 루트인 </a:t>
            </a:r>
            <a:r>
              <a:rPr lang="ko-KR" altLang="ko-KR" dirty="0"/>
              <a:t>f0519/</a:t>
            </a:r>
            <a:endParaRPr lang="en-US" altLang="ko-KR" sz="1600" b="1" dirty="0">
              <a:latin typeface="나눔스퀘어 Light (본문)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51EAD4-4339-C918-0697-C0DD07F0118E}"/>
              </a:ext>
            </a:extLst>
          </p:cNvPr>
          <p:cNvSpPr/>
          <p:nvPr/>
        </p:nvSpPr>
        <p:spPr>
          <a:xfrm>
            <a:off x="422200" y="1996752"/>
            <a:ext cx="203246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F3E7CC-665A-8C2F-A316-FB491ACB6FD7}"/>
              </a:ext>
            </a:extLst>
          </p:cNvPr>
          <p:cNvSpPr/>
          <p:nvPr/>
        </p:nvSpPr>
        <p:spPr>
          <a:xfrm>
            <a:off x="2603240" y="1843879"/>
            <a:ext cx="5696621" cy="7931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2C672-8B72-C68D-4D67-B9A1E948905B}"/>
              </a:ext>
            </a:extLst>
          </p:cNvPr>
          <p:cNvSpPr txBox="1"/>
          <p:nvPr/>
        </p:nvSpPr>
        <p:spPr>
          <a:xfrm>
            <a:off x="6482511" y="3037480"/>
            <a:ext cx="36346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f0519/project01.</a:t>
            </a:r>
            <a:r>
              <a:rPr lang="en-US" altLang="ko-KR" dirty="0" err="1"/>
              <a:t>db</a:t>
            </a:r>
            <a:r>
              <a:rPr lang="en-US" altLang="ko-KR" dirty="0"/>
              <a:t> </a:t>
            </a:r>
            <a:r>
              <a:rPr lang="ko-KR" altLang="en-US" dirty="0"/>
              <a:t>위치가 됨</a:t>
            </a:r>
            <a:endParaRPr lang="en-US" altLang="ko-KR" sz="1600" b="1" dirty="0">
              <a:latin typeface="나눔스퀘어 Light (본문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8BAE5-7E07-9ABB-EDFE-E6FFBF650EF5}"/>
              </a:ext>
            </a:extLst>
          </p:cNvPr>
          <p:cNvSpPr txBox="1"/>
          <p:nvPr/>
        </p:nvSpPr>
        <p:spPr>
          <a:xfrm>
            <a:off x="7959012" y="3758566"/>
            <a:ext cx="4232988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200" dirty="0" err="1">
                <a:highlight>
                  <a:srgbClr val="FFFF00"/>
                </a:highlight>
              </a:rPr>
              <a:t>conn</a:t>
            </a:r>
            <a:r>
              <a:rPr lang="ko-KR" altLang="ko-KR" sz="1200" dirty="0">
                <a:highlight>
                  <a:srgbClr val="FFFF00"/>
                </a:highlight>
              </a:rPr>
              <a:t> = sqlite3.connect(DB_PATH)</a:t>
            </a:r>
          </a:p>
          <a:p>
            <a:r>
              <a:rPr lang="ko-KR" altLang="en-US" sz="1200" dirty="0">
                <a:highlight>
                  <a:srgbClr val="FFFF00"/>
                </a:highlight>
              </a:rPr>
              <a:t>리턴을 하면</a:t>
            </a:r>
            <a:endParaRPr lang="en-US" altLang="ko-KR" sz="1200" dirty="0">
              <a:highlight>
                <a:srgbClr val="FFFF00"/>
              </a:highlight>
            </a:endParaRPr>
          </a:p>
          <a:p>
            <a:endParaRPr lang="en-US" altLang="ko-KR" sz="1200" dirty="0"/>
          </a:p>
          <a:p>
            <a:r>
              <a:rPr lang="ko-KR" altLang="ko-KR" sz="1200" dirty="0" err="1"/>
              <a:t>cursor.execute</a:t>
            </a:r>
            <a:r>
              <a:rPr lang="ko-KR" altLang="ko-KR" sz="1200" dirty="0"/>
              <a:t>("SELECT </a:t>
            </a:r>
            <a:r>
              <a:rPr lang="ko-KR" altLang="ko-KR" sz="1200" dirty="0" err="1"/>
              <a:t>id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name</a:t>
            </a:r>
            <a:r>
              <a:rPr lang="ko-KR" altLang="ko-KR" sz="1200" dirty="0"/>
              <a:t>, </a:t>
            </a:r>
            <a:r>
              <a:rPr lang="ko-KR" altLang="ko-KR" sz="1200" dirty="0" err="1"/>
              <a:t>email</a:t>
            </a:r>
            <a:r>
              <a:rPr lang="ko-KR" altLang="ko-KR" sz="1200" dirty="0"/>
              <a:t> FROM </a:t>
            </a:r>
            <a:r>
              <a:rPr lang="ko-KR" altLang="ko-KR" sz="1200" dirty="0" err="1"/>
              <a:t>users</a:t>
            </a:r>
            <a:r>
              <a:rPr lang="ko-KR" altLang="ko-KR" sz="1200" dirty="0"/>
              <a:t>")</a:t>
            </a:r>
            <a:br>
              <a:rPr lang="ko-KR" altLang="ko-KR" sz="1200" dirty="0"/>
            </a:br>
            <a:r>
              <a:rPr lang="ko-KR" altLang="ko-KR" sz="1200" dirty="0" err="1"/>
              <a:t>users</a:t>
            </a:r>
            <a:r>
              <a:rPr lang="ko-KR" altLang="ko-KR" sz="1200" dirty="0"/>
              <a:t> = </a:t>
            </a:r>
            <a:r>
              <a:rPr lang="ko-KR" altLang="ko-KR" sz="1200" dirty="0" err="1"/>
              <a:t>cursor.fetchall</a:t>
            </a:r>
            <a:r>
              <a:rPr lang="ko-KR" altLang="ko-KR" sz="1200" dirty="0"/>
              <a:t>()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/>
              <a:t>&lt;</a:t>
            </a:r>
            <a:r>
              <a:rPr lang="ko-KR" altLang="en-US" sz="1200" dirty="0"/>
              <a:t>결과</a:t>
            </a:r>
            <a:r>
              <a:rPr lang="en-US" altLang="ko-KR" sz="1200" dirty="0"/>
              <a:t>&gt;</a:t>
            </a:r>
            <a:br>
              <a:rPr lang="en-US" altLang="ko-KR" sz="1200" dirty="0"/>
            </a:br>
            <a:r>
              <a:rPr lang="ko-KR" altLang="ko-KR" sz="1100" dirty="0"/>
              <a:t>[(1, '홍길동', '</a:t>
            </a:r>
            <a:r>
              <a:rPr lang="ko-KR" altLang="ko-KR" sz="1100" dirty="0" err="1"/>
              <a:t>hong@test.com</a:t>
            </a:r>
            <a:r>
              <a:rPr lang="ko-KR" altLang="ko-KR" sz="1100" dirty="0"/>
              <a:t>'), (2, '김철수', '</a:t>
            </a:r>
            <a:r>
              <a:rPr lang="ko-KR" altLang="ko-KR" sz="1100" dirty="0" err="1"/>
              <a:t>kim@test.com</a:t>
            </a:r>
            <a:r>
              <a:rPr lang="ko-KR" altLang="ko-KR" sz="1100" dirty="0"/>
              <a:t>’)]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ko-KR" altLang="ko-KR" sz="1100" dirty="0" err="1"/>
              <a:t>user</a:t>
            </a:r>
            <a:r>
              <a:rPr lang="ko-KR" altLang="ko-KR" sz="1100" dirty="0"/>
              <a:t>[0] # </a:t>
            </a:r>
            <a:r>
              <a:rPr lang="ko-KR" altLang="ko-KR" sz="1100" dirty="0" err="1"/>
              <a:t>id</a:t>
            </a:r>
            <a:br>
              <a:rPr lang="ko-KR" altLang="ko-KR" sz="1100" dirty="0"/>
            </a:br>
            <a:r>
              <a:rPr lang="ko-KR" altLang="ko-KR" sz="1100" dirty="0" err="1"/>
              <a:t>user</a:t>
            </a:r>
            <a:r>
              <a:rPr lang="ko-KR" altLang="ko-KR" sz="1100" dirty="0"/>
              <a:t>[1] # </a:t>
            </a:r>
            <a:r>
              <a:rPr lang="ko-KR" altLang="ko-KR" sz="1100" dirty="0" err="1"/>
              <a:t>name</a:t>
            </a:r>
            <a:br>
              <a:rPr lang="ko-KR" altLang="ko-KR" sz="1100" dirty="0"/>
            </a:br>
            <a:r>
              <a:rPr lang="ko-KR" altLang="ko-KR" sz="1100" dirty="0" err="1"/>
              <a:t>user</a:t>
            </a:r>
            <a:r>
              <a:rPr lang="ko-KR" altLang="ko-KR" sz="1100" dirty="0"/>
              <a:t>[2] # </a:t>
            </a:r>
            <a:r>
              <a:rPr lang="ko-KR" altLang="ko-KR" sz="1100" dirty="0" err="1"/>
              <a:t>email</a:t>
            </a:r>
            <a:endParaRPr lang="en-US" altLang="ko-KR" sz="1100" b="1" dirty="0">
              <a:latin typeface="나눔스퀘어 Light (본문)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88049-579E-9E20-9FD4-DF6E96D7B0AE}"/>
              </a:ext>
            </a:extLst>
          </p:cNvPr>
          <p:cNvSpPr txBox="1"/>
          <p:nvPr/>
        </p:nvSpPr>
        <p:spPr>
          <a:xfrm>
            <a:off x="2603240" y="5159529"/>
            <a:ext cx="5260700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400" dirty="0" err="1">
                <a:highlight>
                  <a:srgbClr val="FFFF00"/>
                </a:highlight>
              </a:rPr>
              <a:t>conn</a:t>
            </a:r>
            <a:r>
              <a:rPr lang="ko-KR" altLang="ko-KR" sz="1400" dirty="0">
                <a:highlight>
                  <a:srgbClr val="FFFF00"/>
                </a:highlight>
              </a:rPr>
              <a:t> = sqlite3.connect(DB_PATH)</a:t>
            </a:r>
          </a:p>
          <a:p>
            <a:r>
              <a:rPr lang="ko-KR" altLang="ko-KR" sz="1400" dirty="0" err="1">
                <a:highlight>
                  <a:srgbClr val="FFFF00"/>
                </a:highlight>
              </a:rPr>
              <a:t>conn.row_factory</a:t>
            </a:r>
            <a:r>
              <a:rPr lang="ko-KR" altLang="ko-KR" sz="1400" dirty="0">
                <a:highlight>
                  <a:srgbClr val="FFFF00"/>
                </a:highlight>
              </a:rPr>
              <a:t> = sqlite3.Row</a:t>
            </a:r>
            <a:r>
              <a:rPr lang="en-US" altLang="ko-KR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해서 리턴을 하면</a:t>
            </a:r>
            <a:endParaRPr lang="ko-KR" altLang="ko-KR" sz="1400" dirty="0">
              <a:highlight>
                <a:srgbClr val="FFFF00"/>
              </a:highlight>
            </a:endParaRPr>
          </a:p>
          <a:p>
            <a:br>
              <a:rPr lang="en-US" altLang="ko-KR" sz="1400" dirty="0"/>
            </a:br>
            <a:r>
              <a:rPr lang="ko-KR" altLang="ko-KR" sz="1400" dirty="0" err="1"/>
              <a:t>for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user</a:t>
            </a:r>
            <a:r>
              <a:rPr lang="ko-KR" altLang="ko-KR" sz="1400" dirty="0"/>
              <a:t> </a:t>
            </a:r>
            <a:r>
              <a:rPr lang="ko-KR" altLang="ko-KR" sz="1400" dirty="0" err="1"/>
              <a:t>in</a:t>
            </a:r>
            <a:r>
              <a:rPr lang="ko-KR" altLang="ko-KR" sz="1400" dirty="0"/>
              <a:t> </a:t>
            </a:r>
            <a:r>
              <a:rPr lang="ko-KR" altLang="ko-KR" sz="1400" dirty="0" err="1"/>
              <a:t>users</a:t>
            </a:r>
            <a:r>
              <a:rPr lang="ko-KR" altLang="ko-KR" sz="1400" dirty="0"/>
              <a:t>:</a:t>
            </a:r>
            <a:br>
              <a:rPr lang="ko-KR" altLang="ko-KR" sz="1400" dirty="0"/>
            </a:br>
            <a:r>
              <a:rPr lang="ko-KR" altLang="ko-KR" sz="1400" dirty="0" err="1"/>
              <a:t>print</a:t>
            </a:r>
            <a:r>
              <a:rPr lang="ko-KR" altLang="ko-KR" sz="1400" dirty="0"/>
              <a:t>(</a:t>
            </a:r>
            <a:r>
              <a:rPr lang="ko-KR" altLang="ko-KR" sz="1400" dirty="0" err="1"/>
              <a:t>user</a:t>
            </a:r>
            <a:r>
              <a:rPr lang="ko-KR" altLang="ko-KR" sz="1400" dirty="0"/>
              <a:t>["</a:t>
            </a:r>
            <a:r>
              <a:rPr lang="ko-KR" altLang="ko-KR" sz="1400" dirty="0" err="1"/>
              <a:t>id</a:t>
            </a:r>
            <a:r>
              <a:rPr lang="ko-KR" altLang="ko-KR" sz="1400" dirty="0"/>
              <a:t>"])</a:t>
            </a:r>
            <a:br>
              <a:rPr lang="ko-KR" altLang="ko-KR" sz="1400" dirty="0"/>
            </a:br>
            <a:r>
              <a:rPr lang="ko-KR" altLang="ko-KR" sz="1400" dirty="0" err="1"/>
              <a:t>print</a:t>
            </a:r>
            <a:r>
              <a:rPr lang="ko-KR" altLang="ko-KR" sz="1400" dirty="0"/>
              <a:t>(</a:t>
            </a:r>
            <a:r>
              <a:rPr lang="ko-KR" altLang="ko-KR" sz="1400" dirty="0" err="1"/>
              <a:t>user</a:t>
            </a:r>
            <a:r>
              <a:rPr lang="ko-KR" altLang="ko-KR" sz="1400" dirty="0"/>
              <a:t>["</a:t>
            </a:r>
            <a:r>
              <a:rPr lang="ko-KR" altLang="ko-KR" sz="1400" dirty="0" err="1"/>
              <a:t>name</a:t>
            </a:r>
            <a:r>
              <a:rPr lang="ko-KR" altLang="ko-KR" sz="1400" dirty="0"/>
              <a:t>"])</a:t>
            </a:r>
            <a:br>
              <a:rPr lang="ko-KR" altLang="ko-KR" sz="1400" dirty="0"/>
            </a:br>
            <a:r>
              <a:rPr lang="ko-KR" altLang="ko-KR" sz="1400" dirty="0" err="1"/>
              <a:t>print</a:t>
            </a:r>
            <a:r>
              <a:rPr lang="ko-KR" altLang="ko-KR" sz="1400" dirty="0"/>
              <a:t>(</a:t>
            </a:r>
            <a:r>
              <a:rPr lang="ko-KR" altLang="ko-KR" sz="1400" dirty="0" err="1"/>
              <a:t>user</a:t>
            </a:r>
            <a:r>
              <a:rPr lang="ko-KR" altLang="ko-KR" sz="1400" dirty="0"/>
              <a:t>["</a:t>
            </a:r>
            <a:r>
              <a:rPr lang="ko-KR" altLang="ko-KR" sz="1400" dirty="0" err="1"/>
              <a:t>email</a:t>
            </a:r>
            <a:r>
              <a:rPr lang="ko-KR" altLang="ko-KR" sz="1400" dirty="0"/>
              <a:t>"])</a:t>
            </a:r>
            <a:r>
              <a:rPr lang="en-US" altLang="ko-KR" sz="1400" dirty="0"/>
              <a:t>  </a:t>
            </a:r>
            <a:r>
              <a:rPr lang="ko-KR" altLang="en-US" sz="1400" dirty="0" err="1"/>
              <a:t>딕셔너리</a:t>
            </a:r>
            <a:r>
              <a:rPr lang="ko-KR" altLang="en-US" sz="1400" dirty="0"/>
              <a:t> 사용가능</a:t>
            </a:r>
            <a:endParaRPr lang="en-US" altLang="ko-KR" sz="1200" b="1" dirty="0">
              <a:latin typeface="나눔스퀘어 Light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8337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5F66-DB60-E26D-1F58-6C302E4E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A6D7BDA-1BA3-1730-C599-A2C6D7D6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DB4DB773-805C-D431-B5F5-ACB0FE21DBEA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890484E-B4FA-F7F1-AF85-4610E960690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D8D7D4-D879-BC31-0B3F-131667DE2F52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user_sql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select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전체가져오기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5D2CF6-EF83-D854-E679-2E903A57E5E6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AE8D43CB-E5C0-54E0-E64E-8CB279929B11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3AA4682-16B7-E35E-FCF6-14262237F3CD}"/>
              </a:ext>
            </a:extLst>
          </p:cNvPr>
          <p:cNvSpPr txBox="1"/>
          <p:nvPr/>
        </p:nvSpPr>
        <p:spPr>
          <a:xfrm>
            <a:off x="2603241" y="937614"/>
            <a:ext cx="6187954" cy="39703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 err="1"/>
              <a:t>from</a:t>
            </a:r>
            <a:r>
              <a:rPr lang="ko-KR" altLang="ko-KR" dirty="0"/>
              <a:t> </a:t>
            </a:r>
            <a:r>
              <a:rPr lang="ko-KR" altLang="ko-KR" dirty="0" err="1"/>
              <a:t>config</a:t>
            </a:r>
            <a:r>
              <a:rPr lang="ko-KR" altLang="ko-KR" dirty="0"/>
              <a:t> </a:t>
            </a:r>
            <a:r>
              <a:rPr lang="ko-KR" altLang="ko-KR" dirty="0" err="1"/>
              <a:t>import</a:t>
            </a:r>
            <a:r>
              <a:rPr lang="ko-KR" altLang="ko-KR" dirty="0"/>
              <a:t> </a:t>
            </a:r>
            <a:r>
              <a:rPr lang="ko-KR" altLang="ko-KR" dirty="0" err="1"/>
              <a:t>config</a:t>
            </a:r>
            <a:endParaRPr lang="ko-KR" altLang="ko-KR" dirty="0"/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en-US" altLang="ko-KR" dirty="0" err="1"/>
              <a:t>selectAll</a:t>
            </a:r>
            <a:r>
              <a:rPr lang="ko-KR" altLang="ko-KR" dirty="0"/>
              <a:t>_</a:t>
            </a:r>
            <a:r>
              <a:rPr lang="ko-KR" altLang="ko-KR" dirty="0" err="1"/>
              <a:t>users</a:t>
            </a:r>
            <a:r>
              <a:rPr lang="ko-KR" altLang="ko-KR" dirty="0"/>
              <a:t>():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</a:t>
            </a:r>
            <a:r>
              <a:rPr lang="ko-KR" altLang="ko-KR" dirty="0"/>
              <a:t> = </a:t>
            </a:r>
            <a:r>
              <a:rPr lang="ko-KR" altLang="ko-KR" dirty="0" err="1"/>
              <a:t>config.get_connection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cursor</a:t>
            </a:r>
            <a:r>
              <a:rPr lang="ko-KR" altLang="ko-KR" dirty="0"/>
              <a:t> = </a:t>
            </a:r>
            <a:r>
              <a:rPr lang="ko-KR" altLang="ko-KR" dirty="0" err="1"/>
              <a:t>conn.cursor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r>
              <a:rPr lang="ko-KR" altLang="ko-KR" dirty="0"/>
              <a:t>    </a:t>
            </a:r>
            <a:r>
              <a:rPr lang="ko-KR" altLang="ko-KR" dirty="0" err="1"/>
              <a:t>cursor.execute</a:t>
            </a:r>
            <a:r>
              <a:rPr lang="ko-KR" altLang="ko-KR" dirty="0"/>
              <a:t>("SELECT * FROM </a:t>
            </a:r>
            <a:r>
              <a:rPr lang="ko-KR" altLang="ko-KR" dirty="0" err="1"/>
              <a:t>users</a:t>
            </a:r>
            <a:r>
              <a:rPr lang="ko-KR" altLang="ko-KR" dirty="0"/>
              <a:t>")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users</a:t>
            </a:r>
            <a:r>
              <a:rPr lang="ko-KR" altLang="ko-KR" dirty="0"/>
              <a:t> = </a:t>
            </a:r>
            <a:r>
              <a:rPr lang="ko-KR" altLang="ko-KR" dirty="0" err="1"/>
              <a:t>cursor.fetchall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conn.close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# sqlite3.Row를 사용했기 때문에 결과를 </a:t>
            </a:r>
            <a:r>
              <a:rPr lang="ko-KR" altLang="ko-KR" dirty="0" err="1"/>
              <a:t>딕셔너리</a:t>
            </a:r>
            <a:r>
              <a:rPr lang="ko-KR" altLang="ko-KR" dirty="0"/>
              <a:t> 형태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[</a:t>
            </a:r>
            <a:r>
              <a:rPr lang="ko-KR" altLang="ko-KR" dirty="0" err="1"/>
              <a:t>dict</a:t>
            </a:r>
            <a:r>
              <a:rPr lang="ko-KR" altLang="ko-KR" dirty="0"/>
              <a:t>(</a:t>
            </a:r>
            <a:r>
              <a:rPr lang="ko-KR" altLang="ko-KR" dirty="0" err="1"/>
              <a:t>user</a:t>
            </a:r>
            <a:r>
              <a:rPr lang="ko-KR" altLang="ko-KR" dirty="0"/>
              <a:t>)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user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users</a:t>
            </a:r>
            <a:r>
              <a:rPr lang="ko-KR" altLang="ko-KR" dirty="0"/>
              <a:t>]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D8160C2-C70D-7067-9275-E0AA65929972}"/>
              </a:ext>
            </a:extLst>
          </p:cNvPr>
          <p:cNvSpPr/>
          <p:nvPr/>
        </p:nvSpPr>
        <p:spPr>
          <a:xfrm>
            <a:off x="6218852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user_sql.py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3B9137-9BFA-65EB-5C74-2908053853A5}"/>
              </a:ext>
            </a:extLst>
          </p:cNvPr>
          <p:cNvSpPr/>
          <p:nvPr/>
        </p:nvSpPr>
        <p:spPr>
          <a:xfrm>
            <a:off x="2603240" y="2913438"/>
            <a:ext cx="5696621" cy="9289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F007FE4-56DF-4B29-A051-774903E718A2}"/>
              </a:ext>
            </a:extLst>
          </p:cNvPr>
          <p:cNvSpPr/>
          <p:nvPr/>
        </p:nvSpPr>
        <p:spPr>
          <a:xfrm>
            <a:off x="422200" y="4077478"/>
            <a:ext cx="203246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3882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F69E-E6FE-1654-A0B2-AF0F4B69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EA6A56C3-2912-BAA2-C70C-CA034CDF4A3A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B4BF89A-E599-CFB8-D898-D88229EC22CB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C05FC10-F951-DA32-5C49-966297E9CC33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usersController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select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전체가져오기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412750-3EBF-C2D4-EBC4-9FCF44D17DF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EFBF1A0-600D-8C76-CBD5-C5835C7EB0BB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FEF7DE-57D5-B362-6A87-FDABE24B19FD}"/>
              </a:ext>
            </a:extLst>
          </p:cNvPr>
          <p:cNvSpPr txBox="1"/>
          <p:nvPr/>
        </p:nvSpPr>
        <p:spPr>
          <a:xfrm>
            <a:off x="2603240" y="937614"/>
            <a:ext cx="7231225" cy="59400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fastapi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APIRouter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HTTPException</a:t>
            </a:r>
            <a:endParaRPr lang="ko-KR" altLang="ko-KR" sz="1600" dirty="0"/>
          </a:p>
          <a:p>
            <a:r>
              <a:rPr lang="ko-KR" altLang="ko-KR" sz="1600" dirty="0" err="1"/>
              <a:t>import</a:t>
            </a:r>
            <a:r>
              <a:rPr lang="ko-KR" altLang="ko-KR" sz="1600" dirty="0"/>
              <a:t> sqlite3</a:t>
            </a:r>
          </a:p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model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user_sql</a:t>
            </a:r>
            <a:endParaRPr lang="ko-KR" altLang="ko-KR" sz="1600" dirty="0"/>
          </a:p>
          <a:p>
            <a:endParaRPr lang="ko-KR" altLang="ko-KR" sz="1600" dirty="0"/>
          </a:p>
          <a:p>
            <a:r>
              <a:rPr lang="ko-KR" altLang="ko-KR" sz="1600" dirty="0" err="1"/>
              <a:t>router</a:t>
            </a:r>
            <a:r>
              <a:rPr lang="ko-KR" altLang="ko-KR" sz="1600" dirty="0"/>
              <a:t> = </a:t>
            </a:r>
            <a:r>
              <a:rPr lang="ko-KR" altLang="ko-KR" sz="1600" dirty="0" err="1"/>
              <a:t>APIRouter</a:t>
            </a:r>
            <a:r>
              <a:rPr lang="ko-KR" altLang="ko-KR" sz="1600" dirty="0"/>
              <a:t>(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prefix</a:t>
            </a:r>
            <a:r>
              <a:rPr lang="ko-KR" altLang="ko-KR" sz="1600" dirty="0"/>
              <a:t>="/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", </a:t>
            </a:r>
            <a:r>
              <a:rPr lang="ko-KR" altLang="ko-KR" sz="1600" dirty="0" err="1"/>
              <a:t>tags</a:t>
            </a:r>
            <a:r>
              <a:rPr lang="ko-KR" altLang="ko-KR" sz="1600" dirty="0"/>
              <a:t>= ["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"],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responses</a:t>
            </a:r>
            <a:r>
              <a:rPr lang="ko-KR" altLang="ko-KR" sz="1600" dirty="0"/>
              <a:t>={404:{"</a:t>
            </a:r>
            <a:r>
              <a:rPr lang="ko-KR" altLang="ko-KR" sz="1600" dirty="0" err="1"/>
              <a:t>description</a:t>
            </a:r>
            <a:r>
              <a:rPr lang="ko-KR" altLang="ko-KR" sz="1600" dirty="0"/>
              <a:t>":"페이지 없음"}},</a:t>
            </a:r>
          </a:p>
          <a:p>
            <a:r>
              <a:rPr lang="ko-KR" altLang="ko-KR" sz="1600" dirty="0"/>
              <a:t>)</a:t>
            </a:r>
          </a:p>
          <a:p>
            <a:endParaRPr lang="ko-KR" altLang="ko-KR" sz="1600" dirty="0"/>
          </a:p>
          <a:p>
            <a:r>
              <a:rPr lang="ko-KR" altLang="ko-KR" sz="1600" dirty="0"/>
              <a:t># </a:t>
            </a:r>
            <a:r>
              <a:rPr lang="ko-KR" altLang="ko-KR" sz="1600" dirty="0" err="1"/>
              <a:t>여러개</a:t>
            </a:r>
            <a:r>
              <a:rPr lang="ko-KR" altLang="ko-KR" sz="1600" dirty="0"/>
              <a:t> 검색 - </a:t>
            </a:r>
            <a:r>
              <a:rPr lang="ko-KR" altLang="ko-KR" sz="1600" dirty="0" err="1"/>
              <a:t>get</a:t>
            </a:r>
            <a:endParaRPr lang="ko-KR" altLang="ko-KR" sz="1600" dirty="0"/>
          </a:p>
          <a:p>
            <a:r>
              <a:rPr lang="ko-KR" altLang="ko-KR" sz="1600" dirty="0"/>
              <a:t>@router.get("/")</a:t>
            </a:r>
          </a:p>
          <a:p>
            <a:r>
              <a:rPr lang="ko-KR" altLang="ko-KR" sz="1600" dirty="0" err="1"/>
              <a:t>def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read_user</a:t>
            </a:r>
            <a:r>
              <a:rPr lang="ko-KR" altLang="ko-KR" sz="1600" dirty="0"/>
              <a:t>():</a:t>
            </a:r>
          </a:p>
          <a:p>
            <a:r>
              <a:rPr lang="ko-KR" altLang="ko-KR" sz="1600" dirty="0"/>
              <a:t>    # 02.db 연결-config.py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 = </a:t>
            </a:r>
            <a:r>
              <a:rPr lang="ko-KR" altLang="ko-KR" sz="1600" dirty="0" err="1"/>
              <a:t>user_sql.selectAll_users</a:t>
            </a:r>
            <a:r>
              <a:rPr lang="ko-KR" altLang="ko-KR" sz="1600" dirty="0"/>
              <a:t>()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return</a:t>
            </a:r>
            <a:r>
              <a:rPr lang="ko-KR" altLang="ko-KR" sz="1600" dirty="0"/>
              <a:t> {"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":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}</a:t>
            </a:r>
          </a:p>
          <a:p>
            <a:r>
              <a:rPr lang="ko-KR" altLang="ko-KR" sz="1600" dirty="0"/>
              <a:t>    </a:t>
            </a:r>
          </a:p>
          <a:p>
            <a:r>
              <a:rPr lang="ko-KR" altLang="ko-KR" sz="1600" dirty="0"/>
              <a:t>    # 01.직접연결방법 - 리스트타입</a:t>
            </a:r>
          </a:p>
          <a:p>
            <a:r>
              <a:rPr lang="ko-KR" altLang="ko-KR" sz="1600" dirty="0"/>
              <a:t>    # </a:t>
            </a:r>
            <a:r>
              <a:rPr lang="ko-KR" altLang="ko-KR" sz="1600" dirty="0" err="1"/>
              <a:t>conn</a:t>
            </a:r>
            <a:r>
              <a:rPr lang="ko-KR" altLang="ko-KR" sz="1600" dirty="0"/>
              <a:t> = sqlite3.connect("project01.db")</a:t>
            </a:r>
          </a:p>
          <a:p>
            <a:r>
              <a:rPr lang="ko-KR" altLang="ko-KR" sz="1600" dirty="0"/>
              <a:t>    # </a:t>
            </a:r>
            <a:r>
              <a:rPr lang="ko-KR" altLang="ko-KR" sz="1600" dirty="0" err="1"/>
              <a:t>cursor</a:t>
            </a:r>
            <a:r>
              <a:rPr lang="ko-KR" altLang="ko-KR" sz="1600" dirty="0"/>
              <a:t> = </a:t>
            </a:r>
            <a:r>
              <a:rPr lang="ko-KR" altLang="ko-KR" sz="1600" dirty="0" err="1"/>
              <a:t>conn.cursor</a:t>
            </a:r>
            <a:r>
              <a:rPr lang="ko-KR" altLang="ko-KR" sz="1600" dirty="0"/>
              <a:t>()</a:t>
            </a:r>
          </a:p>
          <a:p>
            <a:r>
              <a:rPr lang="ko-KR" altLang="ko-KR" sz="1600" dirty="0"/>
              <a:t>    # </a:t>
            </a:r>
            <a:r>
              <a:rPr lang="ko-KR" altLang="ko-KR" sz="1600" dirty="0" err="1"/>
              <a:t>cursor.execute</a:t>
            </a:r>
            <a:r>
              <a:rPr lang="ko-KR" altLang="ko-KR" sz="1600" dirty="0"/>
              <a:t>("SELECT * FROM 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")</a:t>
            </a:r>
          </a:p>
          <a:p>
            <a:r>
              <a:rPr lang="ko-KR" altLang="ko-KR" sz="1600" dirty="0"/>
              <a:t>    # 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 = </a:t>
            </a:r>
            <a:r>
              <a:rPr lang="ko-KR" altLang="ko-KR" sz="1600" dirty="0" err="1"/>
              <a:t>cursor.fetchall</a:t>
            </a:r>
            <a:r>
              <a:rPr lang="ko-KR" altLang="ko-KR" sz="1600" dirty="0"/>
              <a:t>()</a:t>
            </a:r>
          </a:p>
          <a:p>
            <a:r>
              <a:rPr lang="ko-KR" altLang="ko-KR" sz="1600" dirty="0"/>
              <a:t>    # </a:t>
            </a:r>
            <a:r>
              <a:rPr lang="ko-KR" altLang="ko-KR" sz="1600" dirty="0" err="1"/>
              <a:t>conn.close</a:t>
            </a:r>
            <a:r>
              <a:rPr lang="ko-KR" altLang="ko-KR" sz="1600" dirty="0"/>
              <a:t>()</a:t>
            </a:r>
          </a:p>
          <a:p>
            <a:r>
              <a:rPr lang="ko-KR" altLang="ko-KR" sz="1600" dirty="0"/>
              <a:t>    # </a:t>
            </a:r>
            <a:r>
              <a:rPr lang="ko-KR" altLang="ko-KR" sz="1600" dirty="0" err="1"/>
              <a:t>return</a:t>
            </a:r>
            <a:r>
              <a:rPr lang="ko-KR" altLang="ko-KR" sz="1600" dirty="0"/>
              <a:t> {"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":</a:t>
            </a:r>
            <a:r>
              <a:rPr lang="ko-KR" altLang="ko-KR" sz="1600" dirty="0" err="1"/>
              <a:t>users</a:t>
            </a:r>
            <a:r>
              <a:rPr lang="ko-KR" altLang="ko-KR" sz="1600" dirty="0"/>
              <a:t>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42E5B1-5849-3F14-97A0-4B586FF102EE}"/>
              </a:ext>
            </a:extLst>
          </p:cNvPr>
          <p:cNvSpPr/>
          <p:nvPr/>
        </p:nvSpPr>
        <p:spPr>
          <a:xfrm>
            <a:off x="7262123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17B546-C9CB-458E-7B45-281943FDA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E22B135-E63D-0EB9-D5B1-81B90C371C4C}"/>
              </a:ext>
            </a:extLst>
          </p:cNvPr>
          <p:cNvSpPr/>
          <p:nvPr/>
        </p:nvSpPr>
        <p:spPr>
          <a:xfrm>
            <a:off x="422200" y="3778898"/>
            <a:ext cx="2032460" cy="326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8AC0E5-DD9B-A95C-D335-39D5A13CDC54}"/>
              </a:ext>
            </a:extLst>
          </p:cNvPr>
          <p:cNvSpPr/>
          <p:nvPr/>
        </p:nvSpPr>
        <p:spPr>
          <a:xfrm>
            <a:off x="2603240" y="3088433"/>
            <a:ext cx="5696621" cy="17354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76116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6C00-3042-371A-B754-96637417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AD5986-405B-B790-1182-4F9EDE8A0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A4DD00FA-054D-05EA-BB75-BC046FF0980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93EA62-3B37-5A96-3212-25B1FA7B1469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A83C9B5-2B0B-2B7D-F8C7-EA73AC0CC8FB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user_sql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select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1C169D-2CE5-1FFE-E828-240714625A11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001721C-5FA2-CC77-B089-E0A2C520A4E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7C9C25F-4B07-7E69-2123-80801C1F9BD8}"/>
              </a:ext>
            </a:extLst>
          </p:cNvPr>
          <p:cNvSpPr txBox="1"/>
          <p:nvPr/>
        </p:nvSpPr>
        <p:spPr>
          <a:xfrm>
            <a:off x="2603241" y="937614"/>
            <a:ext cx="6187954" cy="480131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회원1명 - </a:t>
            </a:r>
            <a:r>
              <a:rPr lang="ko-KR" altLang="ko-KR" dirty="0" err="1"/>
              <a:t>select</a:t>
            </a:r>
            <a:endParaRPr lang="ko-KR" altLang="ko-KR" dirty="0"/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select_user</a:t>
            </a:r>
            <a:r>
              <a:rPr lang="ko-KR" altLang="ko-KR" dirty="0"/>
              <a:t>(</a:t>
            </a:r>
            <a:r>
              <a:rPr lang="ko-KR" altLang="ko-KR" dirty="0" err="1"/>
              <a:t>user_id:int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</a:t>
            </a:r>
            <a:r>
              <a:rPr lang="ko-KR" altLang="ko-KR" dirty="0"/>
              <a:t> = </a:t>
            </a:r>
            <a:r>
              <a:rPr lang="ko-KR" altLang="ko-KR" dirty="0" err="1"/>
              <a:t>config.get_connection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cursor</a:t>
            </a:r>
            <a:r>
              <a:rPr lang="ko-KR" altLang="ko-KR" dirty="0"/>
              <a:t> = </a:t>
            </a:r>
            <a:r>
              <a:rPr lang="ko-KR" altLang="ko-KR" dirty="0" err="1"/>
              <a:t>conn.cursor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cursor.execute</a:t>
            </a:r>
            <a:r>
              <a:rPr lang="ko-KR" altLang="ko-KR" dirty="0"/>
              <a:t>("SELECT * FROM </a:t>
            </a:r>
            <a:r>
              <a:rPr lang="ko-KR" altLang="ko-KR" dirty="0" err="1"/>
              <a:t>users</a:t>
            </a:r>
            <a:r>
              <a:rPr lang="ko-KR" altLang="ko-KR" dirty="0"/>
              <a:t> </a:t>
            </a:r>
            <a:r>
              <a:rPr lang="ko-KR" altLang="ko-KR" dirty="0" err="1"/>
              <a:t>where</a:t>
            </a:r>
            <a:r>
              <a:rPr lang="ko-KR" altLang="ko-KR" dirty="0"/>
              <a:t> </a:t>
            </a:r>
            <a:r>
              <a:rPr lang="ko-KR" altLang="ko-KR" dirty="0" err="1"/>
              <a:t>id</a:t>
            </a:r>
            <a:r>
              <a:rPr lang="ko-KR" altLang="ko-KR" dirty="0"/>
              <a:t>=?",(</a:t>
            </a:r>
            <a:r>
              <a:rPr lang="ko-KR" altLang="ko-KR" dirty="0" err="1"/>
              <a:t>user_id</a:t>
            </a:r>
            <a:r>
              <a:rPr lang="ko-KR" altLang="ko-KR" dirty="0"/>
              <a:t>,)) #튜플 쉼표 있어야 함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user</a:t>
            </a:r>
            <a:r>
              <a:rPr lang="ko-KR" altLang="ko-KR" dirty="0"/>
              <a:t> = </a:t>
            </a:r>
            <a:r>
              <a:rPr lang="ko-KR" altLang="ko-KR" dirty="0" err="1"/>
              <a:t>cursor.fetchone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conn.close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user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r>
              <a:rPr lang="ko-KR" altLang="ko-KR" dirty="0"/>
              <a:t>:</a:t>
            </a:r>
          </a:p>
          <a:p>
            <a:r>
              <a:rPr lang="ko-KR" altLang="ko-KR" dirty="0"/>
              <a:t>        </a:t>
            </a:r>
            <a:r>
              <a:rPr lang="ko-KR" altLang="ko-KR" dirty="0" err="1"/>
              <a:t>return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endParaRPr lang="ko-KR" altLang="ko-KR" dirty="0"/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# sqlite3.Row를 사용했기 때문에 결과를 </a:t>
            </a:r>
            <a:r>
              <a:rPr lang="ko-KR" altLang="ko-KR" dirty="0" err="1"/>
              <a:t>딕셔너리</a:t>
            </a:r>
            <a:r>
              <a:rPr lang="ko-KR" altLang="ko-KR" dirty="0"/>
              <a:t> 형태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</a:t>
            </a:r>
            <a:r>
              <a:rPr lang="ko-KR" altLang="ko-KR" dirty="0" err="1"/>
              <a:t>dict</a:t>
            </a:r>
            <a:r>
              <a:rPr lang="ko-KR" altLang="ko-KR" dirty="0"/>
              <a:t>(</a:t>
            </a:r>
            <a:r>
              <a:rPr lang="ko-KR" altLang="ko-KR" dirty="0" err="1"/>
              <a:t>user</a:t>
            </a:r>
            <a:r>
              <a:rPr lang="ko-KR" altLang="ko-KR" dirty="0"/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9DE2AB0-FA1E-7131-9D7F-6CD28F54F734}"/>
              </a:ext>
            </a:extLst>
          </p:cNvPr>
          <p:cNvSpPr/>
          <p:nvPr/>
        </p:nvSpPr>
        <p:spPr>
          <a:xfrm>
            <a:off x="6218852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user_sql.py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876A0A-E62A-6274-C0F4-72A74AD0183A}"/>
              </a:ext>
            </a:extLst>
          </p:cNvPr>
          <p:cNvSpPr/>
          <p:nvPr/>
        </p:nvSpPr>
        <p:spPr>
          <a:xfrm>
            <a:off x="2603240" y="2600214"/>
            <a:ext cx="5696621" cy="12626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C40C1E-1939-C31C-1726-F44F86A999DB}"/>
              </a:ext>
            </a:extLst>
          </p:cNvPr>
          <p:cNvSpPr/>
          <p:nvPr/>
        </p:nvSpPr>
        <p:spPr>
          <a:xfrm>
            <a:off x="422200" y="4077478"/>
            <a:ext cx="203246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2927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3BF6-B81B-0BD3-577F-3B9E2163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81514CCD-AA52-D0B6-CD08-D24937A1BDE2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51592F9-B885-E0EB-E282-B793CEA20826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69E0F2-6602-A239-62E2-72530D7186BE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usersController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select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가져오기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CA6004-A27D-ED96-709D-C2BEC1C5CDE0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79E39B2-174D-E803-A0CF-1C8FEBD80696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7C8D696-B76A-8BD5-8CFC-71027CF83284}"/>
              </a:ext>
            </a:extLst>
          </p:cNvPr>
          <p:cNvSpPr txBox="1"/>
          <p:nvPr/>
        </p:nvSpPr>
        <p:spPr>
          <a:xfrm>
            <a:off x="2603240" y="937614"/>
            <a:ext cx="7231225" cy="2308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1개 검색 - </a:t>
            </a:r>
            <a:r>
              <a:rPr lang="ko-KR" altLang="ko-KR" dirty="0" err="1"/>
              <a:t>get</a:t>
            </a:r>
            <a:endParaRPr lang="ko-KR" altLang="ko-KR" dirty="0"/>
          </a:p>
          <a:p>
            <a:r>
              <a:rPr lang="ko-KR" altLang="ko-KR" dirty="0"/>
              <a:t>@router.get("/{user_id}")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read_user</a:t>
            </a:r>
            <a:r>
              <a:rPr lang="ko-KR" altLang="ko-KR" dirty="0"/>
              <a:t>(</a:t>
            </a:r>
            <a:r>
              <a:rPr lang="ko-KR" altLang="ko-KR" dirty="0" err="1"/>
              <a:t>user_id:str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user</a:t>
            </a:r>
            <a:r>
              <a:rPr lang="ko-KR" altLang="ko-KR" dirty="0"/>
              <a:t> = </a:t>
            </a:r>
            <a:r>
              <a:rPr lang="ko-KR" altLang="ko-KR" dirty="0" err="1"/>
              <a:t>user_sql.select_user</a:t>
            </a:r>
            <a:r>
              <a:rPr lang="ko-KR" altLang="ko-KR" dirty="0"/>
              <a:t>(</a:t>
            </a:r>
            <a:r>
              <a:rPr lang="ko-KR" altLang="ko-KR" dirty="0" err="1"/>
              <a:t>user_id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print</a:t>
            </a:r>
            <a:r>
              <a:rPr lang="ko-KR" altLang="ko-KR" dirty="0"/>
              <a:t>("</a:t>
            </a:r>
            <a:r>
              <a:rPr lang="ko-KR" altLang="ko-KR" dirty="0" err="1"/>
              <a:t>user</a:t>
            </a:r>
            <a:r>
              <a:rPr lang="ko-KR" altLang="ko-KR" dirty="0"/>
              <a:t> : ",</a:t>
            </a:r>
            <a:r>
              <a:rPr lang="ko-KR" altLang="ko-KR" dirty="0" err="1"/>
              <a:t>user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user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r>
              <a:rPr lang="ko-KR" altLang="ko-KR" dirty="0"/>
              <a:t>:</a:t>
            </a:r>
          </a:p>
          <a:p>
            <a:r>
              <a:rPr lang="ko-KR" altLang="ko-KR" dirty="0"/>
              <a:t>        </a:t>
            </a:r>
            <a:r>
              <a:rPr lang="ko-KR" altLang="ko-KR" dirty="0" err="1"/>
              <a:t>return</a:t>
            </a:r>
            <a:r>
              <a:rPr lang="ko-KR" altLang="ko-KR" dirty="0"/>
              <a:t> {"</a:t>
            </a:r>
            <a:r>
              <a:rPr lang="ko-KR" altLang="ko-KR" dirty="0" err="1"/>
              <a:t>message</a:t>
            </a:r>
            <a:r>
              <a:rPr lang="ko-KR" altLang="ko-KR" dirty="0"/>
              <a:t>": "사용자를 찾을 수 없습니다."}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{"</a:t>
            </a:r>
            <a:r>
              <a:rPr lang="ko-KR" altLang="ko-KR" dirty="0" err="1"/>
              <a:t>user</a:t>
            </a:r>
            <a:r>
              <a:rPr lang="ko-KR" altLang="ko-KR" dirty="0"/>
              <a:t>":</a:t>
            </a:r>
            <a:r>
              <a:rPr lang="ko-KR" altLang="ko-KR" dirty="0" err="1"/>
              <a:t>user</a:t>
            </a:r>
            <a:r>
              <a:rPr lang="ko-KR" altLang="ko-KR" dirty="0"/>
              <a:t>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E127BD-A828-5FA5-8F49-8EBE2063D776}"/>
              </a:ext>
            </a:extLst>
          </p:cNvPr>
          <p:cNvSpPr/>
          <p:nvPr/>
        </p:nvSpPr>
        <p:spPr>
          <a:xfrm>
            <a:off x="7262123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A21463-7FFB-01A8-8201-C1C6CADE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79CD4790-561D-1EA6-8C6F-4691431672D7}"/>
              </a:ext>
            </a:extLst>
          </p:cNvPr>
          <p:cNvSpPr/>
          <p:nvPr/>
        </p:nvSpPr>
        <p:spPr>
          <a:xfrm>
            <a:off x="422200" y="3778898"/>
            <a:ext cx="2032460" cy="326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22276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48BA-6CFE-F920-5B69-AB64326D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837D755-D720-FA82-AA68-0D360AD1F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75FD5D28-0619-3DC7-F9D7-A862A5F411C8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6CB657F-D3E0-8DDA-8654-0C69BE8B429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173895-1747-2A55-60AE-A2ABDEA058B7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user_sql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insert 1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개저장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46F9923-E59B-9744-4303-9C1FC2512DFF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0450BA1-A856-E3FA-858E-19021B5E3140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1F77179-BD01-0D92-C98B-9B5FCCC01E7F}"/>
              </a:ext>
            </a:extLst>
          </p:cNvPr>
          <p:cNvSpPr txBox="1"/>
          <p:nvPr/>
        </p:nvSpPr>
        <p:spPr>
          <a:xfrm>
            <a:off x="2603241" y="937614"/>
            <a:ext cx="6187954" cy="53553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회원1명저장 - </a:t>
            </a:r>
            <a:r>
              <a:rPr lang="ko-KR" altLang="ko-KR" dirty="0" err="1"/>
              <a:t>insert</a:t>
            </a:r>
            <a:endParaRPr lang="ko-KR" altLang="ko-KR" dirty="0"/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create_user</a:t>
            </a:r>
            <a:r>
              <a:rPr lang="ko-KR" altLang="ko-KR" dirty="0"/>
              <a:t>(</a:t>
            </a:r>
            <a:r>
              <a:rPr lang="ko-KR" altLang="ko-KR" dirty="0" err="1"/>
              <a:t>user_id:int,name:str,email:str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</a:t>
            </a:r>
            <a:r>
              <a:rPr lang="ko-KR" altLang="ko-KR" dirty="0"/>
              <a:t> = </a:t>
            </a:r>
            <a:r>
              <a:rPr lang="ko-KR" altLang="ko-KR" dirty="0" err="1"/>
              <a:t>config.get_connection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cursor</a:t>
            </a:r>
            <a:r>
              <a:rPr lang="ko-KR" altLang="ko-KR" dirty="0"/>
              <a:t> = </a:t>
            </a:r>
            <a:r>
              <a:rPr lang="ko-KR" altLang="ko-KR" dirty="0" err="1"/>
              <a:t>conn.cursor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cursor.execute</a:t>
            </a:r>
            <a:r>
              <a:rPr lang="ko-KR" altLang="ko-KR" dirty="0"/>
              <a:t>(</a:t>
            </a:r>
          </a:p>
          <a:p>
            <a:r>
              <a:rPr lang="ko-KR" altLang="ko-KR" dirty="0"/>
              <a:t>        "INSERT INTO </a:t>
            </a:r>
            <a:r>
              <a:rPr lang="ko-KR" altLang="ko-KR" dirty="0" err="1"/>
              <a:t>users</a:t>
            </a:r>
            <a:r>
              <a:rPr lang="ko-KR" altLang="ko-KR" dirty="0"/>
              <a:t> (</a:t>
            </a:r>
            <a:r>
              <a:rPr lang="ko-KR" altLang="ko-KR" dirty="0" err="1"/>
              <a:t>id</a:t>
            </a:r>
            <a:r>
              <a:rPr lang="ko-KR" altLang="ko-KR" dirty="0"/>
              <a:t>, </a:t>
            </a:r>
            <a:r>
              <a:rPr lang="ko-KR" altLang="ko-KR" dirty="0" err="1"/>
              <a:t>name</a:t>
            </a:r>
            <a:r>
              <a:rPr lang="ko-KR" altLang="ko-KR" dirty="0"/>
              <a:t>, </a:t>
            </a:r>
            <a:r>
              <a:rPr lang="ko-KR" altLang="ko-KR" dirty="0" err="1"/>
              <a:t>email</a:t>
            </a:r>
            <a:r>
              <a:rPr lang="ko-KR" altLang="ko-KR" dirty="0"/>
              <a:t>) VALUES (?, ?, ?)",</a:t>
            </a:r>
          </a:p>
          <a:p>
            <a:r>
              <a:rPr lang="ko-KR" altLang="ko-KR" dirty="0"/>
              <a:t>        (</a:t>
            </a:r>
            <a:r>
              <a:rPr lang="ko-KR" altLang="ko-KR" dirty="0" err="1"/>
              <a:t>user_id</a:t>
            </a:r>
            <a:r>
              <a:rPr lang="ko-KR" altLang="ko-KR" dirty="0"/>
              <a:t>, </a:t>
            </a:r>
            <a:r>
              <a:rPr lang="ko-KR" altLang="ko-KR" dirty="0" err="1"/>
              <a:t>name</a:t>
            </a:r>
            <a:r>
              <a:rPr lang="ko-KR" altLang="ko-KR" dirty="0"/>
              <a:t>, </a:t>
            </a:r>
            <a:r>
              <a:rPr lang="ko-KR" altLang="ko-KR" dirty="0" err="1"/>
              <a:t>email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    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conn.commit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conn.close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print</a:t>
            </a:r>
            <a:r>
              <a:rPr lang="ko-KR" altLang="ko-KR" dirty="0"/>
              <a:t>("데이터 저장성공")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id</a:t>
            </a:r>
            <a:r>
              <a:rPr lang="ko-KR" altLang="ko-KR" dirty="0"/>
              <a:t>": user_</a:t>
            </a:r>
            <a:r>
              <a:rPr lang="ko-KR" altLang="ko-KR" dirty="0" err="1"/>
              <a:t>id</a:t>
            </a:r>
            <a:r>
              <a:rPr lang="ko-KR" altLang="ko-KR" dirty="0"/>
              <a:t>,"</a:t>
            </a:r>
            <a:r>
              <a:rPr lang="ko-KR" altLang="ko-KR" dirty="0" err="1"/>
              <a:t>name</a:t>
            </a:r>
            <a:r>
              <a:rPr lang="ko-KR" altLang="ko-KR" dirty="0"/>
              <a:t>": </a:t>
            </a:r>
            <a:r>
              <a:rPr lang="ko-KR" altLang="ko-KR" dirty="0" err="1"/>
              <a:t>name</a:t>
            </a:r>
            <a:r>
              <a:rPr lang="ko-KR" altLang="ko-KR" dirty="0"/>
              <a:t>,"</a:t>
            </a:r>
            <a:r>
              <a:rPr lang="ko-KR" altLang="ko-KR" dirty="0" err="1"/>
              <a:t>email</a:t>
            </a:r>
            <a:r>
              <a:rPr lang="ko-KR" altLang="ko-KR" dirty="0"/>
              <a:t>": </a:t>
            </a:r>
            <a:r>
              <a:rPr lang="ko-KR" altLang="ko-KR" dirty="0" err="1"/>
              <a:t>email</a:t>
            </a:r>
            <a:endParaRPr lang="ko-KR" altLang="ko-KR" dirty="0"/>
          </a:p>
          <a:p>
            <a:r>
              <a:rPr lang="ko-KR" altLang="ko-KR" dirty="0"/>
              <a:t>    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E9F575-C6EA-2AE8-FDA9-43C7AEDAB985}"/>
              </a:ext>
            </a:extLst>
          </p:cNvPr>
          <p:cNvSpPr/>
          <p:nvPr/>
        </p:nvSpPr>
        <p:spPr>
          <a:xfrm>
            <a:off x="6218852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user_sql.py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E60057-B030-1479-9454-24CAD3D23AA9}"/>
              </a:ext>
            </a:extLst>
          </p:cNvPr>
          <p:cNvSpPr/>
          <p:nvPr/>
        </p:nvSpPr>
        <p:spPr>
          <a:xfrm>
            <a:off x="422200" y="4077478"/>
            <a:ext cx="203246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09020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28683-C4ED-4DBC-B36C-2994243D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9AC28370-8FCB-3F5B-71E7-54AC5FA4338F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D0868BF-6EFF-789A-572B-24FE0A4BA874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019E4A-12A5-90BF-31F1-F1A47A2C8C24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usersController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insert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저장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A2610E-3E3A-F78A-B0B1-091C2E939157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A676EDB6-C892-6916-0384-EF1EE3625CD0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557A034-CE04-DB58-90AA-4B8C57133083}"/>
              </a:ext>
            </a:extLst>
          </p:cNvPr>
          <p:cNvSpPr txBox="1"/>
          <p:nvPr/>
        </p:nvSpPr>
        <p:spPr>
          <a:xfrm>
            <a:off x="2603240" y="937614"/>
            <a:ext cx="7231225" cy="286232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저장 - POST </a:t>
            </a:r>
          </a:p>
          <a:p>
            <a:r>
              <a:rPr lang="ko-KR" altLang="ko-KR" dirty="0"/>
              <a:t>@router.post("/{user_id}")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create_user</a:t>
            </a:r>
            <a:r>
              <a:rPr lang="ko-KR" altLang="ko-KR" dirty="0"/>
              <a:t>(</a:t>
            </a:r>
            <a:r>
              <a:rPr lang="ko-KR" altLang="ko-KR" dirty="0" err="1"/>
              <a:t>user_id:int</a:t>
            </a:r>
            <a:r>
              <a:rPr lang="ko-KR" altLang="ko-KR" dirty="0"/>
              <a:t>, </a:t>
            </a:r>
            <a:r>
              <a:rPr lang="ko-KR" altLang="ko-KR" dirty="0" err="1"/>
              <a:t>name</a:t>
            </a:r>
            <a:r>
              <a:rPr lang="ko-KR" altLang="ko-KR" dirty="0"/>
              <a:t>: </a:t>
            </a:r>
            <a:r>
              <a:rPr lang="ko-KR" altLang="ko-KR" dirty="0" err="1"/>
              <a:t>str</a:t>
            </a:r>
            <a:r>
              <a:rPr lang="ko-KR" altLang="ko-KR" dirty="0"/>
              <a:t>, </a:t>
            </a:r>
            <a:r>
              <a:rPr lang="ko-KR" altLang="ko-KR" dirty="0" err="1"/>
              <a:t>email</a:t>
            </a:r>
            <a:r>
              <a:rPr lang="ko-KR" altLang="ko-KR" dirty="0"/>
              <a:t>: </a:t>
            </a:r>
            <a:r>
              <a:rPr lang="ko-KR" altLang="ko-KR" dirty="0" err="1"/>
              <a:t>str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user</a:t>
            </a:r>
            <a:r>
              <a:rPr lang="ko-KR" altLang="ko-KR" dirty="0"/>
              <a:t> = </a:t>
            </a:r>
            <a:r>
              <a:rPr lang="ko-KR" altLang="ko-KR" dirty="0" err="1"/>
              <a:t>user_sql.create_user</a:t>
            </a:r>
            <a:r>
              <a:rPr lang="ko-KR" altLang="ko-KR" dirty="0"/>
              <a:t>(</a:t>
            </a:r>
            <a:r>
              <a:rPr lang="ko-KR" altLang="ko-KR" dirty="0" err="1"/>
              <a:t>user_id,name,email</a:t>
            </a:r>
            <a:r>
              <a:rPr lang="ko-KR" altLang="ko-KR" dirty="0"/>
              <a:t>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message</a:t>
            </a:r>
            <a:r>
              <a:rPr lang="ko-KR" altLang="ko-KR" dirty="0"/>
              <a:t>": "사용자가 추가되었습니다.",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user</a:t>
            </a:r>
            <a:r>
              <a:rPr lang="ko-KR" altLang="ko-KR" dirty="0"/>
              <a:t>": </a:t>
            </a:r>
            <a:r>
              <a:rPr lang="ko-KR" altLang="ko-KR" dirty="0" err="1"/>
              <a:t>user</a:t>
            </a:r>
            <a:endParaRPr lang="ko-KR" altLang="ko-KR" dirty="0"/>
          </a:p>
          <a:p>
            <a:r>
              <a:rPr lang="ko-KR" altLang="ko-KR" dirty="0"/>
              <a:t>    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31C9FD1-4567-E4AC-836C-06687697B225}"/>
              </a:ext>
            </a:extLst>
          </p:cNvPr>
          <p:cNvSpPr/>
          <p:nvPr/>
        </p:nvSpPr>
        <p:spPr>
          <a:xfrm>
            <a:off x="7262123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E550C3-2ED4-CCBF-2C93-6767337F1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6FA6191-EF91-87D7-6033-F26165F5E198}"/>
              </a:ext>
            </a:extLst>
          </p:cNvPr>
          <p:cNvSpPr/>
          <p:nvPr/>
        </p:nvSpPr>
        <p:spPr>
          <a:xfrm>
            <a:off x="422200" y="3778898"/>
            <a:ext cx="2032460" cy="326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1782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2A0C-C878-0F9D-AD39-A572EC49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DCE4A62-8F4A-ACF7-ACDD-130740A3A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5FE08359-7BEC-88C1-7E57-F859D48D9758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F32F56A-AFB1-1262-B771-0348870316E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B82D545-9E72-579A-0AA8-7705924B7AE9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user_sql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update 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수정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00B51E-7EE1-29B6-C7AB-BF200AD4626C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62689A27-2524-29E1-CCD2-0BC75D8326BB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23E9E3-33B6-43DF-3CD4-C00109BBC259}"/>
              </a:ext>
            </a:extLst>
          </p:cNvPr>
          <p:cNvSpPr txBox="1"/>
          <p:nvPr/>
        </p:nvSpPr>
        <p:spPr>
          <a:xfrm>
            <a:off x="2603240" y="937614"/>
            <a:ext cx="6848669" cy="59093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회원1명수정 - </a:t>
            </a:r>
            <a:r>
              <a:rPr lang="ko-KR" altLang="ko-KR" dirty="0" err="1"/>
              <a:t>update</a:t>
            </a:r>
            <a:endParaRPr lang="ko-KR" altLang="ko-KR" dirty="0"/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update_user</a:t>
            </a:r>
            <a:r>
              <a:rPr lang="ko-KR" altLang="ko-KR" dirty="0"/>
              <a:t>(</a:t>
            </a:r>
            <a:r>
              <a:rPr lang="ko-KR" altLang="ko-KR" dirty="0" err="1"/>
              <a:t>user_id:int,name:str,email:str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</a:t>
            </a:r>
            <a:r>
              <a:rPr lang="ko-KR" altLang="ko-KR" dirty="0"/>
              <a:t> = </a:t>
            </a:r>
            <a:r>
              <a:rPr lang="ko-KR" altLang="ko-KR" dirty="0" err="1"/>
              <a:t>config.get_connection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cursor</a:t>
            </a:r>
            <a:r>
              <a:rPr lang="ko-KR" altLang="ko-KR" dirty="0"/>
              <a:t> = </a:t>
            </a:r>
            <a:r>
              <a:rPr lang="ko-KR" altLang="ko-KR" dirty="0" err="1"/>
              <a:t>conn.cursor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cursor.execute</a:t>
            </a:r>
            <a:r>
              <a:rPr lang="ko-KR" altLang="ko-KR" dirty="0"/>
              <a:t>(</a:t>
            </a:r>
          </a:p>
          <a:p>
            <a:r>
              <a:rPr lang="ko-KR" altLang="ko-KR" dirty="0"/>
              <a:t>        "UPDATE </a:t>
            </a:r>
            <a:r>
              <a:rPr lang="ko-KR" altLang="ko-KR" dirty="0" err="1"/>
              <a:t>users</a:t>
            </a:r>
            <a:r>
              <a:rPr lang="ko-KR" altLang="ko-KR" dirty="0"/>
              <a:t> SET </a:t>
            </a:r>
            <a:r>
              <a:rPr lang="ko-KR" altLang="ko-KR" dirty="0" err="1"/>
              <a:t>name</a:t>
            </a:r>
            <a:r>
              <a:rPr lang="ko-KR" altLang="ko-KR" dirty="0"/>
              <a:t> = ?, </a:t>
            </a:r>
            <a:r>
              <a:rPr lang="ko-KR" altLang="ko-KR" dirty="0" err="1"/>
              <a:t>email</a:t>
            </a:r>
            <a:r>
              <a:rPr lang="ko-KR" altLang="ko-KR" dirty="0"/>
              <a:t> = ? WHERE </a:t>
            </a:r>
            <a:r>
              <a:rPr lang="ko-KR" altLang="ko-KR" dirty="0" err="1"/>
              <a:t>id</a:t>
            </a:r>
            <a:r>
              <a:rPr lang="ko-KR" altLang="ko-KR" dirty="0"/>
              <a:t> = ?",</a:t>
            </a:r>
          </a:p>
          <a:p>
            <a:r>
              <a:rPr lang="ko-KR" altLang="ko-KR" dirty="0"/>
              <a:t>        (</a:t>
            </a:r>
            <a:r>
              <a:rPr lang="ko-KR" altLang="ko-KR" dirty="0" err="1"/>
              <a:t>name</a:t>
            </a:r>
            <a:r>
              <a:rPr lang="ko-KR" altLang="ko-KR" dirty="0"/>
              <a:t>, </a:t>
            </a:r>
            <a:r>
              <a:rPr lang="ko-KR" altLang="ko-KR" dirty="0" err="1"/>
              <a:t>email</a:t>
            </a:r>
            <a:r>
              <a:rPr lang="ko-KR" altLang="ko-KR" dirty="0"/>
              <a:t>, </a:t>
            </a:r>
            <a:r>
              <a:rPr lang="ko-KR" altLang="ko-KR" dirty="0" err="1"/>
              <a:t>user_id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    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conn.commit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updated_count</a:t>
            </a:r>
            <a:r>
              <a:rPr lang="ko-KR" altLang="ko-KR" dirty="0"/>
              <a:t> = </a:t>
            </a:r>
            <a:r>
              <a:rPr lang="ko-KR" altLang="ko-KR" dirty="0" err="1"/>
              <a:t>cursor.rowcount</a:t>
            </a:r>
            <a:r>
              <a:rPr lang="ko-KR" altLang="ko-KR" dirty="0"/>
              <a:t>  # </a:t>
            </a:r>
            <a:r>
              <a:rPr lang="ko-KR" altLang="ko-KR" dirty="0" err="1"/>
              <a:t>없을경우</a:t>
            </a: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conn.close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updated_count</a:t>
            </a:r>
            <a:r>
              <a:rPr lang="ko-KR" altLang="ko-KR" dirty="0"/>
              <a:t> == 0:</a:t>
            </a:r>
          </a:p>
          <a:p>
            <a:r>
              <a:rPr lang="ko-KR" altLang="ko-KR" dirty="0"/>
              <a:t>        </a:t>
            </a:r>
            <a:r>
              <a:rPr lang="ko-KR" altLang="ko-KR" dirty="0" err="1"/>
              <a:t>return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endParaRPr lang="ko-KR" altLang="ko-KR" dirty="0"/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id</a:t>
            </a:r>
            <a:r>
              <a:rPr lang="ko-KR" altLang="ko-KR" dirty="0"/>
              <a:t>": user_</a:t>
            </a:r>
            <a:r>
              <a:rPr lang="ko-KR" altLang="ko-KR" dirty="0" err="1"/>
              <a:t>id</a:t>
            </a:r>
            <a:r>
              <a:rPr lang="ko-KR" altLang="ko-KR" dirty="0"/>
              <a:t>,"</a:t>
            </a:r>
            <a:r>
              <a:rPr lang="ko-KR" altLang="ko-KR" dirty="0" err="1"/>
              <a:t>name</a:t>
            </a:r>
            <a:r>
              <a:rPr lang="ko-KR" altLang="ko-KR" dirty="0"/>
              <a:t>": </a:t>
            </a:r>
            <a:r>
              <a:rPr lang="ko-KR" altLang="ko-KR" dirty="0" err="1"/>
              <a:t>name</a:t>
            </a:r>
            <a:r>
              <a:rPr lang="ko-KR" altLang="ko-KR" dirty="0"/>
              <a:t>,"</a:t>
            </a:r>
            <a:r>
              <a:rPr lang="ko-KR" altLang="ko-KR" dirty="0" err="1"/>
              <a:t>email</a:t>
            </a:r>
            <a:r>
              <a:rPr lang="ko-KR" altLang="ko-KR" dirty="0"/>
              <a:t>": </a:t>
            </a:r>
            <a:r>
              <a:rPr lang="ko-KR" altLang="ko-KR" dirty="0" err="1"/>
              <a:t>email</a:t>
            </a:r>
            <a:endParaRPr lang="ko-KR" altLang="ko-KR" dirty="0"/>
          </a:p>
          <a:p>
            <a:r>
              <a:rPr lang="ko-KR" altLang="ko-KR" dirty="0"/>
              <a:t>    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191EED-F343-F873-4052-DDE97E2932A9}"/>
              </a:ext>
            </a:extLst>
          </p:cNvPr>
          <p:cNvSpPr/>
          <p:nvPr/>
        </p:nvSpPr>
        <p:spPr>
          <a:xfrm>
            <a:off x="6879567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user_sql.py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E9D210-E8A5-5281-2E07-D74D4F8E673B}"/>
              </a:ext>
            </a:extLst>
          </p:cNvPr>
          <p:cNvSpPr/>
          <p:nvPr/>
        </p:nvSpPr>
        <p:spPr>
          <a:xfrm>
            <a:off x="422200" y="4077478"/>
            <a:ext cx="203246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2353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AE45-CBCF-66DC-A756-6F5193CEF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E4BE3B03-5A8F-5115-BE9D-6B33BC0EB4C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782E674-ED0D-039D-7C86-4DE5906D1286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21B4E7-C2AB-0AC9-9FD6-7DB18F0E6E71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usersController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update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수정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F1805BE-7425-52B3-96C2-88697D3C63C7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6B1D8F8-321E-D725-11C8-47D095F8D5B0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49FDCD1-39F7-E7FE-62C7-9261A1094441}"/>
              </a:ext>
            </a:extLst>
          </p:cNvPr>
          <p:cNvSpPr txBox="1"/>
          <p:nvPr/>
        </p:nvSpPr>
        <p:spPr>
          <a:xfrm>
            <a:off x="2603240" y="937614"/>
            <a:ext cx="7231225" cy="39703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수정 - </a:t>
            </a:r>
            <a:r>
              <a:rPr lang="ko-KR" altLang="ko-KR" dirty="0" err="1"/>
              <a:t>put</a:t>
            </a:r>
            <a:endParaRPr lang="ko-KR" altLang="ko-KR" dirty="0"/>
          </a:p>
          <a:p>
            <a:r>
              <a:rPr lang="ko-KR" altLang="ko-KR" dirty="0"/>
              <a:t>@router.put("/{user_id}")  # 수정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update_user</a:t>
            </a:r>
            <a:r>
              <a:rPr lang="ko-KR" altLang="ko-KR" dirty="0"/>
              <a:t>(</a:t>
            </a:r>
            <a:r>
              <a:rPr lang="ko-KR" altLang="ko-KR" dirty="0" err="1"/>
              <a:t>user_id</a:t>
            </a:r>
            <a:r>
              <a:rPr lang="ko-KR" altLang="ko-KR" dirty="0"/>
              <a:t>: </a:t>
            </a:r>
            <a:r>
              <a:rPr lang="ko-KR" altLang="ko-KR" dirty="0" err="1"/>
              <a:t>int</a:t>
            </a:r>
            <a:r>
              <a:rPr lang="ko-KR" altLang="ko-KR" dirty="0"/>
              <a:t>, </a:t>
            </a:r>
            <a:r>
              <a:rPr lang="ko-KR" altLang="ko-KR" dirty="0" err="1"/>
              <a:t>name</a:t>
            </a:r>
            <a:r>
              <a:rPr lang="ko-KR" altLang="ko-KR" dirty="0"/>
              <a:t>: </a:t>
            </a:r>
            <a:r>
              <a:rPr lang="ko-KR" altLang="ko-KR" dirty="0" err="1"/>
              <a:t>str</a:t>
            </a:r>
            <a:r>
              <a:rPr lang="ko-KR" altLang="ko-KR" dirty="0"/>
              <a:t>, </a:t>
            </a:r>
            <a:r>
              <a:rPr lang="ko-KR" altLang="ko-KR" dirty="0" err="1"/>
              <a:t>email</a:t>
            </a:r>
            <a:r>
              <a:rPr lang="ko-KR" altLang="ko-KR" dirty="0"/>
              <a:t>: </a:t>
            </a:r>
            <a:r>
              <a:rPr lang="ko-KR" altLang="ko-KR" dirty="0" err="1"/>
              <a:t>str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user</a:t>
            </a:r>
            <a:r>
              <a:rPr lang="ko-KR" altLang="ko-KR" dirty="0"/>
              <a:t> = </a:t>
            </a:r>
            <a:r>
              <a:rPr lang="ko-KR" altLang="ko-KR" dirty="0" err="1"/>
              <a:t>user_sql.update_user</a:t>
            </a:r>
            <a:r>
              <a:rPr lang="ko-KR" altLang="ko-KR" dirty="0"/>
              <a:t>(</a:t>
            </a:r>
            <a:r>
              <a:rPr lang="ko-KR" altLang="ko-KR" dirty="0" err="1"/>
              <a:t>user_id,name,email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user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r>
              <a:rPr lang="ko-KR" altLang="ko-KR" dirty="0"/>
              <a:t>:</a:t>
            </a:r>
          </a:p>
          <a:p>
            <a:r>
              <a:rPr lang="ko-KR" altLang="ko-KR" dirty="0"/>
              <a:t>    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    "</a:t>
            </a:r>
            <a:r>
              <a:rPr lang="ko-KR" altLang="ko-KR" dirty="0" err="1"/>
              <a:t>message</a:t>
            </a:r>
            <a:r>
              <a:rPr lang="ko-KR" altLang="ko-KR" dirty="0"/>
              <a:t>": "해당 사용자를 찾을 수 없습니다."</a:t>
            </a:r>
          </a:p>
          <a:p>
            <a:r>
              <a:rPr lang="ko-KR" altLang="ko-KR" dirty="0"/>
              <a:t>        }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message</a:t>
            </a:r>
            <a:r>
              <a:rPr lang="ko-KR" altLang="ko-KR" dirty="0"/>
              <a:t>": "사용자 정보가 수정되었습니다.",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user</a:t>
            </a:r>
            <a:r>
              <a:rPr lang="ko-KR" altLang="ko-KR" dirty="0"/>
              <a:t>": </a:t>
            </a:r>
            <a:r>
              <a:rPr lang="ko-KR" altLang="ko-KR" dirty="0" err="1"/>
              <a:t>user</a:t>
            </a:r>
            <a:endParaRPr lang="ko-KR" altLang="ko-KR" dirty="0"/>
          </a:p>
          <a:p>
            <a:r>
              <a:rPr lang="ko-KR" altLang="ko-KR" dirty="0"/>
              <a:t>    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A3A0F3-5458-0A34-C14C-2AE3B8E01588}"/>
              </a:ext>
            </a:extLst>
          </p:cNvPr>
          <p:cNvSpPr/>
          <p:nvPr/>
        </p:nvSpPr>
        <p:spPr>
          <a:xfrm>
            <a:off x="7262123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8F6D4B-9DC9-9905-30E8-59E8B5D3C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EA8A789-874A-0B4F-7915-A12332B15DD8}"/>
              </a:ext>
            </a:extLst>
          </p:cNvPr>
          <p:cNvSpPr/>
          <p:nvPr/>
        </p:nvSpPr>
        <p:spPr>
          <a:xfrm>
            <a:off x="422200" y="3778898"/>
            <a:ext cx="2032460" cy="326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1039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8544-12E9-CFC0-E897-736B7310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B39B3A3-CC22-2A57-42E4-5AB373F6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4DDAB02B-40E7-DCEB-8951-F55031673CEF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F9F41E0-50BE-7F19-1B5D-5080EC202BB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F23BB7-E1D5-FFBE-909B-6B00F3768D7A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user_sql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delete 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삭제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0CE3AD-C883-7EA0-0528-EE36A3E978D7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5C071B4-8243-506D-49B5-B91BBF6D349A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B11180B-3D56-868A-D6BB-7B4E8417C984}"/>
              </a:ext>
            </a:extLst>
          </p:cNvPr>
          <p:cNvSpPr txBox="1"/>
          <p:nvPr/>
        </p:nvSpPr>
        <p:spPr>
          <a:xfrm>
            <a:off x="2603240" y="937614"/>
            <a:ext cx="6848669" cy="50783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회원1명삭제 - </a:t>
            </a:r>
            <a:r>
              <a:rPr lang="ko-KR" altLang="ko-KR" dirty="0" err="1"/>
              <a:t>delete</a:t>
            </a:r>
            <a:endParaRPr lang="ko-KR" altLang="ko-KR" dirty="0"/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delete_user</a:t>
            </a:r>
            <a:r>
              <a:rPr lang="ko-KR" altLang="ko-KR" dirty="0"/>
              <a:t>(</a:t>
            </a:r>
            <a:r>
              <a:rPr lang="ko-KR" altLang="ko-KR" dirty="0" err="1"/>
              <a:t>user_id:int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</a:t>
            </a:r>
            <a:r>
              <a:rPr lang="ko-KR" altLang="ko-KR" dirty="0"/>
              <a:t> = </a:t>
            </a:r>
            <a:r>
              <a:rPr lang="ko-KR" altLang="ko-KR" dirty="0" err="1"/>
              <a:t>config.get_connection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cursor</a:t>
            </a:r>
            <a:r>
              <a:rPr lang="ko-KR" altLang="ko-KR" dirty="0"/>
              <a:t> = </a:t>
            </a:r>
            <a:r>
              <a:rPr lang="ko-KR" altLang="ko-KR" dirty="0" err="1"/>
              <a:t>conn.cursor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cursor.execute</a:t>
            </a:r>
            <a:r>
              <a:rPr lang="ko-KR" altLang="ko-KR" dirty="0"/>
              <a:t>(</a:t>
            </a:r>
          </a:p>
          <a:p>
            <a:r>
              <a:rPr lang="ko-KR" altLang="ko-KR" dirty="0"/>
              <a:t>        "DELETE FROM </a:t>
            </a:r>
            <a:r>
              <a:rPr lang="ko-KR" altLang="ko-KR" dirty="0" err="1"/>
              <a:t>users</a:t>
            </a:r>
            <a:r>
              <a:rPr lang="ko-KR" altLang="ko-KR" dirty="0"/>
              <a:t> WHERE </a:t>
            </a:r>
            <a:r>
              <a:rPr lang="ko-KR" altLang="ko-KR" dirty="0" err="1"/>
              <a:t>id</a:t>
            </a:r>
            <a:r>
              <a:rPr lang="ko-KR" altLang="ko-KR" dirty="0"/>
              <a:t> = ?", (</a:t>
            </a:r>
            <a:r>
              <a:rPr lang="ko-KR" altLang="ko-KR" dirty="0" err="1"/>
              <a:t>user_id</a:t>
            </a:r>
            <a:r>
              <a:rPr lang="ko-KR" altLang="ko-KR" dirty="0"/>
              <a:t>,)</a:t>
            </a:r>
          </a:p>
          <a:p>
            <a:r>
              <a:rPr lang="ko-KR" altLang="ko-KR" dirty="0"/>
              <a:t>    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conn.commit</a:t>
            </a:r>
            <a:r>
              <a:rPr lang="ko-KR" altLang="ko-KR" dirty="0"/>
              <a:t>()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updated_count</a:t>
            </a:r>
            <a:r>
              <a:rPr lang="ko-KR" altLang="ko-KR" dirty="0"/>
              <a:t> = </a:t>
            </a:r>
            <a:r>
              <a:rPr lang="ko-KR" altLang="ko-KR" dirty="0" err="1"/>
              <a:t>cursor.rowcount</a:t>
            </a:r>
            <a:r>
              <a:rPr lang="ko-KR" altLang="ko-KR" dirty="0"/>
              <a:t>  # </a:t>
            </a:r>
            <a:r>
              <a:rPr lang="ko-KR" altLang="ko-KR" dirty="0" err="1"/>
              <a:t>없을경우</a:t>
            </a: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conn.close</a:t>
            </a:r>
            <a:r>
              <a:rPr lang="ko-KR" altLang="ko-KR" dirty="0"/>
              <a:t>()</a:t>
            </a:r>
          </a:p>
          <a:p>
            <a:br>
              <a:rPr lang="ko-KR" altLang="ko-KR" dirty="0"/>
            </a:br>
            <a:endParaRPr lang="ko-KR" altLang="ko-KR" dirty="0"/>
          </a:p>
          <a:p>
            <a:r>
              <a:rPr lang="ko-KR" altLang="ko-KR" dirty="0"/>
              <a:t>   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updated_count</a:t>
            </a:r>
            <a:r>
              <a:rPr lang="ko-KR" altLang="ko-KR" dirty="0"/>
              <a:t> == 0:</a:t>
            </a:r>
          </a:p>
          <a:p>
            <a:r>
              <a:rPr lang="ko-KR" altLang="ko-KR" dirty="0"/>
              <a:t>        </a:t>
            </a:r>
            <a:r>
              <a:rPr lang="ko-KR" altLang="ko-KR" dirty="0" err="1"/>
              <a:t>return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endParaRPr lang="ko-KR" altLang="ko-KR" dirty="0"/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 "</a:t>
            </a:r>
            <a:r>
              <a:rPr lang="ko-KR" altLang="ko-KR" dirty="0" err="1"/>
              <a:t>id</a:t>
            </a:r>
            <a:r>
              <a:rPr lang="ko-KR" altLang="ko-KR" dirty="0"/>
              <a:t>": </a:t>
            </a:r>
            <a:r>
              <a:rPr lang="ko-KR" altLang="ko-KR" dirty="0" err="1"/>
              <a:t>user_id</a:t>
            </a:r>
            <a:r>
              <a:rPr lang="ko-KR" altLang="ko-KR" dirty="0"/>
              <a:t> 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444CC1-529C-7CEF-53D9-BC5378E8A16C}"/>
              </a:ext>
            </a:extLst>
          </p:cNvPr>
          <p:cNvSpPr/>
          <p:nvPr/>
        </p:nvSpPr>
        <p:spPr>
          <a:xfrm>
            <a:off x="6879567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user_sql.py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23B99-03E8-D3E5-4CE6-2FA8C2B8576F}"/>
              </a:ext>
            </a:extLst>
          </p:cNvPr>
          <p:cNvSpPr/>
          <p:nvPr/>
        </p:nvSpPr>
        <p:spPr>
          <a:xfrm>
            <a:off x="422200" y="4077478"/>
            <a:ext cx="2032460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0927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9196-7268-74A7-1719-9424F259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943A1AF6-D04D-0E34-5D32-A15FCC9073A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949FD04-5A08-3953-D200-9939098CEA54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EF6FF7-033D-2ACC-D644-AB4308CC6571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usersController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–  delete 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삭제</a:t>
            </a:r>
            <a:endParaRPr lang="en-US" altLang="ko-KR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57A972-86A4-4C88-6B71-CFA6A6027EA6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4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AA4E703-BE89-3ADB-25C1-80761ACCBE57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C796F0-65F8-BF83-CB43-19F81ECBFD6B}"/>
              </a:ext>
            </a:extLst>
          </p:cNvPr>
          <p:cNvSpPr txBox="1"/>
          <p:nvPr/>
        </p:nvSpPr>
        <p:spPr>
          <a:xfrm>
            <a:off x="2603240" y="937614"/>
            <a:ext cx="7231225" cy="45243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ko-KR" dirty="0"/>
              <a:t># DELETE /</a:t>
            </a:r>
            <a:r>
              <a:rPr lang="ko-KR" altLang="ko-KR" dirty="0" err="1"/>
              <a:t>users</a:t>
            </a:r>
            <a:r>
              <a:rPr lang="ko-KR" altLang="ko-KR" dirty="0"/>
              <a:t>/1</a:t>
            </a:r>
          </a:p>
          <a:p>
            <a:r>
              <a:rPr lang="ko-KR" altLang="ko-KR" dirty="0"/>
              <a:t>@router.delete("/{user_id}")</a:t>
            </a:r>
          </a:p>
          <a:p>
            <a:r>
              <a:rPr lang="ko-KR" altLang="ko-KR" dirty="0" err="1"/>
              <a:t>def</a:t>
            </a:r>
            <a:r>
              <a:rPr lang="ko-KR" altLang="ko-KR" dirty="0"/>
              <a:t> </a:t>
            </a:r>
            <a:r>
              <a:rPr lang="ko-KR" altLang="ko-KR" dirty="0" err="1"/>
              <a:t>delete_user</a:t>
            </a:r>
            <a:r>
              <a:rPr lang="ko-KR" altLang="ko-KR" dirty="0"/>
              <a:t>(</a:t>
            </a:r>
            <a:r>
              <a:rPr lang="ko-KR" altLang="ko-KR" dirty="0" err="1"/>
              <a:t>user_id</a:t>
            </a:r>
            <a:r>
              <a:rPr lang="ko-KR" altLang="ko-KR" dirty="0"/>
              <a:t>: </a:t>
            </a:r>
            <a:r>
              <a:rPr lang="ko-KR" altLang="ko-KR" dirty="0" err="1"/>
              <a:t>int</a:t>
            </a:r>
            <a:r>
              <a:rPr lang="ko-KR" altLang="ko-KR" dirty="0"/>
              <a:t>):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user</a:t>
            </a:r>
            <a:r>
              <a:rPr lang="ko-KR" altLang="ko-KR" dirty="0"/>
              <a:t> = </a:t>
            </a:r>
            <a:r>
              <a:rPr lang="ko-KR" altLang="ko-KR" dirty="0" err="1"/>
              <a:t>user_sql.delete_user</a:t>
            </a:r>
            <a:r>
              <a:rPr lang="ko-KR" altLang="ko-KR" dirty="0"/>
              <a:t>(</a:t>
            </a:r>
            <a:r>
              <a:rPr lang="ko-KR" altLang="ko-KR" dirty="0" err="1"/>
              <a:t>user_id</a:t>
            </a:r>
            <a:r>
              <a:rPr lang="ko-KR" altLang="ko-KR" dirty="0"/>
              <a:t>)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if</a:t>
            </a:r>
            <a:r>
              <a:rPr lang="ko-KR" altLang="ko-KR" dirty="0"/>
              <a:t> </a:t>
            </a:r>
            <a:r>
              <a:rPr lang="ko-KR" altLang="ko-KR" dirty="0" err="1"/>
              <a:t>user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None</a:t>
            </a:r>
            <a:r>
              <a:rPr lang="ko-KR" altLang="ko-KR" dirty="0"/>
              <a:t>:</a:t>
            </a:r>
          </a:p>
          <a:p>
            <a:r>
              <a:rPr lang="ko-KR" altLang="ko-KR" dirty="0"/>
              <a:t>    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    "</a:t>
            </a:r>
            <a:r>
              <a:rPr lang="ko-KR" altLang="ko-KR" dirty="0" err="1"/>
              <a:t>message</a:t>
            </a:r>
            <a:r>
              <a:rPr lang="ko-KR" altLang="ko-KR" dirty="0"/>
              <a:t>": "해당 사용자를 찾을 수 없습니다."</a:t>
            </a:r>
          </a:p>
          <a:p>
            <a:r>
              <a:rPr lang="ko-KR" altLang="ko-KR" dirty="0"/>
              <a:t>        }</a:t>
            </a:r>
          </a:p>
          <a:p>
            <a:r>
              <a:rPr lang="ko-KR" altLang="ko-KR" dirty="0"/>
              <a:t>    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return</a:t>
            </a:r>
            <a:r>
              <a:rPr lang="ko-KR" altLang="ko-KR" dirty="0"/>
              <a:t> {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message</a:t>
            </a:r>
            <a:r>
              <a:rPr lang="ko-KR" altLang="ko-KR" dirty="0"/>
              <a:t>": "사용자 정보가 삭제되었습니다.",</a:t>
            </a:r>
          </a:p>
          <a:p>
            <a:r>
              <a:rPr lang="ko-KR" altLang="ko-KR" dirty="0"/>
              <a:t>        "</a:t>
            </a:r>
            <a:r>
              <a:rPr lang="ko-KR" altLang="ko-KR" dirty="0" err="1"/>
              <a:t>user</a:t>
            </a:r>
            <a:r>
              <a:rPr lang="ko-KR" altLang="ko-KR" dirty="0"/>
              <a:t>": </a:t>
            </a:r>
            <a:r>
              <a:rPr lang="ko-KR" altLang="ko-KR" dirty="0" err="1"/>
              <a:t>user</a:t>
            </a:r>
            <a:endParaRPr lang="ko-KR" altLang="ko-KR" dirty="0"/>
          </a:p>
          <a:p>
            <a:r>
              <a:rPr lang="ko-KR" altLang="ko-KR" dirty="0"/>
              <a:t>    }</a:t>
            </a:r>
          </a:p>
          <a:p>
            <a:br>
              <a:rPr lang="ko-KR" altLang="ko-KR" dirty="0"/>
            </a:br>
            <a:endParaRPr lang="ko-KR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4EBA72-A0A0-347B-769F-DB1044FA40AA}"/>
              </a:ext>
            </a:extLst>
          </p:cNvPr>
          <p:cNvSpPr/>
          <p:nvPr/>
        </p:nvSpPr>
        <p:spPr>
          <a:xfrm>
            <a:off x="7262123" y="946003"/>
            <a:ext cx="2572342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dirty="0" err="1"/>
              <a:t>usersController</a:t>
            </a:r>
            <a:r>
              <a:rPr lang="en-US" altLang="ko-KR" dirty="0"/>
              <a:t>.py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AABBA5-45AA-6366-5C74-DF8A08C1C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69" y="1046800"/>
            <a:ext cx="2277600" cy="496930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78FC600-D0B1-7FD8-1E84-57C45BC887DC}"/>
              </a:ext>
            </a:extLst>
          </p:cNvPr>
          <p:cNvSpPr/>
          <p:nvPr/>
        </p:nvSpPr>
        <p:spPr>
          <a:xfrm>
            <a:off x="422200" y="3778898"/>
            <a:ext cx="2032460" cy="326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3172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AF36-C41E-880B-B897-1FAD241D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19283E41-AE07-0CE8-5B42-C55E4C018292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FEC81D2-ED48-77CD-853C-E56429565EBC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1F77F6-C94E-B9FC-18EC-03B3E341BD80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0D1556-FC01-C3C4-4A69-0AA96DB2E79E}"/>
              </a:ext>
            </a:extLst>
          </p:cNvPr>
          <p:cNvSpPr txBox="1"/>
          <p:nvPr/>
        </p:nvSpPr>
        <p:spPr>
          <a:xfrm>
            <a:off x="3406804" y="3465259"/>
            <a:ext cx="5378395" cy="153888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/>
              <a:t>SQLite Browser</a:t>
            </a:r>
            <a:br>
              <a:rPr lang="en-US" altLang="ko-KR" sz="5400" b="1" dirty="0"/>
            </a:br>
            <a:r>
              <a:rPr lang="en-US" altLang="ko-KR" sz="4000" b="1" dirty="0"/>
              <a:t> (</a:t>
            </a:r>
            <a:r>
              <a:rPr lang="ko-KR" altLang="en-US" sz="4000" b="1" dirty="0"/>
              <a:t>프로그램</a:t>
            </a:r>
            <a:r>
              <a:rPr lang="en-US" altLang="ko-KR" sz="4000" b="1" dirty="0"/>
              <a:t>)</a:t>
            </a:r>
            <a:endParaRPr lang="ko-KR" altLang="en-US" sz="5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153CC2C-F3C5-83C3-20DC-DE6F8C7F1144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BF6BA29-C342-71DC-E89E-6F88E00DA451}"/>
              </a:ext>
            </a:extLst>
          </p:cNvPr>
          <p:cNvSpPr txBox="1"/>
          <p:nvPr/>
        </p:nvSpPr>
        <p:spPr>
          <a:xfrm>
            <a:off x="3406803" y="2354916"/>
            <a:ext cx="5378395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/>
              <a:t>Database </a:t>
            </a:r>
            <a:r>
              <a:rPr lang="ko-KR" altLang="en-US" sz="5400" b="1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344228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6377-3F28-8457-076E-56332439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C90F1A74-12A2-D4BA-DCCB-5F319F77CF2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D85A886-02CC-4F3E-FC4D-0BF03BE97C2D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B26B102-5AF4-A6B4-9091-A530B83E626A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B6582CB-9151-DDED-9CA3-186411F4FA7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9EA9A8-0905-AA23-DDF4-BA83443AE86F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ORM(Object Relational Mapping)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이란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67F605-8E12-3E31-F7B0-DD9945DD25A9}"/>
              </a:ext>
            </a:extLst>
          </p:cNvPr>
          <p:cNvSpPr/>
          <p:nvPr/>
        </p:nvSpPr>
        <p:spPr>
          <a:xfrm>
            <a:off x="416358" y="3079899"/>
            <a:ext cx="10937442" cy="10605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객체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(Object)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DB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의 테이블을 자동으로 연결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(Mapping)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시켜 </a:t>
            </a:r>
            <a:b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RDB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테이블을 객체 지향적으로 사용하게 해주는 기술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31623C-D8B9-933E-00AF-029CE6417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698" y="1457450"/>
            <a:ext cx="4164761" cy="141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55A468-3E32-C65B-3CFD-B7281733CD81}"/>
              </a:ext>
            </a:extLst>
          </p:cNvPr>
          <p:cNvSpPr txBox="1"/>
          <p:nvPr/>
        </p:nvSpPr>
        <p:spPr>
          <a:xfrm>
            <a:off x="2928668" y="4381376"/>
            <a:ext cx="61851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다만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, ORM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만으로는 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SQL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의 모든 부분을 다루기가 어려움</a:t>
            </a:r>
            <a:endParaRPr lang="en-US" altLang="ko-KR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endParaRPr lang="en-US" altLang="ko-KR" dirty="0">
              <a:solidFill>
                <a:srgbClr val="242424"/>
              </a:solidFill>
              <a:latin typeface="source-serif-pro"/>
            </a:endParaRPr>
          </a:p>
          <a:p>
            <a:r>
              <a:rPr lang="ko-KR" altLang="en-US" b="0" i="0" dirty="0" err="1">
                <a:solidFill>
                  <a:srgbClr val="242424"/>
                </a:solidFill>
                <a:effectLst/>
                <a:latin typeface="source-serif-pro"/>
              </a:rPr>
              <a:t>백엔드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 개발 시 </a:t>
            </a:r>
            <a: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  <a:t>SQL 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쿼리에 대한 지식과 경험이 바탕이 되어야 </a:t>
            </a:r>
            <a:br>
              <a:rPr lang="en-US" altLang="ko-KR" b="0" i="0" dirty="0">
                <a:solidFill>
                  <a:srgbClr val="242424"/>
                </a:solidFill>
                <a:effectLst/>
                <a:latin typeface="source-serif-pro"/>
              </a:rPr>
            </a:b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더 효과적인 </a:t>
            </a:r>
            <a:r>
              <a:rPr lang="ko-KR" altLang="en-US" b="0" i="0" dirty="0" err="1">
                <a:solidFill>
                  <a:srgbClr val="242424"/>
                </a:solidFill>
                <a:effectLst/>
                <a:latin typeface="source-serif-pro"/>
              </a:rPr>
              <a:t>백엔드</a:t>
            </a:r>
            <a:r>
              <a:rPr lang="ko-KR" altLang="en-US" b="0" i="0" dirty="0">
                <a:solidFill>
                  <a:srgbClr val="242424"/>
                </a:solidFill>
                <a:effectLst/>
                <a:latin typeface="source-serif-pro"/>
              </a:rPr>
              <a:t> 개발이 가능하다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57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4040-BCCB-E0A7-5DA4-D94C4BB70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810FB010-1C3F-E01D-5C7B-26910E35F699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3BF363B-F546-B1EA-C168-71402E8577F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A5C4173-1812-0A2B-7535-2D39706DEB46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A4A920-4C81-7F12-5E61-6DB53ED9AFBD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DB Browser for SQLite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다운로드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32C490-7241-51A7-8E8A-AC66697657CD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28FED7-91A3-39F4-155A-DB0F685F56D5}"/>
              </a:ext>
            </a:extLst>
          </p:cNvPr>
          <p:cNvSpPr/>
          <p:nvPr/>
        </p:nvSpPr>
        <p:spPr>
          <a:xfrm>
            <a:off x="416357" y="1195146"/>
            <a:ext cx="11126061" cy="683985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https://sqlitebrowser.org/dl/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AB9FC6-E8A7-CBA1-187D-A4DB86129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56" y="1979803"/>
            <a:ext cx="5545137" cy="46746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FF0088F-BF41-6644-45A9-A1DB65063BFF}"/>
              </a:ext>
            </a:extLst>
          </p:cNvPr>
          <p:cNvSpPr/>
          <p:nvPr/>
        </p:nvSpPr>
        <p:spPr>
          <a:xfrm>
            <a:off x="1782940" y="1979803"/>
            <a:ext cx="641478" cy="3942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51F6D8-D789-BC6C-821C-8E90693BC7AD}"/>
              </a:ext>
            </a:extLst>
          </p:cNvPr>
          <p:cNvSpPr/>
          <p:nvPr/>
        </p:nvSpPr>
        <p:spPr>
          <a:xfrm>
            <a:off x="793038" y="6260132"/>
            <a:ext cx="2579335" cy="3942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5353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59C0B-6120-124F-53E7-3F714420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E259879A-159F-28E3-2713-E49E53CDFB65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B800568-B440-ADD5-477B-35ECF7F9E2A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17BCD5E-252C-B94D-6781-F68B0495B36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225452-2F9A-4870-7BE5-96732152AC51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csv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파일 불러오기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5985C0-8EFD-51BB-F6D5-5C4F2FF1F147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34188B-E554-D1AE-BC96-3BD36286A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79" y="1528026"/>
            <a:ext cx="5505617" cy="375350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5D2D409-4933-72AE-47A4-2AC1DAF3B7ED}"/>
              </a:ext>
            </a:extLst>
          </p:cNvPr>
          <p:cNvSpPr/>
          <p:nvPr/>
        </p:nvSpPr>
        <p:spPr>
          <a:xfrm>
            <a:off x="538480" y="1035654"/>
            <a:ext cx="1765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프로그램 클릭</a:t>
            </a:r>
            <a:endParaRPr lang="ko-KR" altLang="en-US" b="0" i="0" dirty="0">
              <a:effectLst/>
              <a:latin typeface="Noto Sans KR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A723786-F184-C951-9529-E52826008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8026"/>
            <a:ext cx="5505617" cy="381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08FA38-A1E9-4AF3-41DE-B70FA06890ED}"/>
              </a:ext>
            </a:extLst>
          </p:cNvPr>
          <p:cNvSpPr/>
          <p:nvPr/>
        </p:nvSpPr>
        <p:spPr>
          <a:xfrm>
            <a:off x="6096000" y="1035654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2. csv</a:t>
            </a:r>
            <a:r>
              <a:rPr lang="ko-KR" altLang="en-US" b="1" dirty="0"/>
              <a:t> 파일 불러오기</a:t>
            </a:r>
            <a:endParaRPr lang="ko-KR" altLang="en-US" b="0" i="0" dirty="0"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3815412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A98E2-901D-6B3F-35E0-62B9634E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715C2C5C-A41E-4698-6533-7FFB2FE7961A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AEB6057-B362-4B43-C523-40114DDC530B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B169AC2-1F98-644C-29C3-EB0A76F64C39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59B42B6-009D-DA18-F05F-5A5D1DCEF9B8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csv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파일 불러오기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3DDC54-60EF-0B57-FFB7-65D0CE62F782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F1AD63-BA1F-E6A2-45A0-A0FABA0AF43F}"/>
              </a:ext>
            </a:extLst>
          </p:cNvPr>
          <p:cNvSpPr/>
          <p:nvPr/>
        </p:nvSpPr>
        <p:spPr>
          <a:xfrm>
            <a:off x="538480" y="1035654"/>
            <a:ext cx="4030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테이블 이름은 </a:t>
            </a:r>
            <a:r>
              <a:rPr lang="en-US" altLang="ko-KR" b="1" dirty="0"/>
              <a:t>table</a:t>
            </a:r>
            <a:r>
              <a:rPr lang="ko-KR" altLang="en-US" b="1" dirty="0"/>
              <a:t>명과 동일해야 함</a:t>
            </a:r>
            <a:r>
              <a:rPr lang="en-US" altLang="ko-KR" b="1" dirty="0"/>
              <a:t>.</a:t>
            </a:r>
            <a:endParaRPr lang="ko-KR" altLang="en-US" b="0" i="0" dirty="0">
              <a:effectLst/>
              <a:latin typeface="Noto Sans KR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CDC9404-5BF4-311B-C26A-EF08E410BECC}"/>
              </a:ext>
            </a:extLst>
          </p:cNvPr>
          <p:cNvSpPr/>
          <p:nvPr/>
        </p:nvSpPr>
        <p:spPr>
          <a:xfrm>
            <a:off x="6096000" y="1035654"/>
            <a:ext cx="2669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변경사항 저장하기 클릭</a:t>
            </a:r>
            <a:endParaRPr lang="ko-KR" altLang="en-US" b="0" i="0" dirty="0">
              <a:effectLst/>
              <a:latin typeface="Noto Sans KR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4EA8F6-F19F-EEA9-16B8-225B3057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569957"/>
            <a:ext cx="4951811" cy="47004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F2E3E1D-5F57-9FA4-A47B-B29FD6967B7F}"/>
              </a:ext>
            </a:extLst>
          </p:cNvPr>
          <p:cNvSpPr/>
          <p:nvPr/>
        </p:nvSpPr>
        <p:spPr>
          <a:xfrm>
            <a:off x="1472548" y="1788800"/>
            <a:ext cx="1614602" cy="1826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D2D2116-970B-DA8F-E0F5-FF35605B8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158" y="1569957"/>
            <a:ext cx="5882295" cy="386308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3F71AE5-CB5B-D9FA-93A3-546DC48665D2}"/>
              </a:ext>
            </a:extLst>
          </p:cNvPr>
          <p:cNvSpPr/>
          <p:nvPr/>
        </p:nvSpPr>
        <p:spPr>
          <a:xfrm>
            <a:off x="7697179" y="1854939"/>
            <a:ext cx="935093" cy="224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54600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6770-A384-771B-F09E-0E1EA17A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91B967A-DD4E-182F-01D5-C29C65254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499" y="1979803"/>
            <a:ext cx="7585775" cy="4760009"/>
          </a:xfrm>
          <a:prstGeom prst="rect">
            <a:avLst/>
          </a:prstGeom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EA651772-20FE-FE15-977F-00208612932C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A620AC2-3E55-AD22-6832-D53B23F6980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92A3728-2029-989F-24BE-A6D366199301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6B31F8-2C6B-90D2-41A4-71C14167B2DD}"/>
              </a:ext>
            </a:extLst>
          </p:cNvPr>
          <p:cNvSpPr txBox="1"/>
          <p:nvPr/>
        </p:nvSpPr>
        <p:spPr>
          <a:xfrm>
            <a:off x="982511" y="203587"/>
            <a:ext cx="81302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모카루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파일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970132-10CF-EEBE-1115-A4A20D7B450A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4EA888E-BFCC-C948-F186-1ABC18B9E781}"/>
              </a:ext>
            </a:extLst>
          </p:cNvPr>
          <p:cNvSpPr/>
          <p:nvPr/>
        </p:nvSpPr>
        <p:spPr>
          <a:xfrm>
            <a:off x="416357" y="1195146"/>
            <a:ext cx="11126061" cy="683985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https://www.mockaroo.com/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2D18A5-1506-99AE-378F-9ED59D8BA0C9}"/>
              </a:ext>
            </a:extLst>
          </p:cNvPr>
          <p:cNvSpPr/>
          <p:nvPr/>
        </p:nvSpPr>
        <p:spPr>
          <a:xfrm>
            <a:off x="2186499" y="3332742"/>
            <a:ext cx="4652840" cy="17431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52A6E1-DEF7-31F2-4BA1-96B56567599F}"/>
              </a:ext>
            </a:extLst>
          </p:cNvPr>
          <p:cNvSpPr/>
          <p:nvPr/>
        </p:nvSpPr>
        <p:spPr>
          <a:xfrm>
            <a:off x="4072302" y="6428083"/>
            <a:ext cx="854261" cy="3942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86677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5319-6A4B-5BD6-22BD-2ED3D146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A18729F1-618E-3858-7EA0-2A670895FAD8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F658FAF-97D3-04F4-089C-738620D7DF6D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827A7C4-EC95-354F-A51E-92FDBF422E19}"/>
              </a:ext>
            </a:extLst>
          </p:cNvPr>
          <p:cNvSpPr txBox="1"/>
          <p:nvPr/>
        </p:nvSpPr>
        <p:spPr>
          <a:xfrm>
            <a:off x="743519" y="203587"/>
            <a:ext cx="825119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Json Placeholder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DB5F2D-8BEC-36C0-67EC-5C3FED98DC2B}"/>
              </a:ext>
            </a:extLst>
          </p:cNvPr>
          <p:cNvSpPr txBox="1"/>
          <p:nvPr/>
        </p:nvSpPr>
        <p:spPr>
          <a:xfrm>
            <a:off x="111760" y="81617"/>
            <a:ext cx="4235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*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F766112-6610-A99E-BA04-88E21A229A68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075485-73AA-2DB4-9EC2-731D4CB1C61B}"/>
              </a:ext>
            </a:extLst>
          </p:cNvPr>
          <p:cNvSpPr/>
          <p:nvPr/>
        </p:nvSpPr>
        <p:spPr>
          <a:xfrm>
            <a:off x="416358" y="1038041"/>
            <a:ext cx="10937442" cy="615552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https://jsonplaceholder.typicode.com/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E77B8-00B5-E17E-5D33-42243FF158A5}"/>
              </a:ext>
            </a:extLst>
          </p:cNvPr>
          <p:cNvSpPr txBox="1"/>
          <p:nvPr/>
        </p:nvSpPr>
        <p:spPr>
          <a:xfrm>
            <a:off x="416359" y="1921549"/>
            <a:ext cx="39430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en-US" altLang="ko-KR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1.Json Placeholder </a:t>
            </a:r>
            <a:r>
              <a:rPr lang="ko-KR" altLang="en-US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연결</a:t>
            </a:r>
            <a:br>
              <a:rPr lang="en-US" altLang="ko-KR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</a:br>
            <a:endParaRPr lang="en-US" altLang="ko-KR" dirty="0">
              <a:solidFill>
                <a:srgbClr val="000000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C74292-3A27-4E1B-1CFB-2D64310BAE39}"/>
              </a:ext>
            </a:extLst>
          </p:cNvPr>
          <p:cNvSpPr txBox="1"/>
          <p:nvPr/>
        </p:nvSpPr>
        <p:spPr>
          <a:xfrm>
            <a:off x="4531158" y="1921549"/>
            <a:ext cx="682264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</a:pPr>
            <a:r>
              <a:rPr lang="ko-KR" altLang="en-US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링크 주소 </a:t>
            </a:r>
            <a:r>
              <a:rPr lang="en-US" altLang="ko-KR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: </a:t>
            </a:r>
            <a:r>
              <a:rPr lang="en-US" altLang="ko-KR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hlinkClick r:id="rId3"/>
              </a:rPr>
              <a:t>https://jsonplaceholder.typicode.com/users</a:t>
            </a:r>
            <a:br>
              <a:rPr lang="en-US" altLang="ko-KR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</a:br>
            <a:r>
              <a:rPr lang="ko-KR" altLang="en-US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보내면 더미 회원정보를 가져옴</a:t>
            </a:r>
            <a:r>
              <a:rPr lang="en-US" altLang="ko-KR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703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93F7-14BA-FA83-5B72-C9F6BD73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CFD25691-E4C4-AE8A-97AE-7AC8BEEA1C85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A2DEACE6-82D4-5A29-48C6-C879A8871D9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9AF596-4C75-FA00-3A3E-6F29694A2C97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7E17C-B7A6-ACF6-4A89-5F9456188B1A}"/>
              </a:ext>
            </a:extLst>
          </p:cNvPr>
          <p:cNvSpPr txBox="1"/>
          <p:nvPr/>
        </p:nvSpPr>
        <p:spPr>
          <a:xfrm>
            <a:off x="3600765" y="2980067"/>
            <a:ext cx="49904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공공데이터 출력 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85523DE-E67F-72E4-528C-8DE8662B76C0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54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공공데이터 출력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1 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100" dirty="0"/>
              <a:t># </a:t>
            </a:r>
            <a:r>
              <a:rPr lang="ko-KR" altLang="en-US" sz="1100" dirty="0"/>
              <a:t>공공데이터 라이브러리 </a:t>
            </a:r>
            <a:r>
              <a:rPr lang="en-US" altLang="ko-KR" sz="1100" dirty="0"/>
              <a:t>import</a:t>
            </a:r>
          </a:p>
          <a:p>
            <a:r>
              <a:rPr lang="en-US" altLang="ko-KR" sz="1100" dirty="0"/>
              <a:t>import requests</a:t>
            </a:r>
          </a:p>
          <a:p>
            <a:r>
              <a:rPr lang="en-US" altLang="ko-KR" sz="1100" dirty="0"/>
              <a:t>import </a:t>
            </a:r>
            <a:r>
              <a:rPr lang="en-US" altLang="ko-KR" sz="1100" dirty="0" err="1"/>
              <a:t>pprint</a:t>
            </a:r>
            <a:endParaRPr lang="en-US" altLang="ko-KR" sz="1100" dirty="0"/>
          </a:p>
          <a:p>
            <a:r>
              <a:rPr lang="en-US" altLang="ko-KR" sz="1100" dirty="0"/>
              <a:t>import json</a:t>
            </a:r>
          </a:p>
          <a:p>
            <a:endParaRPr lang="en-US" altLang="ko-KR" sz="1200" dirty="0"/>
          </a:p>
          <a:p>
            <a:r>
              <a:rPr lang="en-US" altLang="ko-KR" sz="1200" dirty="0"/>
              <a:t>### </a:t>
            </a:r>
            <a:r>
              <a:rPr lang="ko-KR" altLang="en-US" sz="1200" dirty="0"/>
              <a:t>전역변수</a:t>
            </a:r>
          </a:p>
          <a:p>
            <a:r>
              <a:rPr lang="en-US" altLang="ko-KR" sz="1200" dirty="0" err="1"/>
              <a:t>dlist</a:t>
            </a:r>
            <a:r>
              <a:rPr lang="en-US" altLang="ko-KR" sz="1200" dirty="0"/>
              <a:t> = []</a:t>
            </a:r>
          </a:p>
          <a:p>
            <a:endParaRPr lang="en-US" altLang="ko-KR" sz="11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공공데이터 리스트</a:t>
            </a:r>
          </a:p>
          <a:p>
            <a:r>
              <a:rPr lang="en-US" altLang="ko-KR" sz="1400" dirty="0"/>
              <a:t>def list(request):</a:t>
            </a:r>
          </a:p>
          <a:p>
            <a:r>
              <a:rPr lang="en-US" altLang="ko-KR" sz="1400" dirty="0"/>
              <a:t>    global </a:t>
            </a:r>
            <a:r>
              <a:rPr lang="en-US" altLang="ko-KR" sz="1400" dirty="0" err="1"/>
              <a:t>dlist</a:t>
            </a:r>
            <a:endParaRPr lang="en-US" altLang="ko-KR" sz="1400" dirty="0"/>
          </a:p>
          <a:p>
            <a:r>
              <a:rPr lang="en-US" altLang="ko-KR" sz="1400" dirty="0"/>
              <a:t>    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publicData</a:t>
            </a:r>
            <a:r>
              <a:rPr lang="en-US" altLang="ko-KR" sz="1400" dirty="0"/>
              <a:t>()</a:t>
            </a:r>
          </a:p>
          <a:p>
            <a:r>
              <a:rPr lang="en-US" altLang="ko-KR" sz="1400" dirty="0"/>
              <a:t>    context = {'list':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    return render(request,'</a:t>
            </a:r>
            <a:r>
              <a:rPr lang="en-US" altLang="ko-KR" sz="1400" dirty="0" err="1"/>
              <a:t>pboard</a:t>
            </a:r>
            <a:r>
              <a:rPr lang="en-US" altLang="ko-KR" sz="1400" dirty="0"/>
              <a:t>/</a:t>
            </a:r>
            <a:r>
              <a:rPr lang="en-US" altLang="ko-KR" sz="1400" dirty="0" err="1"/>
              <a:t>list.html',context</a:t>
            </a:r>
            <a:r>
              <a:rPr lang="en-US" altLang="ko-KR" sz="1400" dirty="0"/>
              <a:t>)</a:t>
            </a:r>
          </a:p>
          <a:p>
            <a:endParaRPr lang="en-US" altLang="ko-KR" sz="12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공공데이터 상세보기 </a:t>
            </a:r>
            <a:r>
              <a:rPr lang="en-US" altLang="ko-KR" sz="1400" dirty="0"/>
              <a:t>- </a:t>
            </a:r>
            <a:r>
              <a:rPr lang="ko-KR" altLang="en-US" sz="1400" dirty="0"/>
              <a:t>공공데이터 다시 호출</a:t>
            </a:r>
          </a:p>
          <a:p>
            <a:r>
              <a:rPr lang="en-US" altLang="ko-KR" sz="1400" dirty="0"/>
              <a:t>def view(</a:t>
            </a:r>
            <a:r>
              <a:rPr lang="en-US" altLang="ko-KR" sz="1400" dirty="0" err="1"/>
              <a:t>request,galContentId</a:t>
            </a:r>
            <a:r>
              <a:rPr lang="en-US" altLang="ko-KR" sz="1400" dirty="0"/>
              <a:t>):</a:t>
            </a:r>
          </a:p>
          <a:p>
            <a:r>
              <a:rPr lang="en-US" altLang="ko-KR" sz="1400" dirty="0"/>
              <a:t>    global </a:t>
            </a:r>
            <a:r>
              <a:rPr lang="en-US" altLang="ko-KR" sz="1400" dirty="0" err="1"/>
              <a:t>dlist</a:t>
            </a:r>
            <a:endParaRPr lang="en-US" altLang="ko-KR" sz="1400" dirty="0"/>
          </a:p>
          <a:p>
            <a:r>
              <a:rPr lang="en-US" altLang="ko-KR" sz="1400" dirty="0"/>
              <a:t>    print('</a:t>
            </a:r>
            <a:r>
              <a:rPr lang="ko-KR" altLang="en-US" sz="1400" dirty="0"/>
              <a:t>넘어온 </a:t>
            </a:r>
            <a:r>
              <a:rPr lang="en-US" altLang="ko-KR" sz="1400" dirty="0" err="1"/>
              <a:t>galContentId</a:t>
            </a:r>
            <a:r>
              <a:rPr lang="en-US" altLang="ko-KR" sz="1400" dirty="0"/>
              <a:t> : ',</a:t>
            </a:r>
            <a:r>
              <a:rPr lang="en-US" altLang="ko-KR" sz="1400" dirty="0" err="1"/>
              <a:t>galContentId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    print('</a:t>
            </a:r>
            <a:r>
              <a:rPr lang="ko-KR" altLang="en-US" sz="1400" dirty="0"/>
              <a:t>넘어온 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 : ',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    # </a:t>
            </a:r>
            <a:r>
              <a:rPr lang="ko-KR" altLang="en-US" sz="1400" dirty="0"/>
              <a:t>공공데이터 호출</a:t>
            </a:r>
          </a:p>
          <a:p>
            <a:r>
              <a:rPr lang="ko-KR" altLang="en-US" sz="1400" dirty="0"/>
              <a:t>    </a:t>
            </a:r>
            <a:r>
              <a:rPr lang="en-US" altLang="ko-KR" sz="1400" dirty="0"/>
              <a:t># 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publicData</a:t>
            </a:r>
            <a:r>
              <a:rPr lang="en-US" altLang="ko-KR" sz="1400" dirty="0"/>
              <a:t>()</a:t>
            </a:r>
          </a:p>
          <a:p>
            <a:r>
              <a:rPr lang="en-US" altLang="ko-KR" sz="1400" dirty="0"/>
              <a:t>    for d in 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        </a:t>
            </a:r>
            <a:r>
              <a:rPr lang="en-US" altLang="ko-KR" sz="1400" b="1" dirty="0">
                <a:solidFill>
                  <a:srgbClr val="FF0000"/>
                </a:solidFill>
              </a:rPr>
              <a:t>if d['</a:t>
            </a:r>
            <a:r>
              <a:rPr lang="en-US" altLang="ko-KR" sz="1400" b="1" dirty="0" err="1">
                <a:solidFill>
                  <a:srgbClr val="FF0000"/>
                </a:solidFill>
              </a:rPr>
              <a:t>galContentId</a:t>
            </a:r>
            <a:r>
              <a:rPr lang="en-US" altLang="ko-KR" sz="1400" b="1" dirty="0">
                <a:solidFill>
                  <a:srgbClr val="FF0000"/>
                </a:solidFill>
              </a:rPr>
              <a:t>'] == str(</a:t>
            </a:r>
            <a:r>
              <a:rPr lang="en-US" altLang="ko-KR" sz="1400" b="1" dirty="0" err="1">
                <a:solidFill>
                  <a:srgbClr val="FF0000"/>
                </a:solidFill>
              </a:rPr>
              <a:t>galContentId</a:t>
            </a:r>
            <a:r>
              <a:rPr lang="en-US" altLang="ko-KR" sz="1400" b="1" dirty="0">
                <a:solidFill>
                  <a:srgbClr val="FF0000"/>
                </a:solidFill>
              </a:rPr>
              <a:t>): # </a:t>
            </a:r>
            <a:r>
              <a:rPr lang="ko-KR" altLang="en-US" sz="1400" b="1">
                <a:solidFill>
                  <a:srgbClr val="FF0000"/>
                </a:solidFill>
              </a:rPr>
              <a:t>타입확인 할것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            </a:t>
            </a:r>
            <a:r>
              <a:rPr lang="en-US" altLang="ko-KR" sz="1400" b="1" dirty="0" err="1">
                <a:solidFill>
                  <a:srgbClr val="FF0000"/>
                </a:solidFill>
              </a:rPr>
              <a:t>dData</a:t>
            </a:r>
            <a:r>
              <a:rPr lang="en-US" altLang="ko-KR" sz="1400" b="1" dirty="0">
                <a:solidFill>
                  <a:srgbClr val="FF0000"/>
                </a:solidFill>
              </a:rPr>
              <a:t> = d</a:t>
            </a:r>
          </a:p>
          <a:p>
            <a:r>
              <a:rPr lang="en-US" altLang="ko-KR" sz="1400" b="1" dirty="0">
                <a:solidFill>
                  <a:srgbClr val="FF0000"/>
                </a:solidFill>
              </a:rPr>
              <a:t>            break</a:t>
            </a:r>
          </a:p>
          <a:p>
            <a:r>
              <a:rPr lang="en-US" altLang="ko-KR" sz="1400" dirty="0"/>
              <a:t>        </a:t>
            </a:r>
          </a:p>
          <a:p>
            <a:r>
              <a:rPr lang="en-US" altLang="ko-KR" sz="1400" dirty="0"/>
              <a:t>    context = {'</a:t>
            </a:r>
            <a:r>
              <a:rPr lang="en-US" altLang="ko-KR" sz="1400" dirty="0" err="1"/>
              <a:t>dData</a:t>
            </a:r>
            <a:r>
              <a:rPr lang="en-US" altLang="ko-KR" sz="1400" dirty="0"/>
              <a:t>':</a:t>
            </a:r>
            <a:r>
              <a:rPr lang="en-US" altLang="ko-KR" sz="1400" dirty="0" err="1"/>
              <a:t>dData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    return render(request,'</a:t>
            </a:r>
            <a:r>
              <a:rPr lang="en-US" altLang="ko-KR" sz="1400" dirty="0" err="1"/>
              <a:t>pboard</a:t>
            </a:r>
            <a:r>
              <a:rPr lang="en-US" altLang="ko-KR" sz="1400" dirty="0"/>
              <a:t>/</a:t>
            </a:r>
            <a:r>
              <a:rPr lang="en-US" altLang="ko-KR" sz="1400" dirty="0" err="1"/>
              <a:t>view.html',context</a:t>
            </a:r>
            <a:r>
              <a:rPr lang="en-US" altLang="ko-KR" sz="1400" dirty="0"/>
              <a:t>)</a:t>
            </a:r>
          </a:p>
          <a:p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endParaRPr lang="en-US" altLang="ko-KR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627927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B61F7F-3778-4E54-AA42-700CBC6F1C65}"/>
              </a:ext>
            </a:extLst>
          </p:cNvPr>
          <p:cNvSpPr/>
          <p:nvPr/>
        </p:nvSpPr>
        <p:spPr>
          <a:xfrm>
            <a:off x="6135218" y="979223"/>
            <a:ext cx="6020429" cy="51279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ko-KR" altLang="en-US" sz="1400" dirty="0"/>
              <a:t>공공데이터 가져오기 함수    </a:t>
            </a:r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publicData</a:t>
            </a:r>
            <a:r>
              <a:rPr lang="en-US" altLang="ko-KR" sz="1400" dirty="0"/>
              <a:t>():</a:t>
            </a:r>
          </a:p>
          <a:p>
            <a:r>
              <a:rPr lang="en-US" altLang="ko-KR" sz="1400" dirty="0"/>
              <a:t>    </a:t>
            </a:r>
            <a:r>
              <a:rPr lang="en-US" altLang="ko-KR" sz="1400" dirty="0" err="1"/>
              <a:t>public_key</a:t>
            </a:r>
            <a:r>
              <a:rPr lang="en-US" altLang="ko-KR" sz="1400" dirty="0"/>
              <a:t> = '918RE13GA7OY7ZEmUzApgbOeAcQoZ%2FaHsXWcqPAKQ9YNNPj83KOstRMRIUrCFIAcm9qj2R6b7NFZjp%2FYsYzJLg%3D%3D'</a:t>
            </a:r>
          </a:p>
          <a:p>
            <a:r>
              <a:rPr lang="en-US" altLang="ko-KR" sz="1400" dirty="0"/>
              <a:t>    </a:t>
            </a:r>
            <a:r>
              <a:rPr lang="en-US" altLang="ko-KR" sz="1400" dirty="0" err="1"/>
              <a:t>pageNo</a:t>
            </a:r>
            <a:r>
              <a:rPr lang="en-US" altLang="ko-KR" sz="1400" dirty="0"/>
              <a:t> = 1</a:t>
            </a:r>
          </a:p>
          <a:p>
            <a:r>
              <a:rPr lang="en-US" altLang="ko-KR" sz="1400" dirty="0"/>
              <a:t>   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f'http</a:t>
            </a:r>
            <a:r>
              <a:rPr lang="en-US" altLang="ko-KR" sz="1400" dirty="0"/>
              <a:t>://apis.data.go.kr/B551011/PhotoGalleryService1/galleryList1?serviceKey={</a:t>
            </a:r>
            <a:r>
              <a:rPr lang="en-US" altLang="ko-KR" sz="1400" dirty="0" err="1"/>
              <a:t>public_key</a:t>
            </a:r>
            <a:r>
              <a:rPr lang="en-US" altLang="ko-KR" sz="1400" dirty="0"/>
              <a:t>}&amp;</a:t>
            </a:r>
            <a:r>
              <a:rPr lang="en-US" altLang="ko-KR" sz="1400" dirty="0" err="1"/>
              <a:t>numOfRows</a:t>
            </a:r>
            <a:r>
              <a:rPr lang="en-US" altLang="ko-KR" sz="1400" dirty="0"/>
              <a:t>=10&amp;pageNo={</a:t>
            </a:r>
            <a:r>
              <a:rPr lang="en-US" altLang="ko-KR" sz="1400" dirty="0" err="1"/>
              <a:t>pageNo</a:t>
            </a:r>
            <a:r>
              <a:rPr lang="en-US" altLang="ko-KR" sz="1400" dirty="0"/>
              <a:t>}&amp;</a:t>
            </a:r>
            <a:r>
              <a:rPr lang="en-US" altLang="ko-KR" sz="1400" dirty="0" err="1"/>
              <a:t>MobileOS</a:t>
            </a:r>
            <a:r>
              <a:rPr lang="en-US" altLang="ko-KR" sz="1400" dirty="0"/>
              <a:t>=</a:t>
            </a:r>
            <a:r>
              <a:rPr lang="en-US" altLang="ko-KR" sz="1400" dirty="0" err="1"/>
              <a:t>ETC&amp;MobileApp</a:t>
            </a:r>
            <a:r>
              <a:rPr lang="en-US" altLang="ko-KR" sz="1400" dirty="0"/>
              <a:t>=</a:t>
            </a:r>
            <a:r>
              <a:rPr lang="en-US" altLang="ko-KR" sz="1400" dirty="0" err="1"/>
              <a:t>AppTest&amp;arrange</a:t>
            </a:r>
            <a:r>
              <a:rPr lang="en-US" altLang="ko-KR" sz="1400" dirty="0"/>
              <a:t>=</a:t>
            </a:r>
            <a:r>
              <a:rPr lang="en-US" altLang="ko-KR" sz="1400" dirty="0" err="1"/>
              <a:t>A&amp;_type</a:t>
            </a:r>
            <a:r>
              <a:rPr lang="en-US" altLang="ko-KR" sz="1400" dirty="0"/>
              <a:t>=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'</a:t>
            </a:r>
          </a:p>
          <a:p>
            <a:r>
              <a:rPr lang="en-US" altLang="ko-KR" sz="1400" dirty="0"/>
              <a:t>    # </a:t>
            </a:r>
            <a:r>
              <a:rPr lang="ko-KR" altLang="en-US" sz="1400" dirty="0" err="1"/>
              <a:t>웹스크래핑</a:t>
            </a:r>
            <a:r>
              <a:rPr lang="ko-KR" altLang="en-US" sz="1400" dirty="0"/>
              <a:t> </a:t>
            </a:r>
            <a:r>
              <a:rPr lang="en-US" altLang="ko-KR" sz="1400" dirty="0"/>
              <a:t>requests</a:t>
            </a:r>
          </a:p>
          <a:p>
            <a:r>
              <a:rPr lang="en-US" altLang="ko-KR" sz="1400" dirty="0"/>
              <a:t>    response = </a:t>
            </a:r>
            <a:r>
              <a:rPr lang="en-US" altLang="ko-KR" sz="1400" dirty="0" err="1"/>
              <a:t>requests.get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    #print("</a:t>
            </a:r>
            <a:r>
              <a:rPr lang="ko-KR" altLang="en-US" sz="1400" dirty="0"/>
              <a:t>공공데이터 </a:t>
            </a:r>
            <a:r>
              <a:rPr lang="en-US" altLang="ko-KR" sz="1400" dirty="0"/>
              <a:t>: ",</a:t>
            </a:r>
            <a:r>
              <a:rPr lang="en-US" altLang="ko-KR" sz="1400" dirty="0" err="1"/>
              <a:t>response.text</a:t>
            </a:r>
            <a:r>
              <a:rPr lang="en-US" altLang="ko-KR" sz="1400" dirty="0"/>
              <a:t>)  # str</a:t>
            </a:r>
            <a:r>
              <a:rPr lang="ko-KR" altLang="en-US" sz="1400" dirty="0"/>
              <a:t>타입</a:t>
            </a:r>
          </a:p>
          <a:p>
            <a:r>
              <a:rPr lang="ko-KR" altLang="en-US" sz="1400" dirty="0"/>
              <a:t>    </a:t>
            </a:r>
          </a:p>
          <a:p>
            <a:r>
              <a:rPr lang="ko-KR" altLang="en-US" sz="1400" dirty="0"/>
              <a:t>    </a:t>
            </a:r>
            <a:r>
              <a:rPr lang="en-US" altLang="ko-KR" sz="1400" dirty="0"/>
              <a:t># </a:t>
            </a:r>
            <a:r>
              <a:rPr lang="ko-KR" altLang="en-US" sz="1400" dirty="0"/>
              <a:t>문자열 </a:t>
            </a:r>
            <a:r>
              <a:rPr lang="en-US" altLang="ko-KR" sz="1400" dirty="0"/>
              <a:t>-&gt; </a:t>
            </a:r>
            <a:r>
              <a:rPr lang="en-US" altLang="ko-KR" sz="1400" dirty="0" err="1"/>
              <a:t>json</a:t>
            </a:r>
            <a:r>
              <a:rPr lang="ko-KR" altLang="en-US" sz="1400" dirty="0"/>
              <a:t>타입으로 변경</a:t>
            </a:r>
          </a:p>
          <a:p>
            <a:r>
              <a:rPr lang="ko-KR" altLang="en-US" sz="1400" dirty="0"/>
              <a:t>    </a:t>
            </a:r>
            <a:r>
              <a:rPr lang="en-US" altLang="ko-KR" sz="1400" dirty="0" err="1"/>
              <a:t>json_data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json.loads</a:t>
            </a:r>
            <a:r>
              <a:rPr lang="en-US" altLang="ko-KR" sz="1400" dirty="0"/>
              <a:t>(</a:t>
            </a:r>
            <a:r>
              <a:rPr lang="en-US" altLang="ko-KR" sz="1400" dirty="0" err="1"/>
              <a:t>response.text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    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json_data</a:t>
            </a:r>
            <a:r>
              <a:rPr lang="en-US" altLang="ko-KR" sz="1400" dirty="0"/>
              <a:t>['response']['body']['items']['item']</a:t>
            </a:r>
          </a:p>
          <a:p>
            <a:r>
              <a:rPr lang="en-US" altLang="ko-KR" sz="1400" dirty="0"/>
              <a:t>    # print('</a:t>
            </a:r>
            <a:r>
              <a:rPr lang="en-US" altLang="ko-KR" sz="1400" dirty="0" err="1"/>
              <a:t>json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',</a:t>
            </a:r>
            <a:r>
              <a:rPr lang="en-US" altLang="ko-KR" sz="1400" dirty="0" err="1"/>
              <a:t>json_data</a:t>
            </a:r>
            <a:r>
              <a:rPr lang="en-US" altLang="ko-KR" sz="1400" dirty="0"/>
              <a:t>['response']['body']['items']['item'])     # </a:t>
            </a:r>
            <a:r>
              <a:rPr lang="en-US" altLang="ko-KR" sz="1400" dirty="0" err="1"/>
              <a:t>json</a:t>
            </a:r>
            <a:r>
              <a:rPr lang="ko-KR" altLang="en-US" sz="1400" dirty="0"/>
              <a:t>타입</a:t>
            </a:r>
          </a:p>
          <a:p>
            <a:r>
              <a:rPr lang="ko-KR" altLang="en-US" sz="1400" dirty="0"/>
              <a:t>    </a:t>
            </a:r>
            <a:r>
              <a:rPr lang="en-US" altLang="ko-KR" sz="1400" dirty="0"/>
              <a:t># print('</a:t>
            </a:r>
            <a:r>
              <a:rPr lang="en-US" altLang="ko-KR" sz="1400" dirty="0" err="1"/>
              <a:t>json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1</a:t>
            </a:r>
            <a:r>
              <a:rPr lang="ko-KR" altLang="en-US" sz="1400" dirty="0"/>
              <a:t>개 </a:t>
            </a:r>
            <a:r>
              <a:rPr lang="en-US" altLang="ko-KR" sz="1400" dirty="0"/>
              <a:t>: ',</a:t>
            </a:r>
            <a:r>
              <a:rPr lang="en-US" altLang="ko-KR" sz="1400" dirty="0" err="1"/>
              <a:t>json_data</a:t>
            </a:r>
            <a:r>
              <a:rPr lang="en-US" altLang="ko-KR" sz="1400" dirty="0"/>
              <a:t>['response']['body']['items']['item'][0])</a:t>
            </a:r>
          </a:p>
          <a:p>
            <a:r>
              <a:rPr lang="en-US" altLang="ko-KR" sz="1400" dirty="0"/>
              <a:t>    </a:t>
            </a:r>
          </a:p>
          <a:p>
            <a:r>
              <a:rPr lang="en-US" altLang="ko-KR" sz="1400" dirty="0"/>
              <a:t>    return </a:t>
            </a:r>
            <a:r>
              <a:rPr lang="en-US" altLang="ko-KR" sz="1400" dirty="0" err="1"/>
              <a:t>dlist</a:t>
            </a:r>
            <a:r>
              <a:rPr lang="en-US" altLang="ko-KR" sz="1400" dirty="0"/>
              <a:t>  </a:t>
            </a:r>
          </a:p>
          <a:p>
            <a:r>
              <a:rPr lang="en-US" altLang="ko-KR" sz="1200" dirty="0"/>
              <a:t>    </a:t>
            </a:r>
            <a:endParaRPr lang="en-US" altLang="ko-KR" sz="900" dirty="0"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906D1-58F0-D168-E735-E1EF1B69A920}"/>
              </a:ext>
            </a:extLst>
          </p:cNvPr>
          <p:cNvSpPr txBox="1"/>
          <p:nvPr/>
        </p:nvSpPr>
        <p:spPr>
          <a:xfrm>
            <a:off x="6135151" y="6261014"/>
            <a:ext cx="60204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https://   : s</a:t>
            </a:r>
            <a:r>
              <a:rPr lang="ko-KR" altLang="en-US" sz="1600" dirty="0">
                <a:solidFill>
                  <a:srgbClr val="FF0000"/>
                </a:solidFill>
              </a:rPr>
              <a:t>를 넣으면 에러 발생 </a:t>
            </a:r>
            <a:r>
              <a:rPr lang="en-US" altLang="ko-KR" sz="1600" dirty="0">
                <a:solidFill>
                  <a:srgbClr val="FF0000"/>
                </a:solidFill>
              </a:rPr>
              <a:t>( </a:t>
            </a:r>
            <a:r>
              <a:rPr lang="en-US" altLang="ko-KR" sz="16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SSLError</a:t>
            </a:r>
            <a:r>
              <a:rPr lang="en-US" altLang="ko-KR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… )</a:t>
            </a:r>
          </a:p>
          <a:p>
            <a:r>
              <a:rPr lang="en-US" altLang="ko-KR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Http://</a:t>
            </a:r>
            <a:r>
              <a:rPr lang="ko-KR" altLang="en-US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해야 함</a:t>
            </a:r>
            <a:endParaRPr lang="en-US" altLang="ko-KR" sz="16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6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F2E4-1747-C3E6-886A-4FF188A2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2FD1D4E2-61AF-1052-BD76-134F35AF2F3C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024AE4D-207B-175D-B167-DCD45EC7955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C8D469-BC10-7719-79B5-55BFBDE61D52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공공데이터 출력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1 – ajax/views.py 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846500-16A9-2C2D-F2D5-A1F77C33D59D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BE4AE3D-5AB5-DB9C-24CD-A922C4A3A7B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69EC05-C90E-BBD1-DBD3-EB92F25CD09D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100" dirty="0"/>
              <a:t># </a:t>
            </a:r>
            <a:r>
              <a:rPr lang="ko-KR" altLang="en-US" sz="1100" dirty="0"/>
              <a:t>공공데이터 라이브러리 </a:t>
            </a:r>
            <a:r>
              <a:rPr lang="en-US" altLang="ko-KR" sz="1100" dirty="0"/>
              <a:t>import</a:t>
            </a:r>
          </a:p>
          <a:p>
            <a:r>
              <a:rPr lang="en-US" altLang="ko-KR" sz="1100" dirty="0"/>
              <a:t>import requests</a:t>
            </a:r>
          </a:p>
          <a:p>
            <a:r>
              <a:rPr lang="en-US" altLang="ko-KR" sz="1100" dirty="0"/>
              <a:t>import </a:t>
            </a:r>
            <a:r>
              <a:rPr lang="en-US" altLang="ko-KR" sz="1100" dirty="0" err="1"/>
              <a:t>pprint</a:t>
            </a:r>
            <a:endParaRPr lang="en-US" altLang="ko-KR" sz="1100" dirty="0"/>
          </a:p>
          <a:p>
            <a:r>
              <a:rPr lang="en-US" altLang="ko-KR" sz="1100" dirty="0"/>
              <a:t>import json</a:t>
            </a:r>
          </a:p>
          <a:p>
            <a:endParaRPr lang="en-US" altLang="ko-KR" sz="1200" dirty="0"/>
          </a:p>
          <a:p>
            <a:r>
              <a:rPr lang="en-US" altLang="ko-KR" sz="1200" dirty="0"/>
              <a:t>### </a:t>
            </a:r>
            <a:r>
              <a:rPr lang="ko-KR" altLang="en-US" sz="1200" dirty="0"/>
              <a:t>전역변수</a:t>
            </a:r>
          </a:p>
          <a:p>
            <a:r>
              <a:rPr lang="en-US" altLang="ko-KR" sz="1200" dirty="0" err="1"/>
              <a:t>dlist</a:t>
            </a:r>
            <a:r>
              <a:rPr lang="en-US" altLang="ko-KR" sz="1200" dirty="0"/>
              <a:t> = []</a:t>
            </a:r>
          </a:p>
          <a:p>
            <a:endParaRPr lang="en-US" altLang="ko-KR" sz="1100" dirty="0"/>
          </a:p>
          <a:p>
            <a:r>
              <a:rPr lang="en-US" altLang="ko-KR" dirty="0"/>
              <a:t># </a:t>
            </a:r>
            <a:r>
              <a:rPr lang="ko-KR" altLang="en-US" dirty="0"/>
              <a:t>공공데이터 리스트</a:t>
            </a:r>
          </a:p>
          <a:p>
            <a:r>
              <a:rPr lang="en-US" altLang="ko-KR" dirty="0"/>
              <a:t>def list(request):</a:t>
            </a:r>
          </a:p>
          <a:p>
            <a:r>
              <a:rPr lang="en-US" altLang="ko-KR" dirty="0"/>
              <a:t>    global </a:t>
            </a:r>
            <a:r>
              <a:rPr lang="en-US" altLang="ko-KR" dirty="0" err="1"/>
              <a:t>dlist</a:t>
            </a:r>
            <a:endParaRPr lang="en-US" altLang="ko-KR" dirty="0"/>
          </a:p>
          <a:p>
            <a:r>
              <a:rPr lang="en-US" altLang="ko-KR" dirty="0"/>
              <a:t>    </a:t>
            </a:r>
            <a:r>
              <a:rPr lang="en-US" altLang="ko-KR" dirty="0" err="1">
                <a:solidFill>
                  <a:srgbClr val="FF0000"/>
                </a:solidFill>
              </a:rPr>
              <a:t>json_data</a:t>
            </a:r>
            <a:r>
              <a:rPr lang="en-US" altLang="ko-KR" dirty="0">
                <a:solidFill>
                  <a:srgbClr val="FF0000"/>
                </a:solidFill>
              </a:rPr>
              <a:t> = </a:t>
            </a:r>
            <a:r>
              <a:rPr lang="en-US" altLang="ko-KR" dirty="0" err="1">
                <a:solidFill>
                  <a:srgbClr val="FF0000"/>
                </a:solidFill>
              </a:rPr>
              <a:t>json.loads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response.text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    </a:t>
            </a:r>
            <a:r>
              <a:rPr lang="en-US" altLang="ko-KR" dirty="0" err="1">
                <a:solidFill>
                  <a:srgbClr val="FF0000"/>
                </a:solidFill>
              </a:rPr>
              <a:t>dlist</a:t>
            </a:r>
            <a:r>
              <a:rPr lang="en-US" altLang="ko-KR" dirty="0">
                <a:solidFill>
                  <a:srgbClr val="FF0000"/>
                </a:solidFill>
              </a:rPr>
              <a:t> = </a:t>
            </a:r>
            <a:r>
              <a:rPr lang="en-US" altLang="ko-KR" dirty="0" err="1">
                <a:solidFill>
                  <a:srgbClr val="FF0000"/>
                </a:solidFill>
              </a:rPr>
              <a:t>json_data</a:t>
            </a:r>
            <a:r>
              <a:rPr lang="en-US" altLang="ko-KR" dirty="0">
                <a:solidFill>
                  <a:srgbClr val="FF0000"/>
                </a:solidFill>
              </a:rPr>
              <a:t>['response']['body']['items']['item’]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    # </a:t>
            </a:r>
            <a:r>
              <a:rPr lang="ko-KR" altLang="en-US" dirty="0">
                <a:solidFill>
                  <a:srgbClr val="FF0000"/>
                </a:solidFill>
              </a:rPr>
              <a:t>데이터 처리 로직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    </a:t>
            </a:r>
            <a:r>
              <a:rPr lang="en-US" altLang="ko-KR" dirty="0" err="1">
                <a:solidFill>
                  <a:srgbClr val="FF0000"/>
                </a:solidFill>
              </a:rPr>
              <a:t>processed_data</a:t>
            </a:r>
            <a:r>
              <a:rPr lang="en-US" altLang="ko-KR" dirty="0">
                <a:solidFill>
                  <a:srgbClr val="FF0000"/>
                </a:solidFill>
              </a:rPr>
              <a:t> = {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       "received": data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}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return </a:t>
            </a:r>
            <a:r>
              <a:rPr lang="en-US" altLang="ko-KR" dirty="0" err="1">
                <a:solidFill>
                  <a:srgbClr val="FF0000"/>
                </a:solidFill>
              </a:rPr>
              <a:t>JsonResponse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processed_data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197B33-555E-2E6C-9B36-A6EDC3891FA8}"/>
              </a:ext>
            </a:extLst>
          </p:cNvPr>
          <p:cNvSpPr/>
          <p:nvPr/>
        </p:nvSpPr>
        <p:spPr>
          <a:xfrm>
            <a:off x="4627927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257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공공데이터 출력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 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6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36422" y="979222"/>
            <a:ext cx="6020429" cy="203547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dirty="0"/>
              <a:t>{% for d in list %}</a:t>
            </a:r>
          </a:p>
          <a:p>
            <a:r>
              <a:rPr lang="en-US" altLang="ko-KR" sz="1200" dirty="0"/>
              <a:t>                                &lt;tr&gt;</a:t>
            </a:r>
          </a:p>
          <a:p>
            <a:r>
              <a:rPr lang="en-US" altLang="ko-KR" sz="1200" dirty="0"/>
              <a:t>                                    &lt;td class="</a:t>
            </a:r>
            <a:r>
              <a:rPr lang="en-US" altLang="ko-KR" sz="1200" dirty="0" err="1"/>
              <a:t>tnone</a:t>
            </a:r>
            <a:r>
              <a:rPr lang="en-US" altLang="ko-KR" sz="1200" dirty="0"/>
              <a:t>"&gt;{{</a:t>
            </a:r>
            <a:r>
              <a:rPr lang="en-US" altLang="ko-KR" sz="1200" dirty="0" err="1"/>
              <a:t>d.galContentId</a:t>
            </a:r>
            <a:r>
              <a:rPr lang="en-US" altLang="ko-KR" sz="1200" dirty="0"/>
              <a:t>}}&lt;/td&gt;</a:t>
            </a:r>
          </a:p>
          <a:p>
            <a:r>
              <a:rPr lang="en-US" altLang="ko-KR" sz="1200" dirty="0"/>
              <a:t>                                    &lt;td class="left"&gt;</a:t>
            </a:r>
          </a:p>
          <a:p>
            <a:r>
              <a:rPr lang="en-US" altLang="ko-KR" sz="1200" dirty="0"/>
              <a:t>                                        &lt;a </a:t>
            </a:r>
            <a:r>
              <a:rPr lang="en-US" altLang="ko-KR" sz="1200" dirty="0" err="1"/>
              <a:t>href</a:t>
            </a:r>
            <a:r>
              <a:rPr lang="en-US" altLang="ko-KR" sz="1200" dirty="0"/>
              <a:t>="/</a:t>
            </a:r>
            <a:r>
              <a:rPr lang="en-US" altLang="ko-KR" sz="1200" dirty="0" err="1"/>
              <a:t>pboard</a:t>
            </a:r>
            <a:r>
              <a:rPr lang="en-US" altLang="ko-KR" sz="1200" dirty="0"/>
              <a:t>/view/{{</a:t>
            </a:r>
            <a:r>
              <a:rPr lang="en-US" altLang="ko-KR" sz="1200" dirty="0" err="1"/>
              <a:t>d.galContentId</a:t>
            </a:r>
            <a:r>
              <a:rPr lang="en-US" altLang="ko-KR" sz="1200" dirty="0"/>
              <a:t>}}/"&gt;{{</a:t>
            </a:r>
            <a:r>
              <a:rPr lang="en-US" altLang="ko-KR" sz="1200" dirty="0" err="1"/>
              <a:t>d.galTitle</a:t>
            </a:r>
            <a:r>
              <a:rPr lang="en-US" altLang="ko-KR" sz="1200" dirty="0"/>
              <a:t>}}&lt;/a&gt;</a:t>
            </a:r>
          </a:p>
          <a:p>
            <a:r>
              <a:rPr lang="en-US" altLang="ko-KR" sz="1200" dirty="0"/>
              <a:t>                                    &lt;/td&gt;</a:t>
            </a:r>
          </a:p>
          <a:p>
            <a:r>
              <a:rPr lang="en-US" altLang="ko-KR" sz="1200" dirty="0"/>
              <a:t>                                    &lt;td&gt;{{</a:t>
            </a:r>
            <a:r>
              <a:rPr lang="en-US" altLang="ko-KR" sz="1200" dirty="0" err="1"/>
              <a:t>d.galPhotographyMonth</a:t>
            </a:r>
            <a:r>
              <a:rPr lang="en-US" altLang="ko-KR" sz="1200" dirty="0"/>
              <a:t>}}&lt;/td&gt;</a:t>
            </a:r>
          </a:p>
          <a:p>
            <a:r>
              <a:rPr lang="en-US" altLang="ko-KR" sz="1200" dirty="0"/>
              <a:t>                                    &lt;td class="</a:t>
            </a:r>
            <a:r>
              <a:rPr lang="en-US" altLang="ko-KR" sz="1200" dirty="0" err="1"/>
              <a:t>tnone</a:t>
            </a:r>
            <a:r>
              <a:rPr lang="en-US" altLang="ko-KR" sz="1200" dirty="0"/>
              <a:t> right"&gt;{{</a:t>
            </a:r>
            <a:r>
              <a:rPr lang="en-US" altLang="ko-KR" sz="1200" dirty="0" err="1"/>
              <a:t>d.galPhotographer</a:t>
            </a:r>
            <a:r>
              <a:rPr lang="en-US" altLang="ko-KR" sz="1200" dirty="0"/>
              <a:t>}}&lt;/td&gt;</a:t>
            </a:r>
          </a:p>
          <a:p>
            <a:r>
              <a:rPr lang="en-US" altLang="ko-KR" sz="1200" dirty="0"/>
              <a:t>                                &lt;/tr&gt;</a:t>
            </a:r>
          </a:p>
          <a:p>
            <a:r>
              <a:rPr lang="en-US" altLang="ko-KR" sz="1200" dirty="0"/>
              <a:t>{% </a:t>
            </a:r>
            <a:r>
              <a:rPr lang="en-US" altLang="ko-KR" sz="1200" dirty="0" err="1"/>
              <a:t>endfor</a:t>
            </a:r>
            <a:r>
              <a:rPr lang="en-US" altLang="ko-KR" sz="1200" dirty="0"/>
              <a:t> %}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627927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List.html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C202FC-8EB3-A33B-E1A4-8FD3CE009C38}"/>
              </a:ext>
            </a:extLst>
          </p:cNvPr>
          <p:cNvSpPr/>
          <p:nvPr/>
        </p:nvSpPr>
        <p:spPr>
          <a:xfrm>
            <a:off x="6135149" y="979221"/>
            <a:ext cx="6020429" cy="529573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&lt;h2&gt;&lt;strong&gt;</a:t>
            </a:r>
            <a:r>
              <a:rPr lang="ko-KR" altLang="en-US" sz="1200" dirty="0"/>
              <a:t>공공데이터 상세보기</a:t>
            </a:r>
            <a:r>
              <a:rPr lang="en-US" altLang="ko-KR" sz="1200" dirty="0"/>
              <a:t>&lt;/strong&gt;&lt;span&gt;</a:t>
            </a:r>
            <a:r>
              <a:rPr lang="ko-KR" altLang="en-US" sz="1200" dirty="0" err="1"/>
              <a:t>쟈뎅샵</a:t>
            </a:r>
            <a:r>
              <a:rPr lang="ko-KR" altLang="en-US" sz="1200" dirty="0"/>
              <a:t> 소식을 전해드립니다</a:t>
            </a:r>
            <a:r>
              <a:rPr lang="en-US" altLang="ko-KR" sz="1200" dirty="0"/>
              <a:t>.&lt;/span&gt;&lt;/h2&gt;</a:t>
            </a:r>
          </a:p>
          <a:p>
            <a:br>
              <a:rPr lang="en-US" altLang="ko-KR" sz="1200" dirty="0"/>
            </a:br>
            <a:r>
              <a:rPr lang="en-US" altLang="ko-KR" sz="1200" dirty="0"/>
              <a:t>                    &lt;div class="</a:t>
            </a:r>
            <a:r>
              <a:rPr lang="en-US" altLang="ko-KR" sz="1200" dirty="0" err="1"/>
              <a:t>viewDivMt</a:t>
            </a:r>
            <a:r>
              <a:rPr lang="en-US" altLang="ko-KR" sz="1200" dirty="0"/>
              <a:t>"&gt;</a:t>
            </a:r>
          </a:p>
          <a:p>
            <a:r>
              <a:rPr lang="en-US" altLang="ko-KR" sz="1200" dirty="0"/>
              <a:t>                        &lt;div class="</a:t>
            </a:r>
            <a:r>
              <a:rPr lang="en-US" altLang="ko-KR" sz="1200" dirty="0" err="1"/>
              <a:t>viewHead</a:t>
            </a:r>
            <a:r>
              <a:rPr lang="en-US" altLang="ko-KR" sz="1200" dirty="0"/>
              <a:t>"&gt;</a:t>
            </a:r>
          </a:p>
          <a:p>
            <a:r>
              <a:rPr lang="en-US" altLang="ko-KR" sz="1200" dirty="0"/>
              <a:t>                            &lt;div class="subject"&gt;</a:t>
            </a:r>
          </a:p>
          <a:p>
            <a:r>
              <a:rPr lang="en-US" altLang="ko-KR" sz="1200" dirty="0"/>
              <a:t>                                &lt;ul&gt;</a:t>
            </a:r>
          </a:p>
          <a:p>
            <a:r>
              <a:rPr lang="en-US" altLang="ko-KR" sz="1200" dirty="0"/>
              <a:t>                                    &lt;li&gt;{{</a:t>
            </a:r>
            <a:r>
              <a:rPr lang="en-US" altLang="ko-KR" sz="1200" dirty="0" err="1"/>
              <a:t>dData.galTitle</a:t>
            </a:r>
            <a:r>
              <a:rPr lang="en-US" altLang="ko-KR" sz="1200" dirty="0"/>
              <a:t>}}&lt;/li&gt;</a:t>
            </a:r>
          </a:p>
          <a:p>
            <a:r>
              <a:rPr lang="en-US" altLang="ko-KR" sz="1200" dirty="0"/>
              <a:t>                                &lt;/ul&gt;</a:t>
            </a:r>
          </a:p>
          <a:p>
            <a:r>
              <a:rPr lang="en-US" altLang="ko-KR" sz="1200" dirty="0"/>
              <a:t>                            &lt;/div&gt;</a:t>
            </a:r>
          </a:p>
          <a:p>
            <a:r>
              <a:rPr lang="en-US" altLang="ko-KR" sz="1200" dirty="0"/>
              <a:t>                            &lt;div class="day"&gt;</a:t>
            </a:r>
          </a:p>
          <a:p>
            <a:r>
              <a:rPr lang="en-US" altLang="ko-KR" sz="1200" dirty="0"/>
              <a:t>                                &lt;p class="txt"&gt;</a:t>
            </a:r>
            <a:r>
              <a:rPr lang="ko-KR" altLang="en-US" sz="1200" dirty="0"/>
              <a:t>작성일</a:t>
            </a:r>
            <a:r>
              <a:rPr lang="en-US" altLang="ko-KR" sz="1200" dirty="0"/>
              <a:t>&lt;span&gt;{{</a:t>
            </a:r>
            <a:r>
              <a:rPr lang="en-US" altLang="ko-KR" sz="1200" dirty="0" err="1"/>
              <a:t>dData.galPhotographyMonth</a:t>
            </a:r>
            <a:r>
              <a:rPr lang="en-US" altLang="ko-KR" sz="1200" dirty="0"/>
              <a:t>}}&lt;/span&gt;&lt;/p&gt;</a:t>
            </a:r>
          </a:p>
          <a:p>
            <a:r>
              <a:rPr lang="en-US" altLang="ko-KR" sz="1200" dirty="0"/>
              <a:t>                            &lt;/div&gt;</a:t>
            </a:r>
          </a:p>
          <a:p>
            <a:r>
              <a:rPr lang="en-US" altLang="ko-KR" sz="1200" dirty="0"/>
              <a:t>                        &lt;/div&gt;</a:t>
            </a:r>
          </a:p>
          <a:p>
            <a:br>
              <a:rPr lang="en-US" altLang="ko-KR" sz="1200" dirty="0"/>
            </a:br>
            <a:r>
              <a:rPr lang="en-US" altLang="ko-KR" sz="1200" dirty="0"/>
              <a:t>                        &lt;div class="</a:t>
            </a:r>
            <a:r>
              <a:rPr lang="en-US" altLang="ko-KR" sz="1200" dirty="0" err="1"/>
              <a:t>viewContents</a:t>
            </a:r>
            <a:r>
              <a:rPr lang="en-US" altLang="ko-KR" sz="1200" dirty="0"/>
              <a:t>"&gt;</a:t>
            </a:r>
          </a:p>
          <a:p>
            <a:r>
              <a:rPr lang="en-US" altLang="ko-KR" sz="1200" dirty="0"/>
              <a:t>                            {{</a:t>
            </a:r>
            <a:r>
              <a:rPr lang="en-US" altLang="ko-KR" sz="1200" dirty="0" err="1"/>
              <a:t>dData.galPhotographyLocation</a:t>
            </a:r>
            <a:r>
              <a:rPr lang="en-US" altLang="ko-KR" sz="1200" dirty="0"/>
              <a:t>}}&lt;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/&gt;</a:t>
            </a:r>
          </a:p>
          <a:p>
            <a:r>
              <a:rPr lang="en-US" altLang="ko-KR" sz="1200" dirty="0"/>
              <a:t>                            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/&gt;</a:t>
            </a:r>
          </a:p>
          <a:p>
            <a:r>
              <a:rPr lang="en-US" altLang="ko-KR" sz="1200" dirty="0"/>
              <a:t>                            {{</a:t>
            </a:r>
            <a:r>
              <a:rPr lang="en-US" altLang="ko-KR" sz="1200" dirty="0" err="1"/>
              <a:t>dData.galSearchKeyword</a:t>
            </a:r>
            <a:r>
              <a:rPr lang="en-US" altLang="ko-KR" sz="1200" dirty="0"/>
              <a:t>}}&lt;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/&gt;</a:t>
            </a:r>
          </a:p>
          <a:p>
            <a:r>
              <a:rPr lang="en-US" altLang="ko-KR" sz="1200" dirty="0"/>
              <a:t>                        &lt;/div&gt;</a:t>
            </a:r>
          </a:p>
          <a:p>
            <a:r>
              <a:rPr lang="en-US" altLang="ko-KR" sz="1200" dirty="0"/>
              <a:t>                        &lt;div class="</a:t>
            </a:r>
            <a:r>
              <a:rPr lang="en-US" altLang="ko-KR" sz="1200" dirty="0" err="1"/>
              <a:t>viewContents</a:t>
            </a:r>
            <a:r>
              <a:rPr lang="en-US" altLang="ko-KR" sz="1200" dirty="0"/>
              <a:t>"&gt;</a:t>
            </a:r>
          </a:p>
          <a:p>
            <a:r>
              <a:rPr lang="en-US" altLang="ko-KR" sz="1200" dirty="0"/>
              <a:t>                            &lt;</a:t>
            </a:r>
            <a:r>
              <a:rPr lang="en-US" altLang="ko-KR" sz="1200" dirty="0" err="1"/>
              <a:t>img</a:t>
            </a:r>
            <a:r>
              <a:rPr lang="en-US" altLang="ko-KR" sz="1200" dirty="0"/>
              <a:t> </a:t>
            </a:r>
            <a:r>
              <a:rPr lang="en-US" altLang="ko-KR" sz="1200" dirty="0" err="1"/>
              <a:t>src</a:t>
            </a:r>
            <a:r>
              <a:rPr lang="en-US" altLang="ko-KR" sz="1200" dirty="0"/>
              <a:t>='{{</a:t>
            </a:r>
            <a:r>
              <a:rPr lang="en-US" altLang="ko-KR" sz="1200" dirty="0" err="1"/>
              <a:t>dData.galWebImageUrl</a:t>
            </a:r>
            <a:r>
              <a:rPr lang="en-US" altLang="ko-KR" sz="1200" dirty="0"/>
              <a:t>}}' style='width:50%;'&gt;&lt;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                        &lt;/div&gt;</a:t>
            </a:r>
          </a:p>
          <a:p>
            <a:r>
              <a:rPr lang="en-US" altLang="ko-KR" sz="1200" dirty="0"/>
              <a:t>                    &lt;/div&gt;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4D9B0E-7BD4-FF86-2D8F-8F65F2F2DCD8}"/>
              </a:ext>
            </a:extLst>
          </p:cNvPr>
          <p:cNvSpPr/>
          <p:nvPr/>
        </p:nvSpPr>
        <p:spPr>
          <a:xfrm>
            <a:off x="10726654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view.</a:t>
            </a:r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28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E8314-9286-CDEB-01A5-6902BD94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84869D2E-24E2-6C41-01BB-CFD013110DA3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B0C7752-6830-2183-3844-78A40D80132E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8ED9B7-081D-BFFA-2FAB-A4308109B783}"/>
              </a:ext>
            </a:extLst>
          </p:cNvPr>
          <p:cNvSpPr txBox="1"/>
          <p:nvPr/>
        </p:nvSpPr>
        <p:spPr>
          <a:xfrm>
            <a:off x="4383031" y="2980067"/>
            <a:ext cx="3425938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오라클 </a:t>
            </a:r>
            <a:r>
              <a:rPr lang="en-US" altLang="ko-KR" sz="5400" b="1" dirty="0" err="1"/>
              <a:t>db</a:t>
            </a:r>
            <a:br>
              <a:rPr lang="en-US" altLang="ko-KR" sz="5400" b="1" dirty="0"/>
            </a:br>
            <a:r>
              <a:rPr lang="en-US" altLang="ko-KR" sz="4000" b="1" dirty="0"/>
              <a:t> (</a:t>
            </a:r>
            <a:r>
              <a:rPr lang="en-US" altLang="ko-KR" sz="4000" b="1" dirty="0" err="1"/>
              <a:t>sql</a:t>
            </a:r>
            <a:r>
              <a:rPr lang="en-US" altLang="ko-KR" sz="4000" b="1" dirty="0"/>
              <a:t> </a:t>
            </a:r>
            <a:r>
              <a:rPr lang="ko-KR" altLang="en-US" sz="4000" b="1" dirty="0"/>
              <a:t>직접연결</a:t>
            </a:r>
            <a:r>
              <a:rPr lang="en-US" altLang="ko-KR" sz="4000" b="1" dirty="0"/>
              <a:t>)</a:t>
            </a:r>
            <a:endParaRPr lang="ko-KR" altLang="en-US" sz="5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417C8E6-AB80-395D-07C0-B2F2121A7509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65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82511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 환경설정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- connection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E3450B-2174-4DCD-C2FC-55A201494774}"/>
              </a:ext>
            </a:extLst>
          </p:cNvPr>
          <p:cNvSpPr/>
          <p:nvPr/>
        </p:nvSpPr>
        <p:spPr>
          <a:xfrm>
            <a:off x="416357" y="1195146"/>
            <a:ext cx="11126061" cy="1007410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 분석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라이브러리 설치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b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대체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python -m pip install </a:t>
            </a:r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oracledb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3.10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이전 버전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pip install </a:t>
            </a:r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cx_Oracle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: 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D7B66-2EB4-F439-B11E-A35348ABA470}"/>
              </a:ext>
            </a:extLst>
          </p:cNvPr>
          <p:cNvSpPr txBox="1"/>
          <p:nvPr/>
        </p:nvSpPr>
        <p:spPr>
          <a:xfrm>
            <a:off x="416358" y="2298257"/>
            <a:ext cx="1113528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ko-KR" dirty="0"/>
              <a:t>import oracledb </a:t>
            </a:r>
            <a:r>
              <a:rPr lang="en-US" altLang="ko-KR" dirty="0"/>
              <a:t>as</a:t>
            </a:r>
            <a:r>
              <a:rPr lang="ko-KR" altLang="en-US" dirty="0"/>
              <a:t> </a:t>
            </a:r>
            <a:r>
              <a:rPr lang="en-US" altLang="ko-KR" dirty="0" err="1"/>
              <a:t>ora</a:t>
            </a:r>
            <a:r>
              <a:rPr lang="pt-BR" altLang="ko-KR" dirty="0"/>
              <a:t> </a:t>
            </a:r>
            <a:br>
              <a:rPr lang="pt-BR" altLang="ko-KR" dirty="0"/>
            </a:br>
            <a:br>
              <a:rPr lang="pt-BR" altLang="ko-KR" dirty="0"/>
            </a:br>
            <a:r>
              <a:rPr lang="en-US" altLang="ko-KR" dirty="0"/>
              <a:t>#</a:t>
            </a:r>
            <a:r>
              <a:rPr lang="ko-KR" altLang="en-US" dirty="0"/>
              <a:t>오라클 </a:t>
            </a:r>
            <a:r>
              <a:rPr lang="en-US" altLang="ko-KR" dirty="0"/>
              <a:t>connection </a:t>
            </a:r>
            <a:r>
              <a:rPr lang="ko-KR" altLang="en-US" dirty="0"/>
              <a:t>연결</a:t>
            </a:r>
          </a:p>
          <a:p>
            <a:r>
              <a:rPr lang="en-US" altLang="ko-KR" dirty="0"/>
              <a:t>##  conn = </a:t>
            </a:r>
            <a:r>
              <a:rPr lang="en-US" altLang="ko-KR" dirty="0" err="1"/>
              <a:t>ora.connect</a:t>
            </a:r>
            <a:r>
              <a:rPr lang="en-US" altLang="ko-KR" dirty="0"/>
              <a:t>(‘localhost:1521/</a:t>
            </a:r>
            <a:r>
              <a:rPr lang="en-US" altLang="ko-KR" dirty="0" err="1"/>
              <a:t>xe</a:t>
            </a:r>
            <a:r>
              <a:rPr lang="en-US" altLang="ko-KR" dirty="0"/>
              <a:t>’)</a:t>
            </a:r>
          </a:p>
          <a:p>
            <a:r>
              <a:rPr lang="en-US" altLang="ko-KR" dirty="0"/>
              <a:t>conn = connections()</a:t>
            </a:r>
          </a:p>
          <a:p>
            <a:r>
              <a:rPr lang="en-US" altLang="ko-KR" dirty="0"/>
              <a:t>print(</a:t>
            </a:r>
            <a:r>
              <a:rPr lang="en-US" altLang="ko-KR" dirty="0" err="1"/>
              <a:t>conn.version</a:t>
            </a:r>
            <a:r>
              <a:rPr lang="en-US" altLang="ko-KR" dirty="0"/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29F33A-0C25-AFA7-75AE-4B95176C5056}"/>
              </a:ext>
            </a:extLst>
          </p:cNvPr>
          <p:cNvSpPr/>
          <p:nvPr/>
        </p:nvSpPr>
        <p:spPr>
          <a:xfrm>
            <a:off x="6096000" y="4184634"/>
            <a:ext cx="5446418" cy="23336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</a:t>
            </a:r>
            <a:r>
              <a:rPr lang="en-US" altLang="ko-KR" sz="1400" dirty="0" err="1"/>
              <a:t>db</a:t>
            </a:r>
            <a:r>
              <a:rPr lang="ko-KR" altLang="en-US" sz="1400" dirty="0"/>
              <a:t>연결부분을 함수로 정의</a:t>
            </a:r>
          </a:p>
          <a:p>
            <a:r>
              <a:rPr lang="en-US" altLang="ko-KR" sz="1400" dirty="0"/>
              <a:t>def connections():</a:t>
            </a:r>
          </a:p>
          <a:p>
            <a:r>
              <a:rPr lang="en-US" altLang="ko-KR" sz="1400" dirty="0"/>
              <a:t>    try:</a:t>
            </a:r>
          </a:p>
          <a:p>
            <a:r>
              <a:rPr lang="en-US" altLang="ko-KR" sz="1400" dirty="0"/>
              <a:t>        conn = </a:t>
            </a:r>
            <a:r>
              <a:rPr lang="en-US" altLang="ko-KR" sz="1400" dirty="0" err="1"/>
              <a:t>oracledb.connect</a:t>
            </a:r>
            <a:r>
              <a:rPr lang="en-US" altLang="ko-KR" sz="1400" dirty="0"/>
              <a:t>(user=“</a:t>
            </a:r>
            <a:r>
              <a:rPr lang="en-US" altLang="ko-KR" sz="1400" dirty="0" err="1"/>
              <a:t>ora_user</a:t>
            </a:r>
            <a:r>
              <a:rPr lang="en-US" altLang="ko-KR" sz="1400" dirty="0"/>
              <a:t>", password=“1111", </a:t>
            </a:r>
            <a:r>
              <a:rPr lang="en-US" altLang="ko-KR" sz="1400" dirty="0" err="1"/>
              <a:t>dsn</a:t>
            </a:r>
            <a:r>
              <a:rPr lang="en-US" altLang="ko-KR" sz="1400" dirty="0"/>
              <a:t>=“localhost:1521/</a:t>
            </a:r>
            <a:r>
              <a:rPr lang="en-US" altLang="ko-KR" sz="1400" dirty="0" err="1"/>
              <a:t>xe</a:t>
            </a:r>
            <a:r>
              <a:rPr lang="en-US" altLang="ko-KR" sz="1400" dirty="0"/>
              <a:t>")   </a:t>
            </a:r>
          </a:p>
          <a:p>
            <a:r>
              <a:rPr lang="en-US" altLang="ko-KR" sz="1400" dirty="0"/>
              <a:t># DB</a:t>
            </a:r>
            <a:r>
              <a:rPr lang="ko-KR" altLang="en-US" sz="1400" dirty="0"/>
              <a:t>에 연결 </a:t>
            </a:r>
            <a:r>
              <a:rPr lang="en-US" altLang="ko-KR" sz="1400" dirty="0"/>
              <a:t>(</a:t>
            </a:r>
            <a:r>
              <a:rPr lang="ko-KR" altLang="en-US" sz="1400" dirty="0"/>
              <a:t>호스트이름 대신 </a:t>
            </a:r>
            <a:r>
              <a:rPr lang="en-US" altLang="ko-KR" sz="1400" dirty="0"/>
              <a:t>IP</a:t>
            </a:r>
            <a:r>
              <a:rPr lang="ko-KR" altLang="en-US" sz="1400" dirty="0"/>
              <a:t>주소 가능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except Exception as e:</a:t>
            </a:r>
          </a:p>
          <a:p>
            <a:r>
              <a:rPr lang="en-US" altLang="ko-KR" sz="1400" dirty="0"/>
              <a:t>        msg="</a:t>
            </a:r>
            <a:r>
              <a:rPr lang="ko-KR" altLang="en-US" sz="1400" dirty="0"/>
              <a:t>예외발생</a:t>
            </a:r>
            <a:r>
              <a:rPr lang="en-US" altLang="ko-KR" sz="1400" dirty="0"/>
              <a:t>"</a:t>
            </a:r>
          </a:p>
          <a:p>
            <a:r>
              <a:rPr lang="en-US" altLang="ko-KR" sz="1400" dirty="0"/>
              <a:t>        print(msg)</a:t>
            </a:r>
          </a:p>
          <a:p>
            <a:r>
              <a:rPr lang="en-US" altLang="ko-KR" sz="1400" dirty="0"/>
              <a:t>    return conn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A4A6BB-76E9-1570-4DDD-B62BB402A553}"/>
              </a:ext>
            </a:extLst>
          </p:cNvPr>
          <p:cNvSpPr/>
          <p:nvPr/>
        </p:nvSpPr>
        <p:spPr>
          <a:xfrm>
            <a:off x="416357" y="3443299"/>
            <a:ext cx="2788237" cy="2898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17C44670-FC29-805E-D700-1451DA0B86E0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204594" y="3588200"/>
            <a:ext cx="2891406" cy="17632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7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123430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db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  -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연결 후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, execute 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개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row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 저장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428C3C-1C93-2144-B153-9A263EF2B074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600" dirty="0"/>
              <a:t># </a:t>
            </a:r>
            <a:r>
              <a:rPr lang="ko-KR" altLang="en-US" sz="1600" dirty="0"/>
              <a:t>오라클 연결</a:t>
            </a:r>
            <a:endParaRPr lang="en-US" altLang="ko-KR" sz="1600" dirty="0"/>
          </a:p>
          <a:p>
            <a:r>
              <a:rPr lang="en-US" altLang="ko-KR" sz="1600" dirty="0"/>
              <a:t>## </a:t>
            </a:r>
            <a:r>
              <a:rPr lang="pt-BR" altLang="ko-KR" sz="1600" dirty="0"/>
              <a:t>import oracledb </a:t>
            </a:r>
            <a:r>
              <a:rPr lang="en-US" altLang="ko-KR" sz="1600" dirty="0"/>
              <a:t>as</a:t>
            </a:r>
            <a:r>
              <a:rPr lang="ko-KR" altLang="en-US" sz="1600" dirty="0"/>
              <a:t> </a:t>
            </a:r>
            <a:r>
              <a:rPr lang="en-US" altLang="ko-KR" sz="1600" dirty="0" err="1"/>
              <a:t>ora</a:t>
            </a:r>
            <a:r>
              <a:rPr lang="pt-BR" altLang="ko-KR" sz="1600" dirty="0"/>
              <a:t> </a:t>
            </a:r>
          </a:p>
          <a:p>
            <a:endParaRPr lang="ko-KR" altLang="en-US" sz="1600" dirty="0"/>
          </a:p>
          <a:p>
            <a:r>
              <a:rPr lang="en-US" altLang="ko-KR" sz="1600" dirty="0"/>
              <a:t>def </a:t>
            </a:r>
            <a:r>
              <a:rPr lang="en-US" altLang="ko-KR" sz="1600" dirty="0" err="1"/>
              <a:t>ora_list</a:t>
            </a:r>
            <a:r>
              <a:rPr lang="en-US" altLang="ko-KR" sz="1600" dirty="0"/>
              <a:t>(request):</a:t>
            </a:r>
          </a:p>
          <a:p>
            <a:endParaRPr lang="en-US" altLang="ko-KR" sz="1600" dirty="0"/>
          </a:p>
          <a:p>
            <a:r>
              <a:rPr lang="en-US" altLang="ko-KR" sz="1600" dirty="0"/>
              <a:t>    ## </a:t>
            </a:r>
            <a:r>
              <a:rPr lang="ko-KR" altLang="en-US" sz="1600" dirty="0"/>
              <a:t>오라클 연결 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conn = connections()</a:t>
            </a:r>
          </a:p>
          <a:p>
            <a:r>
              <a:rPr lang="en-US" altLang="ko-KR" sz="1600" dirty="0"/>
              <a:t>    print(</a:t>
            </a:r>
            <a:r>
              <a:rPr lang="en-US" altLang="ko-KR" sz="1600" dirty="0" err="1"/>
              <a:t>conn.version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    </a:t>
            </a:r>
          </a:p>
          <a:p>
            <a:r>
              <a:rPr lang="en-US" altLang="ko-KR" sz="1600" dirty="0"/>
              <a:t>   # cursor </a:t>
            </a:r>
            <a:r>
              <a:rPr lang="ko-KR" altLang="en-US" sz="1600" dirty="0"/>
              <a:t>할당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/>
              <a:t>   cursor = </a:t>
            </a:r>
            <a:r>
              <a:rPr lang="en-US" altLang="ko-KR" sz="1600" dirty="0" err="1"/>
              <a:t>conn.cursor</a:t>
            </a:r>
            <a:r>
              <a:rPr lang="en-US" altLang="ko-KR" sz="1600" dirty="0"/>
              <a:t>()</a:t>
            </a:r>
          </a:p>
          <a:p>
            <a:r>
              <a:rPr lang="en-US" altLang="ko-KR" sz="1600" dirty="0"/>
              <a:t>    #SQL</a:t>
            </a:r>
            <a:r>
              <a:rPr lang="ko-KR" altLang="en-US" sz="1600" dirty="0"/>
              <a:t>문 작성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 err="1"/>
              <a:t>sql_insert</a:t>
            </a:r>
            <a:r>
              <a:rPr lang="en-US" altLang="ko-KR" sz="1600" dirty="0"/>
              <a:t> ='insert into </a:t>
            </a:r>
            <a:r>
              <a:rPr lang="en-US" altLang="ko-KR" sz="1600" dirty="0" err="1"/>
              <a:t>item_code</a:t>
            </a:r>
            <a:r>
              <a:rPr lang="en-US" altLang="ko-KR" sz="1600" dirty="0"/>
              <a:t> values(:</a:t>
            </a:r>
            <a:r>
              <a:rPr lang="en-US" altLang="ko-KR" sz="1600" dirty="0" err="1"/>
              <a:t>no,:name</a:t>
            </a:r>
            <a:r>
              <a:rPr lang="en-US" altLang="ko-KR" sz="1600" dirty="0"/>
              <a:t>)'</a:t>
            </a:r>
          </a:p>
          <a:p>
            <a:r>
              <a:rPr lang="en-US" altLang="ko-KR" sz="1600" dirty="0"/>
              <a:t>    </a:t>
            </a:r>
          </a:p>
          <a:p>
            <a:r>
              <a:rPr lang="en-US" altLang="ko-KR" sz="1600" dirty="0"/>
              <a:t>    # </a:t>
            </a:r>
            <a:r>
              <a:rPr lang="en-US" altLang="ko-KR" sz="1600" dirty="0" err="1"/>
              <a:t>sql_insert</a:t>
            </a:r>
            <a:endParaRPr lang="en-US" altLang="ko-KR" sz="1600" dirty="0"/>
          </a:p>
          <a:p>
            <a:r>
              <a:rPr lang="en-US" altLang="ko-KR" sz="1600" dirty="0"/>
              <a:t>    # </a:t>
            </a:r>
            <a:r>
              <a:rPr lang="ko-KR" altLang="en-US" sz="1600" dirty="0" err="1"/>
              <a:t>입력값을</a:t>
            </a:r>
            <a:r>
              <a:rPr lang="ko-KR" altLang="en-US" sz="1600" dirty="0"/>
              <a:t> 쿼리에 바인딩한 후 전송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 err="1"/>
              <a:t>cursor.execute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sql_insert,no</a:t>
            </a:r>
            <a:r>
              <a:rPr lang="en-US" altLang="ko-KR" sz="1600" dirty="0"/>
              <a:t>='0001',name='</a:t>
            </a:r>
            <a:r>
              <a:rPr lang="ko-KR" altLang="en-US" sz="1600" dirty="0" err="1"/>
              <a:t>종목명</a:t>
            </a:r>
            <a:r>
              <a:rPr lang="en-US" altLang="ko-KR" sz="1600" dirty="0"/>
              <a:t>’)</a:t>
            </a:r>
          </a:p>
          <a:p>
            <a:r>
              <a:rPr lang="en-US" altLang="ko-KR" sz="1600" dirty="0"/>
              <a:t>    </a:t>
            </a:r>
          </a:p>
          <a:p>
            <a:r>
              <a:rPr lang="en-US" altLang="ko-KR" sz="1600" dirty="0"/>
              <a:t>    #</a:t>
            </a:r>
            <a:r>
              <a:rPr lang="ko-KR" altLang="en-US" sz="1600" dirty="0"/>
              <a:t>커서 닫고 </a:t>
            </a:r>
            <a:r>
              <a:rPr lang="en-US" altLang="ko-KR" sz="1600" dirty="0"/>
              <a:t>commit </a:t>
            </a:r>
            <a:r>
              <a:rPr lang="ko-KR" altLang="en-US" sz="1600" dirty="0"/>
              <a:t>해준다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cursor.close</a:t>
            </a:r>
            <a:r>
              <a:rPr lang="en-US" altLang="ko-KR" sz="1600" dirty="0"/>
              <a:t>()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conn.commit</a:t>
            </a:r>
            <a:r>
              <a:rPr lang="en-US" altLang="ko-KR" sz="1600" dirty="0"/>
              <a:t>()</a:t>
            </a:r>
          </a:p>
          <a:p>
            <a:r>
              <a:rPr lang="en-US" altLang="ko-KR" sz="1600" dirty="0"/>
              <a:t>    # </a:t>
            </a:r>
            <a:r>
              <a:rPr lang="en-US" altLang="ko-KR" sz="1600" dirty="0" err="1"/>
              <a:t>conn.close</a:t>
            </a:r>
            <a:r>
              <a:rPr lang="en-US" altLang="ko-KR" sz="1600" dirty="0"/>
              <a:t>()    # </a:t>
            </a:r>
            <a:r>
              <a:rPr lang="ko-KR" altLang="en-US" sz="1600" dirty="0"/>
              <a:t>리소스를 많이 잡혀 열어놓고 사용하기도 함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   return render(request, ’ora_list.html')</a:t>
            </a:r>
            <a:endParaRPr lang="en-US" altLang="ko-KR" sz="1050" dirty="0">
              <a:latin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5205C9-4EBC-E619-3344-D6FCD373DF88}"/>
              </a:ext>
            </a:extLst>
          </p:cNvPr>
          <p:cNvSpPr/>
          <p:nvPr/>
        </p:nvSpPr>
        <p:spPr>
          <a:xfrm>
            <a:off x="4627927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6F6750-F767-FCF9-2E23-6101EB2AEA26}"/>
              </a:ext>
            </a:extLst>
          </p:cNvPr>
          <p:cNvSpPr/>
          <p:nvPr/>
        </p:nvSpPr>
        <p:spPr>
          <a:xfrm>
            <a:off x="6135218" y="991189"/>
            <a:ext cx="6020429" cy="210468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</a:t>
            </a:r>
            <a:r>
              <a:rPr lang="en-US" altLang="ko-KR" sz="1400" dirty="0" err="1"/>
              <a:t>db</a:t>
            </a:r>
            <a:r>
              <a:rPr lang="ko-KR" altLang="en-US" sz="1400" dirty="0"/>
              <a:t>연결부분 함수로 정의</a:t>
            </a:r>
          </a:p>
          <a:p>
            <a:r>
              <a:rPr lang="en-US" altLang="ko-KR" sz="1400" dirty="0"/>
              <a:t>def connections():</a:t>
            </a:r>
          </a:p>
          <a:p>
            <a:r>
              <a:rPr lang="en-US" altLang="ko-KR" sz="1400" dirty="0"/>
              <a:t>    try:</a:t>
            </a:r>
          </a:p>
          <a:p>
            <a:r>
              <a:rPr lang="en-US" altLang="ko-KR" sz="1400" dirty="0"/>
              <a:t>        conn= </a:t>
            </a:r>
            <a:r>
              <a:rPr lang="en-US" altLang="ko-KR" sz="1400" dirty="0" err="1"/>
              <a:t>ora.connect</a:t>
            </a:r>
            <a:r>
              <a:rPr lang="en-US" altLang="ko-KR" sz="1400" dirty="0"/>
              <a:t>('c##ora_user1/1111@localhost:1521/</a:t>
            </a:r>
            <a:r>
              <a:rPr lang="en-US" altLang="ko-KR" sz="1400" dirty="0" err="1"/>
              <a:t>xe</a:t>
            </a:r>
            <a:r>
              <a:rPr lang="en-US" altLang="ko-KR" sz="1400" dirty="0"/>
              <a:t>')</a:t>
            </a:r>
          </a:p>
          <a:p>
            <a:r>
              <a:rPr lang="en-US" altLang="ko-KR" sz="1400" dirty="0"/>
              <a:t>        cursor = </a:t>
            </a:r>
            <a:r>
              <a:rPr lang="en-US" altLang="ko-KR" sz="1400" dirty="0" err="1"/>
              <a:t>conn.cursor</a:t>
            </a:r>
            <a:r>
              <a:rPr lang="en-US" altLang="ko-KR" sz="1400" dirty="0"/>
              <a:t>()</a:t>
            </a:r>
          </a:p>
          <a:p>
            <a:r>
              <a:rPr lang="en-US" altLang="ko-KR" sz="1400" dirty="0"/>
              <a:t>    except Exception as e:</a:t>
            </a:r>
          </a:p>
          <a:p>
            <a:r>
              <a:rPr lang="en-US" altLang="ko-KR" sz="1400" dirty="0"/>
              <a:t>        msg="</a:t>
            </a:r>
            <a:r>
              <a:rPr lang="ko-KR" altLang="en-US" sz="1400" dirty="0"/>
              <a:t>예외발생</a:t>
            </a:r>
            <a:r>
              <a:rPr lang="en-US" altLang="ko-KR" sz="1400" dirty="0"/>
              <a:t>"</a:t>
            </a:r>
          </a:p>
          <a:p>
            <a:r>
              <a:rPr lang="en-US" altLang="ko-KR" sz="1400" dirty="0"/>
              <a:t>        print(msg)</a:t>
            </a:r>
          </a:p>
          <a:p>
            <a:r>
              <a:rPr lang="en-US" altLang="ko-KR" sz="1400" dirty="0"/>
              <a:t>    return conn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2E8BC4-EA0F-068A-4653-13AE37FD27C8}"/>
              </a:ext>
            </a:extLst>
          </p:cNvPr>
          <p:cNvSpPr/>
          <p:nvPr/>
        </p:nvSpPr>
        <p:spPr>
          <a:xfrm>
            <a:off x="55879" y="2146570"/>
            <a:ext cx="5808025" cy="932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FD58C6F5-9603-067B-A6B3-CB55F741429A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5863904" y="2043533"/>
            <a:ext cx="271314" cy="56913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24BDA6-115D-CEFA-DC0D-ADAB378B0929}"/>
              </a:ext>
            </a:extLst>
          </p:cNvPr>
          <p:cNvSpPr txBox="1"/>
          <p:nvPr/>
        </p:nvSpPr>
        <p:spPr>
          <a:xfrm>
            <a:off x="9446704" y="6581001"/>
            <a:ext cx="274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https://heannim-world.tistory.com/37</a:t>
            </a:r>
            <a:endParaRPr lang="ko-KR" altLang="en-US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B92EE4-3C3A-0750-9E9F-CE24F72734B6}"/>
              </a:ext>
            </a:extLst>
          </p:cNvPr>
          <p:cNvSpPr/>
          <p:nvPr/>
        </p:nvSpPr>
        <p:spPr>
          <a:xfrm>
            <a:off x="6135218" y="3216383"/>
            <a:ext cx="6020429" cy="178914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1</a:t>
            </a:r>
            <a:r>
              <a:rPr lang="ko-KR" altLang="en-US" sz="1400" dirty="0"/>
              <a:t>개의 데이터 입력</a:t>
            </a:r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</a:t>
            </a:r>
            <a:r>
              <a:rPr lang="ko-KR" altLang="en-US" sz="1400" dirty="0"/>
              <a:t>구문 </a:t>
            </a:r>
            <a:r>
              <a:rPr lang="en-US" altLang="ko-KR" sz="1400" dirty="0"/>
              <a:t>,  </a:t>
            </a:r>
            <a:r>
              <a:rPr lang="en-US" altLang="ko-KR" sz="1400" dirty="0" err="1"/>
              <a:t>board_seq.nextval</a:t>
            </a:r>
            <a:r>
              <a:rPr lang="en-US" altLang="ko-KR" sz="1400" dirty="0"/>
              <a:t> : </a:t>
            </a:r>
            <a:r>
              <a:rPr lang="ko-KR" altLang="en-US" sz="1400" dirty="0"/>
              <a:t>시퀀스 증가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sysdate</a:t>
            </a:r>
            <a:r>
              <a:rPr lang="en-US" altLang="ko-KR" sz="1400" dirty="0"/>
              <a:t> : </a:t>
            </a:r>
            <a:r>
              <a:rPr lang="ko-KR" altLang="en-US" sz="1400" dirty="0"/>
              <a:t>날짜자동입력</a:t>
            </a:r>
            <a:endParaRPr lang="en-US" altLang="ko-KR" sz="1400" dirty="0"/>
          </a:p>
          <a:p>
            <a:r>
              <a:rPr lang="en-US" altLang="ko-KR" sz="1400" dirty="0" err="1"/>
              <a:t>sql_insert</a:t>
            </a:r>
            <a:r>
              <a:rPr lang="en-US" altLang="ko-KR" sz="1400" dirty="0"/>
              <a:t> ='insert into board values( </a:t>
            </a:r>
            <a:r>
              <a:rPr lang="en-US" altLang="ko-KR" sz="1400" dirty="0" err="1"/>
              <a:t>board_seq.nextval</a:t>
            </a:r>
            <a:r>
              <a:rPr lang="en-US" altLang="ko-KR" sz="1400" dirty="0"/>
              <a:t>, :</a:t>
            </a:r>
            <a:r>
              <a:rPr lang="en-US" altLang="ko-KR" sz="1400" dirty="0" err="1"/>
              <a:t>b_id</a:t>
            </a:r>
            <a:r>
              <a:rPr lang="en-US" altLang="ko-KR" sz="1400" dirty="0"/>
              <a:t>, :</a:t>
            </a:r>
            <a:r>
              <a:rPr lang="en-US" altLang="ko-KR" sz="1400" dirty="0" err="1"/>
              <a:t>b_title</a:t>
            </a:r>
            <a:r>
              <a:rPr lang="en-US" altLang="ko-KR" sz="1400" dirty="0"/>
              <a:t>, :</a:t>
            </a:r>
            <a:r>
              <a:rPr lang="en-US" altLang="ko-KR" sz="1400" dirty="0" err="1"/>
              <a:t>b_content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sysdate</a:t>
            </a:r>
            <a:r>
              <a:rPr lang="en-US" altLang="ko-KR" sz="1400" dirty="0"/>
              <a:t> )’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실행구문  </a:t>
            </a:r>
            <a:r>
              <a:rPr lang="en-US" altLang="ko-KR" sz="1400" dirty="0"/>
              <a:t>-  </a:t>
            </a:r>
            <a:r>
              <a:rPr lang="en-US" altLang="ko-KR" sz="1400" dirty="0" err="1"/>
              <a:t>b_no</a:t>
            </a:r>
            <a:r>
              <a:rPr lang="en-US" altLang="ko-KR" sz="1400" dirty="0"/>
              <a:t>=‘1’ : </a:t>
            </a:r>
            <a:r>
              <a:rPr lang="ko-KR" altLang="en-US" sz="1400" dirty="0" err="1"/>
              <a:t>직접입력가능</a:t>
            </a:r>
            <a:endParaRPr lang="en-US" altLang="ko-KR" sz="1400" dirty="0"/>
          </a:p>
          <a:p>
            <a:r>
              <a:rPr lang="en-US" altLang="ko-KR" sz="1400" dirty="0"/>
              <a:t> </a:t>
            </a:r>
            <a:r>
              <a:rPr lang="en-US" altLang="ko-KR" sz="1400" dirty="0" err="1"/>
              <a:t>cursor.execute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sql_insert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b_no</a:t>
            </a:r>
            <a:r>
              <a:rPr lang="en-US" altLang="ko-KR" sz="1400" dirty="0"/>
              <a:t>=</a:t>
            </a:r>
            <a:r>
              <a:rPr lang="en-US" altLang="ko-KR" sz="1400" dirty="0" err="1"/>
              <a:t>b_no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b_title</a:t>
            </a:r>
            <a:r>
              <a:rPr lang="en-US" altLang="ko-KR" sz="1400" dirty="0"/>
              <a:t>=</a:t>
            </a:r>
            <a:r>
              <a:rPr lang="en-US" altLang="ko-KR" sz="1400" dirty="0" err="1"/>
              <a:t>b_title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b_content</a:t>
            </a:r>
            <a:r>
              <a:rPr lang="en-US" altLang="ko-KR" sz="1400" dirty="0"/>
              <a:t>=</a:t>
            </a:r>
            <a:r>
              <a:rPr lang="en-US" altLang="ko-KR" sz="1400" dirty="0" err="1"/>
              <a:t>b_content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B0C8D8-2E3C-330F-F23D-642FD2AAD92B}"/>
              </a:ext>
            </a:extLst>
          </p:cNvPr>
          <p:cNvSpPr/>
          <p:nvPr/>
        </p:nvSpPr>
        <p:spPr>
          <a:xfrm>
            <a:off x="55879" y="4396001"/>
            <a:ext cx="5808025" cy="932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FFA1B5E1-29AF-42CA-DEDB-1A07410E564F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5863904" y="4110955"/>
            <a:ext cx="271314" cy="75114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324A27-3284-C954-C4C9-9E6BAB84A4E6}"/>
              </a:ext>
            </a:extLst>
          </p:cNvPr>
          <p:cNvSpPr txBox="1"/>
          <p:nvPr/>
        </p:nvSpPr>
        <p:spPr>
          <a:xfrm>
            <a:off x="6135151" y="5193940"/>
            <a:ext cx="600097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print(</a:t>
            </a:r>
            <a:r>
              <a:rPr lang="en-US" altLang="ko-KR" dirty="0" err="1"/>
              <a:t>qs.query</a:t>
            </a:r>
            <a:r>
              <a:rPr lang="en-US" altLang="ko-KR" dirty="0"/>
              <a:t>)    # </a:t>
            </a:r>
            <a:r>
              <a:rPr lang="en-US" altLang="ko-KR" dirty="0" err="1"/>
              <a:t>sql</a:t>
            </a:r>
            <a:r>
              <a:rPr lang="ko-KR" altLang="en-US" dirty="0" err="1"/>
              <a:t>쿼리문</a:t>
            </a:r>
            <a:r>
              <a:rPr lang="ko-KR" altLang="en-US" dirty="0"/>
              <a:t> 확인</a:t>
            </a:r>
          </a:p>
        </p:txBody>
      </p:sp>
    </p:spTree>
    <p:extLst>
      <p:ext uri="{BB962C8B-B14F-4D97-AF65-F5344CB8AC3E}">
        <p14:creationId xmlns:p14="http://schemas.microsoft.com/office/powerpoint/2010/main" val="2835161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74754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 execute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여러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row 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저장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저장타입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# 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오라클 연결 </a:t>
            </a:r>
            <a:r>
              <a:rPr lang="ko-KR" altLang="en-US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여러개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파일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def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ora_list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(request):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## import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cx_Oracle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as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ora</a:t>
            </a:r>
            <a:endParaRPr lang="en-US" altLang="ko-KR" sz="1400" b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## 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오라클 연결 </a:t>
            </a:r>
          </a:p>
          <a:p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df =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pd.read_excel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('C:\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pyFolder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\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js_work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\score.xlsx',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usecols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='A:D',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dtype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={0:str,1:str,2:str,3:str})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df1 = df[['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지원번호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','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이름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','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학교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','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키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']]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rows = [ tuple(x) for x in df1.to_records(index=False) ]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</a:p>
          <a:p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conn = connections()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print(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conn.version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 # 18.4.0.0.0 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cursor =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conn.cursor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()   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print(cursor) # &lt;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cx_Oracle.Cursor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on &lt;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cx_Oracle.Connection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to c##ora_user1@localhost:1521/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xe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&gt;&gt;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# oracle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db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에 저장</a:t>
            </a:r>
          </a:p>
          <a:p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cursor.execute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('delete from score')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score_query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= 'insert into score values(:1,:2,:3,:4)'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cursor.executemany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score_query,rows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conn.commit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cursor.execute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('select count(*) from score')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cnt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=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cursor.fetchone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print('insert 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건수 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: ',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cnt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cursor.close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return render(request,'notice_list.html')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627927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B61F7F-3778-4E54-AA42-700CBC6F1C65}"/>
              </a:ext>
            </a:extLst>
          </p:cNvPr>
          <p:cNvSpPr/>
          <p:nvPr/>
        </p:nvSpPr>
        <p:spPr>
          <a:xfrm>
            <a:off x="6135218" y="898158"/>
            <a:ext cx="6020429" cy="13999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pandas </a:t>
            </a:r>
            <a:r>
              <a:rPr lang="ko-KR" altLang="en-US" sz="1400" dirty="0"/>
              <a:t>엑셀 데이터 불러오기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usecols</a:t>
            </a:r>
            <a:r>
              <a:rPr lang="ko-KR" altLang="en-US" sz="1400" dirty="0"/>
              <a:t> </a:t>
            </a:r>
            <a:r>
              <a:rPr lang="en-US" altLang="ko-KR" sz="1400" dirty="0"/>
              <a:t>=‘A:D’   # </a:t>
            </a:r>
            <a:r>
              <a:rPr lang="ko-KR" altLang="en-US" sz="1400" dirty="0" err="1"/>
              <a:t>엑셀컬럼</a:t>
            </a:r>
            <a:r>
              <a:rPr lang="ko-KR" altLang="en-US" sz="1400" dirty="0"/>
              <a:t> </a:t>
            </a:r>
            <a:r>
              <a:rPr lang="en-US" altLang="ko-KR" sz="1400" dirty="0"/>
              <a:t>A,B,C,D</a:t>
            </a:r>
            <a:r>
              <a:rPr lang="ko-KR" altLang="en-US" sz="1400" dirty="0"/>
              <a:t>를 가져옴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en-US" altLang="ko-KR" sz="1400" dirty="0" err="1"/>
              <a:t>dtype</a:t>
            </a:r>
            <a:r>
              <a:rPr lang="en-US" altLang="ko-KR" sz="1400" dirty="0"/>
              <a:t> = { 0:str, 1:str, 2:str, 3:str }  # 0</a:t>
            </a:r>
            <a:r>
              <a:rPr lang="ko-KR" altLang="en-US" sz="1400" dirty="0"/>
              <a:t>번째 컬럼 </a:t>
            </a:r>
            <a:r>
              <a:rPr lang="en-US" altLang="ko-KR" sz="1400" dirty="0"/>
              <a:t>str</a:t>
            </a:r>
            <a:r>
              <a:rPr lang="ko-KR" altLang="en-US" sz="1400" dirty="0"/>
              <a:t>타입 설정</a:t>
            </a: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예</a:t>
            </a:r>
            <a:r>
              <a:rPr lang="en-US" altLang="ko-KR" sz="1400" dirty="0"/>
              <a:t>)  {0: float, 1:int}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2F40DA-C247-448B-9DCB-30B04518BB59}"/>
              </a:ext>
            </a:extLst>
          </p:cNvPr>
          <p:cNvSpPr/>
          <p:nvPr/>
        </p:nvSpPr>
        <p:spPr>
          <a:xfrm>
            <a:off x="55879" y="1857388"/>
            <a:ext cx="5942249" cy="6677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5200087-3BFF-4964-BFCD-46A20EA6DE03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 flipV="1">
            <a:off x="5998128" y="1598149"/>
            <a:ext cx="137090" cy="59312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F2B670-C4A0-41C4-9249-D268DCE609F5}"/>
              </a:ext>
            </a:extLst>
          </p:cNvPr>
          <p:cNvSpPr txBox="1"/>
          <p:nvPr/>
        </p:nvSpPr>
        <p:spPr>
          <a:xfrm>
            <a:off x="7088697" y="6581001"/>
            <a:ext cx="51033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hlinkClick r:id="rId2"/>
              </a:rPr>
              <a:t>https://heannim-world.tistory.com/37</a:t>
            </a:r>
            <a:r>
              <a:rPr lang="en-US" altLang="ko-KR" sz="1200" dirty="0"/>
              <a:t>  /  https://geumjubu.tistory.com/10</a:t>
            </a:r>
            <a:endParaRPr lang="ko-KR" altLang="en-US" sz="12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77AF4F-3974-46F3-A830-D8744878EA3B}"/>
              </a:ext>
            </a:extLst>
          </p:cNvPr>
          <p:cNvSpPr/>
          <p:nvPr/>
        </p:nvSpPr>
        <p:spPr>
          <a:xfrm>
            <a:off x="6135218" y="3954417"/>
            <a:ext cx="6020429" cy="262658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insert, select</a:t>
            </a:r>
            <a:r>
              <a:rPr lang="ko-KR" altLang="en-US" sz="1400" dirty="0"/>
              <a:t>시 명령어</a:t>
            </a:r>
            <a:br>
              <a:rPr lang="en-US" altLang="ko-KR" sz="1400" dirty="0"/>
            </a:br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score_insert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stu_no</a:t>
            </a:r>
            <a:r>
              <a:rPr lang="en-US" altLang="ko-KR" sz="1400" dirty="0"/>
              <a:t>=‘1</a:t>
            </a:r>
            <a:r>
              <a:rPr lang="ko-KR" altLang="en-US" sz="1400" dirty="0"/>
              <a:t>번</a:t>
            </a:r>
            <a:r>
              <a:rPr lang="en-US" altLang="ko-KR" sz="1400" dirty="0"/>
              <a:t>’,</a:t>
            </a:r>
            <a:r>
              <a:rPr lang="en-US" altLang="ko-KR" sz="1400" dirty="0" err="1"/>
              <a:t>stu_name</a:t>
            </a:r>
            <a:r>
              <a:rPr lang="en-US" altLang="ko-KR" sz="1400" dirty="0"/>
              <a:t>=‘</a:t>
            </a:r>
            <a:r>
              <a:rPr lang="ko-KR" altLang="en-US" sz="1400" dirty="0" err="1"/>
              <a:t>강나래</a:t>
            </a:r>
            <a:r>
              <a:rPr lang="en-US" altLang="ko-KR" sz="1400" dirty="0"/>
              <a:t>’)</a:t>
            </a:r>
          </a:p>
          <a:p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cursor.executemany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score_query,rows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endParaRPr lang="en-US" altLang="ko-KR" sz="140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# </a:t>
            </a:r>
            <a:r>
              <a:rPr lang="ko-KR" altLang="en-US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데이터 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select</a:t>
            </a:r>
            <a:r>
              <a:rPr lang="ko-KR" altLang="en-US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시 명령어 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-&gt; execute</a:t>
            </a:r>
            <a:r>
              <a:rPr lang="ko-KR" altLang="en-US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후 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fetch</a:t>
            </a:r>
            <a:r>
              <a:rPr lang="ko-KR" altLang="en-US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사용</a:t>
            </a:r>
            <a:b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# </a:t>
            </a:r>
            <a:r>
              <a:rPr lang="en-US" altLang="ko-KR" sz="1400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cursor.execute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en-US" altLang="ko-KR" sz="1400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score_select,stu_no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=‘1</a:t>
            </a:r>
            <a:r>
              <a:rPr lang="ko-KR" altLang="en-US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번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’)</a:t>
            </a:r>
          </a:p>
          <a:p>
            <a:r>
              <a:rPr lang="en-US" altLang="ko-KR" sz="1400" dirty="0" err="1"/>
              <a:t>cursor.fetchall</a:t>
            </a:r>
            <a:r>
              <a:rPr lang="en-US" altLang="ko-KR" sz="1400" dirty="0"/>
              <a:t>() : </a:t>
            </a:r>
            <a:r>
              <a:rPr lang="ko-KR" altLang="en-US" sz="1400" dirty="0"/>
              <a:t>모든 데이터를 가져올 때 사용</a:t>
            </a:r>
            <a:br>
              <a:rPr lang="en-US" altLang="ko-KR" sz="1400" dirty="0"/>
            </a:br>
            <a:r>
              <a:rPr lang="en-US" altLang="ko-KR" sz="1400" dirty="0" err="1"/>
              <a:t>cursor.fetchone</a:t>
            </a:r>
            <a:r>
              <a:rPr lang="en-US" altLang="ko-KR" sz="1400" dirty="0"/>
              <a:t>() : </a:t>
            </a:r>
            <a:r>
              <a:rPr lang="ko-KR" altLang="en-US" sz="1400" dirty="0"/>
              <a:t>한번 호출에 </a:t>
            </a:r>
            <a:r>
              <a:rPr lang="en-US" altLang="ko-KR" sz="1400" dirty="0"/>
              <a:t>1</a:t>
            </a:r>
            <a:r>
              <a:rPr lang="ko-KR" altLang="en-US" sz="1400" dirty="0"/>
              <a:t>개 </a:t>
            </a:r>
            <a:r>
              <a:rPr lang="en-US" altLang="ko-KR" sz="1400" dirty="0"/>
              <a:t>Row</a:t>
            </a:r>
            <a:r>
              <a:rPr lang="ko-KR" altLang="en-US" sz="1400" dirty="0"/>
              <a:t>를 가져올 때 사용</a:t>
            </a:r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ko-KR" altLang="en-US" sz="1400" dirty="0"/>
              <a:t>컬럼이 </a:t>
            </a:r>
            <a:r>
              <a:rPr lang="ko-KR" altLang="en-US" sz="1400" dirty="0" err="1"/>
              <a:t>지원번호</a:t>
            </a:r>
            <a:r>
              <a:rPr lang="en-US" altLang="ko-KR" sz="1400" dirty="0"/>
              <a:t>, </a:t>
            </a:r>
            <a:r>
              <a:rPr lang="ko-KR" altLang="en-US" sz="1400" dirty="0"/>
              <a:t>이름</a:t>
            </a:r>
            <a:r>
              <a:rPr lang="en-US" altLang="ko-KR" sz="1400" dirty="0"/>
              <a:t>,</a:t>
            </a:r>
            <a:r>
              <a:rPr lang="ko-KR" altLang="en-US" sz="1400" dirty="0"/>
              <a:t>학교</a:t>
            </a:r>
            <a:r>
              <a:rPr lang="en-US" altLang="ko-KR" sz="1400" dirty="0"/>
              <a:t>, </a:t>
            </a:r>
            <a:r>
              <a:rPr lang="ko-KR" altLang="en-US" sz="1400" dirty="0"/>
              <a:t>키</a:t>
            </a:r>
            <a:r>
              <a:rPr lang="en-US" altLang="ko-KR" sz="1400" dirty="0"/>
              <a:t>   </a:t>
            </a:r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# no</a:t>
            </a:r>
            <a:r>
              <a:rPr lang="en-US" altLang="ko-KR" sz="1400" dirty="0"/>
              <a:t> = row[0]  #</a:t>
            </a:r>
            <a:r>
              <a:rPr lang="ko-KR" altLang="en-US" sz="1400" dirty="0" err="1"/>
              <a:t>지원번호</a:t>
            </a:r>
            <a:r>
              <a:rPr lang="ko-KR" altLang="en-US" sz="1400" dirty="0"/>
              <a:t> 데이터 넘어옴</a:t>
            </a:r>
            <a:endParaRPr lang="en-US" altLang="ko-KR" sz="140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400" dirty="0"/>
              <a:t>                                                    # name = row[1] # </a:t>
            </a:r>
            <a:r>
              <a:rPr lang="ko-KR" altLang="en-US" sz="1400" dirty="0"/>
              <a:t>이름 넘어옴</a:t>
            </a:r>
            <a:r>
              <a:rPr lang="en-US" altLang="ko-KR" sz="1400" dirty="0"/>
              <a:t>…</a:t>
            </a:r>
          </a:p>
          <a:p>
            <a:r>
              <a:rPr lang="en-US" altLang="ko-KR" sz="1400" dirty="0"/>
              <a:t>                                                    # school = row[2]</a:t>
            </a:r>
          </a:p>
          <a:p>
            <a:r>
              <a:rPr lang="en-US" altLang="ko-KR" sz="1400" dirty="0" err="1"/>
              <a:t>cursor.fetchmany</a:t>
            </a:r>
            <a:r>
              <a:rPr lang="en-US" altLang="ko-KR" sz="1400" dirty="0"/>
              <a:t>(n) : n</a:t>
            </a:r>
            <a:r>
              <a:rPr lang="ko-KR" altLang="en-US" sz="1400" dirty="0"/>
              <a:t>개 만큼의 데이터를 가져올 때 사용</a:t>
            </a:r>
            <a:endParaRPr lang="en-US" altLang="ko-KR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329C79-0B21-4F94-B02F-B66BDFE4C8EB}"/>
              </a:ext>
            </a:extLst>
          </p:cNvPr>
          <p:cNvSpPr/>
          <p:nvPr/>
        </p:nvSpPr>
        <p:spPr>
          <a:xfrm>
            <a:off x="55879" y="4390665"/>
            <a:ext cx="5808025" cy="1200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ACBD0EB5-6F3B-4B0F-98D1-9101DE2E4C97}"/>
              </a:ext>
            </a:extLst>
          </p:cNvPr>
          <p:cNvCxnSpPr>
            <a:cxnSpLocks/>
            <a:stCxn id="24" idx="3"/>
            <a:endCxn id="23" idx="1"/>
          </p:cNvCxnSpPr>
          <p:nvPr/>
        </p:nvCxnSpPr>
        <p:spPr>
          <a:xfrm>
            <a:off x="5863904" y="4991069"/>
            <a:ext cx="271314" cy="2766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5718A4-41EC-4554-8166-DFBBDE9E1ADC}"/>
              </a:ext>
            </a:extLst>
          </p:cNvPr>
          <p:cNvSpPr/>
          <p:nvPr/>
        </p:nvSpPr>
        <p:spPr>
          <a:xfrm>
            <a:off x="6135218" y="2325615"/>
            <a:ext cx="6020429" cy="159704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1</a:t>
            </a:r>
            <a:r>
              <a:rPr lang="ko-KR" altLang="en-US" sz="1400" dirty="0"/>
              <a:t>줄 </a:t>
            </a:r>
            <a:r>
              <a:rPr lang="en-US" altLang="ko-KR" sz="1400" dirty="0"/>
              <a:t>for</a:t>
            </a:r>
            <a:r>
              <a:rPr lang="ko-KR" altLang="en-US" sz="1400" dirty="0"/>
              <a:t>문은 리턴이 자동으로 </a:t>
            </a:r>
            <a:r>
              <a:rPr lang="en-US" altLang="ko-KR" sz="1400" dirty="0"/>
              <a:t>LIST</a:t>
            </a:r>
            <a:r>
              <a:rPr lang="ko-KR" altLang="en-US" sz="1400" dirty="0"/>
              <a:t>가 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/>
              <a:t># rows</a:t>
            </a:r>
            <a:r>
              <a:rPr lang="ko-KR" altLang="en-US" sz="1400" dirty="0"/>
              <a:t>는 </a:t>
            </a:r>
            <a:r>
              <a:rPr lang="en-US" altLang="ko-KR" sz="1400" dirty="0"/>
              <a:t>tuple(x)</a:t>
            </a:r>
            <a:r>
              <a:rPr lang="ko-KR" altLang="en-US" sz="1400" dirty="0"/>
              <a:t>형태의 </a:t>
            </a:r>
            <a:r>
              <a:rPr lang="en-US" altLang="ko-KR" sz="1400" dirty="0"/>
              <a:t>LIST</a:t>
            </a:r>
            <a:br>
              <a:rPr lang="en-US" altLang="ko-KR" sz="1400" dirty="0"/>
            </a:br>
            <a:r>
              <a:rPr lang="en-US" altLang="ko-KR" sz="1400" dirty="0"/>
              <a:t>data=[</a:t>
            </a:r>
          </a:p>
          <a:p>
            <a:r>
              <a:rPr lang="en-US" altLang="ko-KR" sz="1400" dirty="0"/>
              <a:t>      (‘1</a:t>
            </a:r>
            <a:r>
              <a:rPr lang="ko-KR" altLang="en-US" sz="1400" dirty="0"/>
              <a:t>번</a:t>
            </a:r>
            <a:r>
              <a:rPr lang="en-US" altLang="ko-KR" sz="1400" dirty="0"/>
              <a:t>’,’</a:t>
            </a:r>
            <a:r>
              <a:rPr lang="ko-KR" altLang="en-US" sz="1400" dirty="0" err="1"/>
              <a:t>강나래</a:t>
            </a:r>
            <a:r>
              <a:rPr lang="en-US" altLang="ko-KR" sz="1400" dirty="0"/>
              <a:t>’,’</a:t>
            </a:r>
            <a:r>
              <a:rPr lang="ko-KR" altLang="en-US" sz="1400" dirty="0" err="1"/>
              <a:t>구로고</a:t>
            </a:r>
            <a:r>
              <a:rPr lang="en-US" altLang="ko-KR" sz="1400" dirty="0"/>
              <a:t>‘,’197’), (‘2</a:t>
            </a:r>
            <a:r>
              <a:rPr lang="ko-KR" altLang="en-US" sz="1400" dirty="0"/>
              <a:t>번</a:t>
            </a:r>
            <a:r>
              <a:rPr lang="en-US" altLang="ko-KR" sz="1400" dirty="0"/>
              <a:t>’,’</a:t>
            </a:r>
            <a:r>
              <a:rPr lang="ko-KR" altLang="en-US" sz="1400" dirty="0"/>
              <a:t>강태원</a:t>
            </a:r>
            <a:r>
              <a:rPr lang="en-US" altLang="ko-KR" sz="1400" dirty="0"/>
              <a:t>’,’</a:t>
            </a:r>
            <a:r>
              <a:rPr lang="ko-KR" altLang="en-US" sz="1400" dirty="0" err="1"/>
              <a:t>구로고</a:t>
            </a:r>
            <a:r>
              <a:rPr lang="en-US" altLang="ko-KR" sz="1400" dirty="0"/>
              <a:t>‘,’184’)</a:t>
            </a:r>
          </a:p>
          <a:p>
            <a:r>
              <a:rPr lang="en-US" altLang="ko-KR" sz="1400" dirty="0"/>
              <a:t>       …</a:t>
            </a:r>
          </a:p>
          <a:p>
            <a:r>
              <a:rPr lang="en-US" altLang="ko-KR" sz="1400" dirty="0"/>
              <a:t>  ]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25B394-BFF0-45E0-B28E-C70F665B864D}"/>
              </a:ext>
            </a:extLst>
          </p:cNvPr>
          <p:cNvSpPr/>
          <p:nvPr/>
        </p:nvSpPr>
        <p:spPr>
          <a:xfrm>
            <a:off x="55879" y="2733804"/>
            <a:ext cx="5808025" cy="260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C4F90585-66B8-4A7C-BD6D-FBB66D47128A}"/>
              </a:ext>
            </a:extLst>
          </p:cNvPr>
          <p:cNvCxnSpPr>
            <a:cxnSpLocks/>
            <a:stCxn id="33" idx="3"/>
            <a:endCxn id="32" idx="1"/>
          </p:cNvCxnSpPr>
          <p:nvPr/>
        </p:nvCxnSpPr>
        <p:spPr>
          <a:xfrm>
            <a:off x="5863904" y="2863948"/>
            <a:ext cx="271314" cy="26019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8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1094271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int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일때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error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36422" y="979221"/>
            <a:ext cx="6020429" cy="33641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# 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오라클 연결 </a:t>
            </a:r>
            <a:r>
              <a:rPr lang="ko-KR" altLang="en-US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여러개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파일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def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ora_list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(request):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## import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cx_Oracle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as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ora</a:t>
            </a:r>
            <a:endParaRPr lang="en-US" altLang="ko-KR" sz="1400" b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## 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오라클 연결 </a:t>
            </a:r>
          </a:p>
          <a:p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df =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pd.read_excel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('C:\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pyFolder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\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js_work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\score.xlsx',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usecols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='A:D',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dtype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={0:str,1:str,2:str,3:str})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df1 = df[['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지원번호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','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이름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','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학교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','</a:t>
            </a:r>
            <a:r>
              <a:rPr lang="ko-KR" altLang="en-US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키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']]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rows = [ tuple(x) for x in df1.to_records(index=False) ]</a:t>
            </a:r>
          </a:p>
          <a:p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   conn = connections()</a:t>
            </a:r>
          </a:p>
          <a:p>
            <a:endParaRPr lang="en-US" altLang="ko-KR" sz="1400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endParaRPr lang="en-US" altLang="ko-KR" sz="1400" b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sz="1400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   ## </a:t>
            </a:r>
            <a:r>
              <a:rPr lang="ko-KR" altLang="en-US" sz="1400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이하동일</a:t>
            </a:r>
            <a:endParaRPr lang="en-US" altLang="ko-KR" sz="1400" b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627927" y="989177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B61F7F-3778-4E54-AA42-700CBC6F1C65}"/>
              </a:ext>
            </a:extLst>
          </p:cNvPr>
          <p:cNvSpPr/>
          <p:nvPr/>
        </p:nvSpPr>
        <p:spPr>
          <a:xfrm>
            <a:off x="6135218" y="898158"/>
            <a:ext cx="6020429" cy="13999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pandas </a:t>
            </a:r>
            <a:r>
              <a:rPr lang="ko-KR" altLang="en-US" sz="1400" dirty="0"/>
              <a:t>엑셀 데이터 불러오기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usecols</a:t>
            </a:r>
            <a:r>
              <a:rPr lang="ko-KR" altLang="en-US" sz="1400" dirty="0"/>
              <a:t> </a:t>
            </a:r>
            <a:r>
              <a:rPr lang="en-US" altLang="ko-KR" sz="1400" dirty="0"/>
              <a:t>=‘A:D’   # </a:t>
            </a:r>
            <a:r>
              <a:rPr lang="ko-KR" altLang="en-US" sz="1400" dirty="0" err="1"/>
              <a:t>엑셀컬럼</a:t>
            </a:r>
            <a:r>
              <a:rPr lang="ko-KR" altLang="en-US" sz="1400" dirty="0"/>
              <a:t> </a:t>
            </a:r>
            <a:r>
              <a:rPr lang="en-US" altLang="ko-KR" sz="1400" dirty="0"/>
              <a:t>A,B,C,D</a:t>
            </a:r>
            <a:r>
              <a:rPr lang="ko-KR" altLang="en-US" sz="1400" dirty="0"/>
              <a:t>를 가져옴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en-US" altLang="ko-KR" sz="1400" dirty="0" err="1"/>
              <a:t>dtype</a:t>
            </a:r>
            <a:r>
              <a:rPr lang="en-US" altLang="ko-KR" sz="1400" dirty="0"/>
              <a:t> = { 0:str, 1:str, 2:str, 3:str }  # 0</a:t>
            </a:r>
            <a:r>
              <a:rPr lang="ko-KR" altLang="en-US" sz="1400" dirty="0"/>
              <a:t>번째 컬럼 </a:t>
            </a:r>
            <a:r>
              <a:rPr lang="en-US" altLang="ko-KR" sz="1400" dirty="0"/>
              <a:t>str</a:t>
            </a:r>
            <a:r>
              <a:rPr lang="ko-KR" altLang="en-US" sz="1400" dirty="0"/>
              <a:t>타입 설정</a:t>
            </a: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예</a:t>
            </a:r>
            <a:r>
              <a:rPr lang="en-US" altLang="ko-KR" sz="1400" dirty="0"/>
              <a:t>)  {0: float, 1:int} 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42F40DA-C247-448B-9DCB-30B04518BB59}"/>
              </a:ext>
            </a:extLst>
          </p:cNvPr>
          <p:cNvSpPr/>
          <p:nvPr/>
        </p:nvSpPr>
        <p:spPr>
          <a:xfrm>
            <a:off x="55879" y="1857388"/>
            <a:ext cx="5942249" cy="6677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5200087-3BFF-4964-BFCD-46A20EA6DE03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 flipV="1">
            <a:off x="5998128" y="1598149"/>
            <a:ext cx="137090" cy="59312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F2B670-C4A0-41C4-9249-D268DCE609F5}"/>
              </a:ext>
            </a:extLst>
          </p:cNvPr>
          <p:cNvSpPr txBox="1"/>
          <p:nvPr/>
        </p:nvSpPr>
        <p:spPr>
          <a:xfrm>
            <a:off x="7088697" y="6211669"/>
            <a:ext cx="5103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https://blog.naver.com/PostView.nhn?isHttpsRedirect=true&amp;blogId=kang_sok&amp;logNo=222189281967&amp;parentCategoryNo=1&amp;categoryNo=&amp;viewDate=&amp;isShowPopularPosts=true&amp;from=search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45718A4-41EC-4554-8166-DFBBDE9E1ADC}"/>
              </a:ext>
            </a:extLst>
          </p:cNvPr>
          <p:cNvSpPr/>
          <p:nvPr/>
        </p:nvSpPr>
        <p:spPr>
          <a:xfrm>
            <a:off x="6135218" y="2733804"/>
            <a:ext cx="6020429" cy="25664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400" dirty="0"/>
              <a:t># </a:t>
            </a:r>
            <a:r>
              <a:rPr lang="ko-KR" altLang="en-US" sz="1400" dirty="0"/>
              <a:t>데이터를 </a:t>
            </a:r>
            <a:r>
              <a:rPr lang="en-US" altLang="ko-KR" sz="1400" dirty="0"/>
              <a:t>tuple()</a:t>
            </a:r>
            <a:r>
              <a:rPr lang="ko-KR" altLang="en-US" sz="1400" dirty="0"/>
              <a:t>형태의 </a:t>
            </a:r>
            <a:r>
              <a:rPr lang="en-US" altLang="ko-KR" sz="1400" dirty="0"/>
              <a:t>list</a:t>
            </a:r>
            <a:r>
              <a:rPr lang="ko-KR" altLang="en-US" sz="1400" dirty="0"/>
              <a:t>타입으로 데이터 저장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    # rows = [ tuple(x) for x in </a:t>
            </a:r>
            <a:r>
              <a:rPr lang="en-US" altLang="ko-KR" sz="1400" dirty="0" err="1"/>
              <a:t>df.to_records</a:t>
            </a:r>
            <a:r>
              <a:rPr lang="en-US" altLang="ko-KR" sz="1400" dirty="0"/>
              <a:t>(index=False) ]</a:t>
            </a:r>
          </a:p>
          <a:p>
            <a:r>
              <a:rPr lang="en-US" altLang="ko-KR" sz="1400" dirty="0"/>
              <a:t>    rows=[]</a:t>
            </a:r>
          </a:p>
          <a:p>
            <a:r>
              <a:rPr lang="en-US" altLang="ko-KR" sz="1400" dirty="0"/>
              <a:t>    for x in </a:t>
            </a:r>
            <a:r>
              <a:rPr lang="en-US" altLang="ko-KR" sz="1400" dirty="0" err="1"/>
              <a:t>df.to_records</a:t>
            </a:r>
            <a:r>
              <a:rPr lang="en-US" altLang="ko-KR" sz="1400" dirty="0"/>
              <a:t>(index=False):</a:t>
            </a:r>
          </a:p>
          <a:p>
            <a:r>
              <a:rPr lang="en-US" altLang="ko-KR" sz="1400" dirty="0"/>
              <a:t>        row=[x[0],x[1],x[2],</a:t>
            </a:r>
            <a:r>
              <a:rPr lang="en-US" altLang="ko-KR" sz="1400" dirty="0" err="1">
                <a:solidFill>
                  <a:srgbClr val="FF0000"/>
                </a:solidFill>
              </a:rPr>
              <a:t>int</a:t>
            </a:r>
            <a:r>
              <a:rPr lang="en-US" altLang="ko-KR" sz="1400" dirty="0">
                <a:solidFill>
                  <a:srgbClr val="FF0000"/>
                </a:solidFill>
              </a:rPr>
              <a:t>(x[3])]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rows.append</a:t>
            </a:r>
            <a:r>
              <a:rPr lang="en-US" altLang="ko-KR" sz="1400" dirty="0"/>
              <a:t>(row)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파이썬</a:t>
            </a:r>
            <a:r>
              <a:rPr lang="ko-KR" altLang="en-US" sz="1400" dirty="0"/>
              <a:t> </a:t>
            </a:r>
            <a:r>
              <a:rPr lang="en-US" altLang="ko-KR" sz="1400" dirty="0"/>
              <a:t>pandas </a:t>
            </a:r>
            <a:r>
              <a:rPr lang="ko-KR" altLang="en-US" sz="1400" dirty="0"/>
              <a:t>를 이용하여 </a:t>
            </a:r>
            <a:r>
              <a:rPr lang="en-US" altLang="ko-KR" sz="1400" dirty="0" err="1"/>
              <a:t>str</a:t>
            </a:r>
            <a:r>
              <a:rPr lang="en-US" altLang="ko-KR" sz="1400" dirty="0"/>
              <a:t> </a:t>
            </a:r>
            <a:r>
              <a:rPr lang="ko-KR" altLang="en-US" sz="1400" dirty="0"/>
              <a:t>변수는 문제가 없으나</a:t>
            </a:r>
            <a:br>
              <a:rPr lang="en-US" altLang="ko-KR" sz="1400" dirty="0"/>
            </a:br>
            <a:r>
              <a:rPr lang="en-US" altLang="ko-KR" sz="1400" dirty="0" err="1"/>
              <a:t>int</a:t>
            </a:r>
            <a:r>
              <a:rPr lang="ko-KR" altLang="en-US" sz="1400" dirty="0"/>
              <a:t>인 경우는 변환 에러 발생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해결</a:t>
            </a:r>
            <a:r>
              <a:rPr lang="en-US" altLang="ko-KR" sz="1400" dirty="0">
                <a:solidFill>
                  <a:srgbClr val="FF0000"/>
                </a:solidFill>
              </a:rPr>
              <a:t>) </a:t>
            </a:r>
            <a:r>
              <a:rPr lang="en-US" altLang="ko-KR" sz="1400" dirty="0" err="1">
                <a:solidFill>
                  <a:srgbClr val="FF0000"/>
                </a:solidFill>
              </a:rPr>
              <a:t>int</a:t>
            </a:r>
            <a:r>
              <a:rPr lang="ko-KR" altLang="en-US" sz="1400" dirty="0">
                <a:solidFill>
                  <a:srgbClr val="FF0000"/>
                </a:solidFill>
              </a:rPr>
              <a:t>타입으로 한번 더 변경해 줌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D25B394-BFF0-45E0-B28E-C70F665B864D}"/>
              </a:ext>
            </a:extLst>
          </p:cNvPr>
          <p:cNvSpPr/>
          <p:nvPr/>
        </p:nvSpPr>
        <p:spPr>
          <a:xfrm>
            <a:off x="55879" y="2733804"/>
            <a:ext cx="5808025" cy="2602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C4F90585-66B8-4A7C-BD6D-FBB66D47128A}"/>
              </a:ext>
            </a:extLst>
          </p:cNvPr>
          <p:cNvCxnSpPr>
            <a:cxnSpLocks/>
            <a:stCxn id="33" idx="3"/>
            <a:endCxn id="32" idx="1"/>
          </p:cNvCxnSpPr>
          <p:nvPr/>
        </p:nvCxnSpPr>
        <p:spPr>
          <a:xfrm>
            <a:off x="5863904" y="2863948"/>
            <a:ext cx="271314" cy="115306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47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1094271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 select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 가져오기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cx_Oracle</a:t>
            </a:r>
            <a:endParaRPr lang="en-US" altLang="ko-KR" sz="1400" dirty="0"/>
          </a:p>
          <a:p>
            <a:pPr algn="l"/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rowfactory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를 통해 데이터 타입 변경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def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makeDictFactory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(cursor):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columnNames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[d[0] for d in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cursor.description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def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createRow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(*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):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   return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dict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(zip(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columnNames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args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))</a:t>
            </a:r>
          </a:p>
          <a:p>
            <a:pPr algn="l"/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return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createRow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오라클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conn = connections()</a:t>
            </a:r>
          </a:p>
          <a:p>
            <a:pPr algn="l"/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conn.cursor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algn="l"/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.execute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("select * from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test_tbl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where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rownum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&lt; 2")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algn="l"/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.rowfactory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makeDictFactory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b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l"/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rows = </a:t>
            </a:r>
            <a:r>
              <a:rPr lang="en-US" altLang="ko-KR" sz="1400" b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cursor</a:t>
            </a:r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.fetchall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for row in rows :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 print(row)</a:t>
            </a:r>
          </a:p>
          <a:p>
            <a:pPr algn="l"/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algn="l"/>
            <a:r>
              <a:rPr lang="en-US" altLang="ko-KR" sz="1400" b="0" i="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conn.close</a:t>
            </a:r>
            <a:r>
              <a:rPr lang="en-US" altLang="ko-KR" sz="1400" b="0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F2B670-C4A0-41C4-9249-D268DCE609F5}"/>
              </a:ext>
            </a:extLst>
          </p:cNvPr>
          <p:cNvSpPr txBox="1"/>
          <p:nvPr/>
        </p:nvSpPr>
        <p:spPr>
          <a:xfrm>
            <a:off x="9655728" y="6581001"/>
            <a:ext cx="2536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https://dololak.tistory.com/626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ECC87F-6FFC-4306-82D5-DC0F0E6B16C7}"/>
              </a:ext>
            </a:extLst>
          </p:cNvPr>
          <p:cNvSpPr/>
          <p:nvPr/>
        </p:nvSpPr>
        <p:spPr>
          <a:xfrm>
            <a:off x="6135218" y="992557"/>
            <a:ext cx="5844261" cy="403244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</a:t>
            </a:r>
            <a:r>
              <a:rPr lang="ko-KR" altLang="en-US" sz="1400" dirty="0"/>
              <a:t>다행히 </a:t>
            </a:r>
            <a:r>
              <a:rPr lang="en-US" altLang="ko-KR" sz="1400" dirty="0" err="1"/>
              <a:t>cxOracle</a:t>
            </a:r>
            <a:r>
              <a:rPr lang="ko-KR" altLang="en-US" sz="1400" dirty="0"/>
              <a:t>은 </a:t>
            </a:r>
            <a:r>
              <a:rPr lang="en-US" altLang="ko-KR" sz="1400" dirty="0"/>
              <a:t>cursor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rowfactory</a:t>
            </a:r>
            <a:r>
              <a:rPr lang="en-US" altLang="ko-KR" sz="1400" dirty="0"/>
              <a:t> </a:t>
            </a:r>
            <a:r>
              <a:rPr lang="ko-KR" altLang="en-US" sz="1400" dirty="0"/>
              <a:t>라는 메서드를 </a:t>
            </a:r>
            <a:br>
              <a:rPr lang="en-US" altLang="ko-KR" sz="1400" dirty="0"/>
            </a:br>
            <a:r>
              <a:rPr lang="ko-KR" altLang="en-US" sz="1400" dirty="0" err="1"/>
              <a:t>오버라이딩하여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리턴받는</a:t>
            </a:r>
            <a:r>
              <a:rPr lang="ko-KR" altLang="en-US" sz="1400" dirty="0"/>
              <a:t> 데이터의 형태를 바꿀 수 있음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/>
              <a:t>{'name': '</a:t>
            </a:r>
            <a:r>
              <a:rPr lang="en-US" altLang="ko-KR" sz="1400" dirty="0" err="1"/>
              <a:t>kim</a:t>
            </a:r>
            <a:r>
              <a:rPr lang="en-US" altLang="ko-KR" sz="1400" dirty="0"/>
              <a:t>', 'age': 27, 'address': '</a:t>
            </a:r>
            <a:r>
              <a:rPr lang="ko-KR" altLang="en-US" sz="1400" dirty="0"/>
              <a:t>서울시 광진구</a:t>
            </a:r>
            <a:r>
              <a:rPr lang="en-US" altLang="ko-KR" sz="1400" dirty="0"/>
              <a:t>’}</a:t>
            </a:r>
          </a:p>
          <a:p>
            <a:endParaRPr lang="en-US" altLang="ko-KR" sz="1400" dirty="0"/>
          </a:p>
          <a:p>
            <a:r>
              <a:rPr lang="en-US" altLang="ko-KR" sz="1400" dirty="0"/>
              <a:t>name = row['name']  #kim</a:t>
            </a:r>
          </a:p>
          <a:p>
            <a:r>
              <a:rPr lang="en-US" altLang="ko-KR" sz="1400" dirty="0"/>
              <a:t>age = row['age']   #27</a:t>
            </a:r>
          </a:p>
          <a:p>
            <a:r>
              <a:rPr lang="en-US" altLang="ko-KR" sz="1400" dirty="0"/>
              <a:t>address = row['address'] #</a:t>
            </a:r>
            <a:r>
              <a:rPr lang="ko-KR" altLang="en-US" sz="1400" dirty="0"/>
              <a:t>서울시 광진구</a:t>
            </a:r>
            <a:br>
              <a:rPr lang="en-US" altLang="ko-KR" sz="1400" dirty="0"/>
            </a:br>
            <a:endParaRPr lang="en-US" altLang="ko-KR" sz="1400" dirty="0"/>
          </a:p>
          <a:p>
            <a:r>
              <a:rPr lang="en-US" altLang="ko-KR" sz="1400" dirty="0"/>
              <a:t>--------------------------------------------------------------------------------</a:t>
            </a:r>
          </a:p>
          <a:p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en-US" altLang="ko-KR" sz="1400" dirty="0" err="1"/>
              <a:t>cxOracle</a:t>
            </a:r>
            <a:r>
              <a:rPr lang="en-US" altLang="ko-KR" sz="1400" dirty="0"/>
              <a:t> </a:t>
            </a:r>
            <a:r>
              <a:rPr lang="ko-KR" altLang="en-US" sz="1400" dirty="0"/>
              <a:t>라이브러리는 </a:t>
            </a:r>
            <a:r>
              <a:rPr lang="en-US" altLang="ko-KR" sz="1400" dirty="0"/>
              <a:t>SELECT </a:t>
            </a:r>
            <a:r>
              <a:rPr lang="ko-KR" altLang="en-US" sz="1400" dirty="0"/>
              <a:t>해오는 쿼리 결과 </a:t>
            </a:r>
            <a:r>
              <a:rPr lang="en-US" altLang="ko-KR" sz="1400" dirty="0"/>
              <a:t>: tuple</a:t>
            </a:r>
            <a:r>
              <a:rPr lang="ko-KR" altLang="en-US" sz="1400" dirty="0"/>
              <a:t>형태 </a:t>
            </a:r>
            <a:r>
              <a:rPr lang="en-US" altLang="ko-KR" sz="1400" dirty="0"/>
              <a:t>list</a:t>
            </a:r>
            <a:r>
              <a:rPr lang="ko-KR" altLang="en-US" sz="1400" dirty="0"/>
              <a:t>타입 </a:t>
            </a:r>
            <a:endParaRPr lang="en-US" altLang="ko-KR" sz="1400" dirty="0"/>
          </a:p>
          <a:p>
            <a:endParaRPr lang="ko-KR" altLang="en-US" sz="1400" dirty="0"/>
          </a:p>
          <a:p>
            <a:r>
              <a:rPr lang="en-US" altLang="ko-KR" sz="1400" dirty="0"/>
              <a:t>('</a:t>
            </a:r>
            <a:r>
              <a:rPr lang="en-US" altLang="ko-KR" sz="1400" dirty="0" err="1"/>
              <a:t>kim</a:t>
            </a:r>
            <a:r>
              <a:rPr lang="en-US" altLang="ko-KR" sz="1400" dirty="0"/>
              <a:t>', 27, '</a:t>
            </a:r>
            <a:r>
              <a:rPr lang="ko-KR" altLang="en-US" sz="1400" dirty="0"/>
              <a:t>서울시 광진구’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name = row[0]  #kim</a:t>
            </a:r>
          </a:p>
          <a:p>
            <a:r>
              <a:rPr lang="en-US" altLang="ko-KR" sz="1400" dirty="0"/>
              <a:t>age = row[1]   #27</a:t>
            </a:r>
          </a:p>
          <a:p>
            <a:r>
              <a:rPr lang="en-US" altLang="ko-KR" sz="1400" dirty="0"/>
              <a:t>address = row[2] #</a:t>
            </a:r>
            <a:r>
              <a:rPr lang="ko-KR" altLang="en-US" sz="1400" dirty="0"/>
              <a:t>서울시 광진구</a:t>
            </a:r>
            <a:br>
              <a:rPr lang="en-US" altLang="ko-KR" sz="1400" dirty="0"/>
            </a:br>
            <a:endParaRPr lang="en-US" altLang="ko-KR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0E3A9A-0F4C-4B60-BDED-F83931B7E653}"/>
              </a:ext>
            </a:extLst>
          </p:cNvPr>
          <p:cNvSpPr/>
          <p:nvPr/>
        </p:nvSpPr>
        <p:spPr>
          <a:xfrm>
            <a:off x="55879" y="1409350"/>
            <a:ext cx="5808025" cy="1828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6BD331B-15D6-4A40-9D8B-BC6E81EDCF11}"/>
              </a:ext>
            </a:extLst>
          </p:cNvPr>
          <p:cNvCxnSpPr>
            <a:cxnSpLocks/>
            <a:stCxn id="35" idx="3"/>
            <a:endCxn id="27" idx="1"/>
          </p:cNvCxnSpPr>
          <p:nvPr/>
        </p:nvCxnSpPr>
        <p:spPr>
          <a:xfrm>
            <a:off x="5863904" y="2323750"/>
            <a:ext cx="271314" cy="68503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27E632-185D-4F8C-A0E3-6B3D15ECC735}"/>
              </a:ext>
            </a:extLst>
          </p:cNvPr>
          <p:cNvSpPr/>
          <p:nvPr/>
        </p:nvSpPr>
        <p:spPr>
          <a:xfrm>
            <a:off x="6135218" y="5221157"/>
            <a:ext cx="5844261" cy="100649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</a:t>
            </a:r>
            <a:r>
              <a:rPr lang="ko-KR" altLang="en-US" sz="1400" dirty="0"/>
              <a:t>데이터를 확인</a:t>
            </a:r>
            <a:br>
              <a:rPr lang="en-US" altLang="ko-KR" sz="1400" dirty="0"/>
            </a:br>
            <a:r>
              <a:rPr lang="en-US" altLang="ko-KR" sz="1400" dirty="0"/>
              <a:t>name = row['name']  #kim</a:t>
            </a:r>
          </a:p>
          <a:p>
            <a:r>
              <a:rPr lang="en-US" altLang="ko-KR" sz="1400" dirty="0"/>
              <a:t>age = row['age']   #27</a:t>
            </a:r>
          </a:p>
          <a:p>
            <a:r>
              <a:rPr lang="en-US" altLang="ko-KR" sz="1400" dirty="0"/>
              <a:t>address = row['address'] #</a:t>
            </a:r>
            <a:r>
              <a:rPr lang="ko-KR" altLang="en-US" sz="1400" dirty="0"/>
              <a:t>서울시 광진구</a:t>
            </a:r>
            <a:endParaRPr lang="en-US" altLang="ko-KR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DAD2965-0DC7-47F6-8B25-DD9658A89502}"/>
              </a:ext>
            </a:extLst>
          </p:cNvPr>
          <p:cNvSpPr/>
          <p:nvPr/>
        </p:nvSpPr>
        <p:spPr>
          <a:xfrm>
            <a:off x="55879" y="5221157"/>
            <a:ext cx="5808025" cy="5588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D3DBAFE4-B167-471E-A1C5-B7EA3EAB7D31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5863904" y="5500586"/>
            <a:ext cx="271314" cy="223818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194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BED8-1BAC-EA47-1226-E60650C8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A5C3B331-1B26-8701-72BE-0756D0BF8016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1727E16-2B9C-6A35-27EA-7AA35411835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F670E58-FD14-1054-579A-518FE1DBCDF1}"/>
              </a:ext>
            </a:extLst>
          </p:cNvPr>
          <p:cNvSpPr txBox="1"/>
          <p:nvPr/>
        </p:nvSpPr>
        <p:spPr>
          <a:xfrm>
            <a:off x="982511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 select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검색하려는 데이터 입력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468FC7D-79E8-E347-EB69-1019874F3B9A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23AC7C4-A39F-8859-8553-A93092B1E5F5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1D2EE9-CE65-1D78-8200-C86BB4DF9706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oracledb</a:t>
            </a:r>
            <a:endParaRPr lang="en-US" altLang="ko-KR" sz="1400" dirty="0"/>
          </a:p>
          <a:p>
            <a:r>
              <a:rPr lang="en-US" altLang="ko-KR" sz="1400" dirty="0"/>
              <a:t>conn = </a:t>
            </a:r>
            <a:r>
              <a:rPr lang="en-US" altLang="ko-KR" sz="1400" dirty="0" err="1"/>
              <a:t>oracledb.connect</a:t>
            </a:r>
            <a:r>
              <a:rPr lang="en-US" altLang="ko-KR" sz="1400" dirty="0"/>
              <a:t>(user='</a:t>
            </a:r>
            <a:r>
              <a:rPr lang="en-US" altLang="ko-KR" sz="1400" dirty="0" err="1"/>
              <a:t>ora_user',password</a:t>
            </a:r>
            <a:r>
              <a:rPr lang="en-US" altLang="ko-KR" sz="1400" dirty="0"/>
              <a:t>='1111',dsn='localhost:1521/</a:t>
            </a:r>
            <a:r>
              <a:rPr lang="en-US" altLang="ko-KR" sz="1400" dirty="0" err="1"/>
              <a:t>xe</a:t>
            </a:r>
            <a:r>
              <a:rPr lang="en-US" altLang="ko-KR" sz="1400" dirty="0"/>
              <a:t>')</a:t>
            </a:r>
          </a:p>
          <a:p>
            <a:r>
              <a:rPr lang="en-US" altLang="ko-KR" sz="1400" dirty="0"/>
              <a:t>cursor = </a:t>
            </a:r>
            <a:r>
              <a:rPr lang="en-US" altLang="ko-KR" sz="1400" dirty="0" err="1"/>
              <a:t>conn.cursor</a:t>
            </a:r>
            <a:r>
              <a:rPr lang="en-US" altLang="ko-KR" sz="1400" dirty="0"/>
              <a:t>()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ko-KR" altLang="en-US" sz="1400" dirty="0"/>
              <a:t>작성</a:t>
            </a:r>
            <a:r>
              <a:rPr lang="en-US" altLang="ko-KR" sz="1400" dirty="0"/>
              <a:t>,</a:t>
            </a:r>
            <a:r>
              <a:rPr lang="ko-KR" altLang="en-US" sz="1400" dirty="0"/>
              <a:t>실행</a:t>
            </a:r>
          </a:p>
          <a:p>
            <a:r>
              <a:rPr lang="en-US" altLang="ko-KR" sz="1400" dirty="0"/>
              <a:t>num = input("</a:t>
            </a:r>
            <a:r>
              <a:rPr lang="ko-KR" altLang="en-US" sz="1400" dirty="0"/>
              <a:t>숫자를 입력하세요</a:t>
            </a:r>
            <a:r>
              <a:rPr lang="en-US" altLang="ko-KR" sz="1400" dirty="0"/>
              <a:t>&gt;&gt;(,</a:t>
            </a:r>
            <a:r>
              <a:rPr lang="ko-KR" altLang="en-US" sz="1400" dirty="0"/>
              <a:t>해서 </a:t>
            </a:r>
            <a:r>
              <a:rPr lang="ko-KR" altLang="en-US" sz="1400" dirty="0" err="1"/>
              <a:t>입력하시오</a:t>
            </a:r>
            <a:r>
              <a:rPr lang="en-US" altLang="ko-KR" sz="1400" dirty="0"/>
              <a:t>.) ")</a:t>
            </a:r>
          </a:p>
          <a:p>
            <a:r>
              <a:rPr lang="en-US" altLang="ko-KR" sz="1400" dirty="0"/>
              <a:t># 10,20,30</a:t>
            </a:r>
          </a:p>
          <a:p>
            <a:r>
              <a:rPr lang="en-US" altLang="ko-KR" sz="1400" dirty="0" err="1"/>
              <a:t>n_list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num.split</a:t>
            </a:r>
            <a:r>
              <a:rPr lang="en-US" altLang="ko-KR" sz="1400" dirty="0"/>
              <a:t>(",")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no=10,20,30 </a:t>
            </a:r>
            <a:r>
              <a:rPr lang="ko-KR" altLang="en-US" sz="1400" dirty="0"/>
              <a:t>을 검색해서 </a:t>
            </a:r>
            <a:r>
              <a:rPr lang="ko-KR" altLang="en-US" sz="1400" dirty="0" err="1"/>
              <a:t>출력하시오</a:t>
            </a:r>
            <a:r>
              <a:rPr lang="en-US" altLang="ko-KR" sz="1400" dirty="0"/>
              <a:t>. 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= "select * from students where no in(:no1,:no2,:no3)"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cursor.execute</a:t>
            </a:r>
            <a:r>
              <a:rPr lang="en-US" altLang="ko-KR" sz="1400" dirty="0"/>
              <a:t>(sql,no1=num,no2=num2,no3=num3)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3. </a:t>
            </a:r>
            <a:r>
              <a:rPr lang="en-US" altLang="ko-KR" sz="1400" dirty="0" err="1"/>
              <a:t>excute</a:t>
            </a:r>
            <a:r>
              <a:rPr lang="ko-KR" altLang="en-US" sz="1400" dirty="0"/>
              <a:t>함수 </a:t>
            </a:r>
            <a:r>
              <a:rPr lang="en-US" altLang="ko-KR" sz="1400" dirty="0"/>
              <a:t>: </a:t>
            </a:r>
            <a:r>
              <a:rPr lang="ko-KR" altLang="en-US" sz="1400" dirty="0"/>
              <a:t>리스트 값 전달 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excute</a:t>
            </a:r>
            <a:r>
              <a:rPr lang="ko-KR" altLang="en-US" sz="1400" dirty="0"/>
              <a:t>뒤에는 </a:t>
            </a:r>
            <a:r>
              <a:rPr lang="en-US" altLang="ko-KR" sz="1400" dirty="0" err="1"/>
              <a:t>dict,list,tuple</a:t>
            </a:r>
            <a:r>
              <a:rPr lang="ko-KR" altLang="en-US" sz="1400" dirty="0"/>
              <a:t>타입만 가능</a:t>
            </a:r>
          </a:p>
          <a:p>
            <a:r>
              <a:rPr lang="en-US" altLang="ko-KR" sz="1400" dirty="0" err="1"/>
              <a:t>sql</a:t>
            </a:r>
            <a:r>
              <a:rPr lang="en-US" altLang="ko-KR" sz="1400" dirty="0"/>
              <a:t> = "select * from students where no in(:1,:2)"</a:t>
            </a:r>
          </a:p>
          <a:p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sql,n_list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2. </a:t>
            </a:r>
            <a:r>
              <a:rPr lang="en-US" altLang="ko-KR" sz="1400" dirty="0" err="1"/>
              <a:t>excute</a:t>
            </a:r>
            <a:r>
              <a:rPr lang="ko-KR" altLang="en-US" sz="1400" dirty="0"/>
              <a:t>함수 </a:t>
            </a:r>
            <a:r>
              <a:rPr lang="en-US" altLang="ko-KR" sz="1400" dirty="0"/>
              <a:t>: </a:t>
            </a:r>
            <a:r>
              <a:rPr lang="ko-KR" altLang="en-US" sz="1400" dirty="0"/>
              <a:t>변수 </a:t>
            </a:r>
            <a:r>
              <a:rPr lang="en-US" altLang="ko-KR" sz="1400" dirty="0"/>
              <a:t>key</a:t>
            </a:r>
            <a:r>
              <a:rPr lang="ko-KR" altLang="en-US" sz="1400" dirty="0"/>
              <a:t>값 전달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= "select * from students where no&gt;:no"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sql,no</a:t>
            </a:r>
            <a:r>
              <a:rPr lang="en-US" altLang="ko-KR" sz="1400" dirty="0"/>
              <a:t>=num)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1.</a:t>
            </a:r>
            <a:r>
              <a:rPr lang="ko-KR" altLang="en-US" sz="1400" dirty="0"/>
              <a:t>문자열함수 </a:t>
            </a:r>
            <a:r>
              <a:rPr lang="en-US" altLang="ko-KR" sz="1400" dirty="0"/>
              <a:t>f</a:t>
            </a:r>
            <a:r>
              <a:rPr lang="ko-KR" altLang="en-US" sz="1400" dirty="0"/>
              <a:t>사용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f"select</a:t>
            </a:r>
            <a:r>
              <a:rPr lang="en-US" altLang="ko-KR" sz="1400" dirty="0"/>
              <a:t> * from students where no&gt;={num}"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2810C-9355-8BCE-E8CF-6BA3FA951BD4}"/>
              </a:ext>
            </a:extLst>
          </p:cNvPr>
          <p:cNvSpPr/>
          <p:nvPr/>
        </p:nvSpPr>
        <p:spPr>
          <a:xfrm>
            <a:off x="6135218" y="992557"/>
            <a:ext cx="5844261" cy="586544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</a:t>
            </a:r>
            <a:r>
              <a:rPr lang="ko-KR" altLang="en-US" sz="1400" dirty="0"/>
              <a:t>데이터 가져오기 </a:t>
            </a:r>
            <a:r>
              <a:rPr lang="en-US" altLang="ko-KR" sz="1400" dirty="0"/>
              <a:t>- </a:t>
            </a:r>
            <a:r>
              <a:rPr lang="en-US" altLang="ko-KR" sz="1400" dirty="0" err="1"/>
              <a:t>fetchone</a:t>
            </a:r>
            <a:r>
              <a:rPr lang="en-US" altLang="ko-KR" sz="1400" dirty="0"/>
              <a:t>():1</a:t>
            </a:r>
            <a:r>
              <a:rPr lang="ko-KR" altLang="en-US" sz="1400" dirty="0"/>
              <a:t>개</a:t>
            </a:r>
            <a:r>
              <a:rPr lang="en-US" altLang="ko-KR" sz="1400" dirty="0"/>
              <a:t>,</a:t>
            </a:r>
            <a:r>
              <a:rPr lang="en-US" altLang="ko-KR" sz="1400" dirty="0" err="1"/>
              <a:t>fetchmany</a:t>
            </a:r>
            <a:r>
              <a:rPr lang="en-US" altLang="ko-KR" sz="1400" dirty="0"/>
              <a:t>(10):</a:t>
            </a:r>
            <a:r>
              <a:rPr lang="ko-KR" altLang="en-US" sz="1400" dirty="0"/>
              <a:t>숫자만큼</a:t>
            </a:r>
            <a:r>
              <a:rPr lang="en-US" altLang="ko-KR" sz="1400" dirty="0"/>
              <a:t>,</a:t>
            </a:r>
            <a:r>
              <a:rPr lang="en-US" altLang="ko-KR" sz="1400" dirty="0" err="1"/>
              <a:t>fetchall</a:t>
            </a:r>
            <a:r>
              <a:rPr lang="en-US" altLang="ko-KR" sz="1400" dirty="0"/>
              <a:t>():</a:t>
            </a:r>
            <a:r>
              <a:rPr lang="ko-KR" altLang="en-US" sz="1400" dirty="0" err="1"/>
              <a:t>모든것</a:t>
            </a:r>
            <a:endParaRPr lang="ko-KR" altLang="en-US" sz="1400" dirty="0"/>
          </a:p>
          <a:p>
            <a:r>
              <a:rPr lang="en-US" altLang="ko-KR" sz="1400" dirty="0"/>
              <a:t>rows = </a:t>
            </a:r>
            <a:r>
              <a:rPr lang="en-US" altLang="ko-KR" sz="1400" dirty="0" err="1"/>
              <a:t>cursor.fetchall</a:t>
            </a:r>
            <a:r>
              <a:rPr lang="en-US" altLang="ko-KR" sz="1400" dirty="0"/>
              <a:t>()</a:t>
            </a:r>
          </a:p>
          <a:p>
            <a:r>
              <a:rPr lang="en-US" altLang="ko-KR" sz="1400" dirty="0"/>
              <a:t>titles = ['</a:t>
            </a:r>
            <a:r>
              <a:rPr lang="ko-KR" altLang="en-US" sz="1400" dirty="0"/>
              <a:t>번호</a:t>
            </a:r>
            <a:r>
              <a:rPr lang="en-US" altLang="ko-KR" sz="1400" dirty="0"/>
              <a:t>','</a:t>
            </a:r>
            <a:r>
              <a:rPr lang="ko-KR" altLang="en-US" sz="1400" dirty="0"/>
              <a:t>이름</a:t>
            </a:r>
            <a:r>
              <a:rPr lang="en-US" altLang="ko-KR" sz="1400" dirty="0"/>
              <a:t>','</a:t>
            </a:r>
            <a:r>
              <a:rPr lang="ko-KR" altLang="en-US" sz="1400" dirty="0"/>
              <a:t>국어</a:t>
            </a:r>
            <a:r>
              <a:rPr lang="en-US" altLang="ko-KR" sz="1400" dirty="0"/>
              <a:t>','</a:t>
            </a:r>
            <a:r>
              <a:rPr lang="ko-KR" altLang="en-US" sz="1400" dirty="0"/>
              <a:t>영어</a:t>
            </a:r>
            <a:r>
              <a:rPr lang="en-US" altLang="ko-KR" sz="1400" dirty="0"/>
              <a:t>','</a:t>
            </a:r>
            <a:r>
              <a:rPr lang="ko-KR" altLang="en-US" sz="1400" dirty="0"/>
              <a:t>수학</a:t>
            </a:r>
            <a:r>
              <a:rPr lang="en-US" altLang="ko-KR" sz="1400" dirty="0"/>
              <a:t>','</a:t>
            </a:r>
            <a:r>
              <a:rPr lang="ko-KR" altLang="en-US" sz="1400" dirty="0"/>
              <a:t>합계</a:t>
            </a:r>
            <a:r>
              <a:rPr lang="en-US" altLang="ko-KR" sz="1400" dirty="0"/>
              <a:t>','</a:t>
            </a:r>
            <a:r>
              <a:rPr lang="ko-KR" altLang="en-US" sz="1400" dirty="0"/>
              <a:t>평균</a:t>
            </a:r>
            <a:r>
              <a:rPr lang="en-US" altLang="ko-KR" sz="1400" dirty="0"/>
              <a:t>','</a:t>
            </a:r>
            <a:r>
              <a:rPr lang="ko-KR" altLang="en-US" sz="1400" dirty="0"/>
              <a:t>등수</a:t>
            </a:r>
            <a:r>
              <a:rPr lang="en-US" altLang="ko-KR" sz="1400" dirty="0"/>
              <a:t>','</a:t>
            </a:r>
            <a:r>
              <a:rPr lang="ko-KR" altLang="en-US" sz="1400" dirty="0"/>
              <a:t>등록일</a:t>
            </a:r>
            <a:r>
              <a:rPr lang="en-US" altLang="ko-KR" sz="1400" dirty="0"/>
              <a:t>']</a:t>
            </a:r>
          </a:p>
          <a:p>
            <a:r>
              <a:rPr lang="en-US" altLang="ko-KR" sz="1400" dirty="0"/>
              <a:t>for title in titles:</a:t>
            </a:r>
          </a:p>
          <a:p>
            <a:r>
              <a:rPr lang="en-US" altLang="ko-KR" sz="1400" dirty="0"/>
              <a:t>  print(</a:t>
            </a:r>
            <a:r>
              <a:rPr lang="en-US" altLang="ko-KR" sz="1400" dirty="0" err="1"/>
              <a:t>title,end</a:t>
            </a:r>
            <a:r>
              <a:rPr lang="en-US" altLang="ko-KR" sz="1400" dirty="0"/>
              <a:t>="\t")</a:t>
            </a:r>
          </a:p>
          <a:p>
            <a:r>
              <a:rPr lang="en-US" altLang="ko-KR" sz="1400" dirty="0"/>
              <a:t>print()</a:t>
            </a:r>
          </a:p>
          <a:p>
            <a:r>
              <a:rPr lang="en-US" altLang="ko-KR" sz="1400" dirty="0"/>
              <a:t>print("-"*80)  </a:t>
            </a:r>
          </a:p>
          <a:p>
            <a:endParaRPr lang="en-US" altLang="ko-KR" sz="1400" dirty="0"/>
          </a:p>
          <a:p>
            <a:r>
              <a:rPr lang="en-US" altLang="ko-KR" sz="1400" dirty="0"/>
              <a:t>for row in rows:</a:t>
            </a:r>
          </a:p>
          <a:p>
            <a:r>
              <a:rPr lang="en-US" altLang="ko-KR" sz="1400" dirty="0"/>
              <a:t>  for </a:t>
            </a:r>
            <a:r>
              <a:rPr lang="en-US" altLang="ko-KR" sz="1400" dirty="0" err="1"/>
              <a:t>i,r</a:t>
            </a:r>
            <a:r>
              <a:rPr lang="en-US" altLang="ko-KR" sz="1400" dirty="0"/>
              <a:t> in enumerate(row):</a:t>
            </a:r>
          </a:p>
          <a:p>
            <a:r>
              <a:rPr lang="en-US" altLang="ko-KR" sz="1400" dirty="0"/>
              <a:t>    if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== 1:</a:t>
            </a:r>
          </a:p>
          <a:p>
            <a:r>
              <a:rPr lang="en-US" altLang="ko-KR" sz="1400" dirty="0"/>
              <a:t>      print(f"{r:10s}",end="\t")</a:t>
            </a:r>
          </a:p>
          <a:p>
            <a:r>
              <a:rPr lang="en-US" altLang="ko-KR" sz="1400" dirty="0"/>
              <a:t>      continue</a:t>
            </a:r>
          </a:p>
          <a:p>
            <a:r>
              <a:rPr lang="en-US" altLang="ko-KR" sz="1400" dirty="0"/>
              <a:t>    if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== 6:</a:t>
            </a:r>
          </a:p>
          <a:p>
            <a:r>
              <a:rPr lang="en-US" altLang="ko-KR" sz="1400" dirty="0"/>
              <a:t>      print(f"{r:.2f}",end="\t")</a:t>
            </a:r>
          </a:p>
          <a:p>
            <a:r>
              <a:rPr lang="en-US" altLang="ko-KR" sz="1400" dirty="0"/>
              <a:t>      continue</a:t>
            </a:r>
          </a:p>
          <a:p>
            <a:r>
              <a:rPr lang="en-US" altLang="ko-KR" sz="1400" dirty="0"/>
              <a:t>    if </a:t>
            </a:r>
            <a:r>
              <a:rPr lang="en-US" altLang="ko-KR" sz="1400" dirty="0" err="1"/>
              <a:t>i</a:t>
            </a:r>
            <a:r>
              <a:rPr lang="en-US" altLang="ko-KR" sz="1400" dirty="0"/>
              <a:t> == 8:</a:t>
            </a:r>
          </a:p>
          <a:p>
            <a:r>
              <a:rPr lang="en-US" altLang="ko-KR" sz="1400" dirty="0"/>
              <a:t>      # </a:t>
            </a:r>
            <a:r>
              <a:rPr lang="en-US" altLang="ko-KR" sz="1400" dirty="0" err="1"/>
              <a:t>strftime</a:t>
            </a:r>
            <a:r>
              <a:rPr lang="en-US" altLang="ko-KR" sz="1400" dirty="0"/>
              <a:t>()</a:t>
            </a:r>
            <a:r>
              <a:rPr lang="ko-KR" altLang="en-US" sz="1400" dirty="0"/>
              <a:t>함수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날짜포맷함수</a:t>
            </a:r>
            <a:r>
              <a:rPr lang="ko-KR" altLang="en-US" sz="1400" dirty="0"/>
              <a:t> </a:t>
            </a:r>
            <a:r>
              <a:rPr lang="en-US" altLang="ko-KR" sz="1400" dirty="0"/>
              <a:t>%Y : 2024 , %y : 24</a:t>
            </a:r>
          </a:p>
          <a:p>
            <a:r>
              <a:rPr lang="en-US" altLang="ko-KR" sz="1400" dirty="0"/>
              <a:t>      print(</a:t>
            </a:r>
            <a:r>
              <a:rPr lang="en-US" altLang="ko-KR" sz="1400" dirty="0" err="1"/>
              <a:t>r.strftime</a:t>
            </a:r>
            <a:r>
              <a:rPr lang="en-US" altLang="ko-KR" sz="1400" dirty="0"/>
              <a:t>("%Y-%m-%d"),end="\t")</a:t>
            </a:r>
          </a:p>
          <a:p>
            <a:r>
              <a:rPr lang="en-US" altLang="ko-KR" sz="1400" dirty="0"/>
              <a:t>      continue</a:t>
            </a:r>
          </a:p>
          <a:p>
            <a:r>
              <a:rPr lang="en-US" altLang="ko-KR" sz="1400" dirty="0"/>
              <a:t>    print(</a:t>
            </a:r>
            <a:r>
              <a:rPr lang="en-US" altLang="ko-KR" sz="1400" dirty="0" err="1"/>
              <a:t>r,end</a:t>
            </a:r>
            <a:r>
              <a:rPr lang="en-US" altLang="ko-KR" sz="1400" dirty="0"/>
              <a:t>="\t")</a:t>
            </a:r>
          </a:p>
          <a:p>
            <a:r>
              <a:rPr lang="en-US" altLang="ko-KR" sz="1400" dirty="0"/>
              <a:t>  print()  </a:t>
            </a:r>
          </a:p>
          <a:p>
            <a:r>
              <a:rPr lang="en-US" altLang="ko-KR" sz="1400" dirty="0"/>
              <a:t>  </a:t>
            </a: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종료</a:t>
            </a:r>
          </a:p>
          <a:p>
            <a:r>
              <a:rPr lang="en-US" altLang="ko-KR" sz="1400" dirty="0" err="1"/>
              <a:t>conn.close</a:t>
            </a:r>
            <a:r>
              <a:rPr lang="en-US" altLang="ko-KR" sz="1400" dirty="0"/>
              <a:t>()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F40C19-A618-C921-79D5-216F6E5AD580}"/>
              </a:ext>
            </a:extLst>
          </p:cNvPr>
          <p:cNvSpPr/>
          <p:nvPr/>
        </p:nvSpPr>
        <p:spPr>
          <a:xfrm>
            <a:off x="55879" y="4093828"/>
            <a:ext cx="5942249" cy="27641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26494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FE8D-6134-4EBE-770C-BBFCB47A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AAC234F-150A-69D2-AC6F-17E2B60A9B01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4873A45-D797-C9F2-A112-AFA19753D47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496567-8EFF-EAFF-E5B5-FF59A3333074}"/>
              </a:ext>
            </a:extLst>
          </p:cNvPr>
          <p:cNvSpPr txBox="1"/>
          <p:nvPr/>
        </p:nvSpPr>
        <p:spPr>
          <a:xfrm>
            <a:off x="982511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 select  like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95135C-D729-EA60-6308-36BED616AAB7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05C0F18-C640-9494-E669-722C49F94A1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5B11E0-7B29-7F85-F191-72A35AE20A3F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oracledb</a:t>
            </a:r>
            <a:endParaRPr lang="en-US" altLang="ko-KR" sz="1400" dirty="0"/>
          </a:p>
          <a:p>
            <a:r>
              <a:rPr lang="en-US" altLang="ko-KR" sz="1400" dirty="0"/>
              <a:t>conn = </a:t>
            </a:r>
            <a:r>
              <a:rPr lang="en-US" altLang="ko-KR" sz="1400" dirty="0" err="1"/>
              <a:t>oracledb.connect</a:t>
            </a:r>
            <a:r>
              <a:rPr lang="en-US" altLang="ko-KR" sz="1400" dirty="0"/>
              <a:t>(user='</a:t>
            </a:r>
            <a:r>
              <a:rPr lang="en-US" altLang="ko-KR" sz="1400" dirty="0" err="1"/>
              <a:t>ora_user',password</a:t>
            </a:r>
            <a:r>
              <a:rPr lang="en-US" altLang="ko-KR" sz="1400" dirty="0"/>
              <a:t>='1111',dsn='localhost:1521/</a:t>
            </a:r>
            <a:r>
              <a:rPr lang="en-US" altLang="ko-KR" sz="1400" dirty="0" err="1"/>
              <a:t>xe</a:t>
            </a:r>
            <a:r>
              <a:rPr lang="en-US" altLang="ko-KR" sz="1400" dirty="0"/>
              <a:t>')</a:t>
            </a:r>
          </a:p>
          <a:p>
            <a:r>
              <a:rPr lang="en-US" altLang="ko-KR" sz="1400" dirty="0"/>
              <a:t>cursor = </a:t>
            </a:r>
            <a:r>
              <a:rPr lang="en-US" altLang="ko-KR" sz="1400" dirty="0" err="1"/>
              <a:t>conn.cursor</a:t>
            </a:r>
            <a:r>
              <a:rPr lang="en-US" altLang="ko-KR" sz="1400" dirty="0"/>
              <a:t>()</a:t>
            </a:r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입력한 값을 가지고 이름이 포함되어 있는 데이터를 </a:t>
            </a:r>
            <a:r>
              <a:rPr lang="ko-KR" altLang="en-US" sz="1400" dirty="0" err="1"/>
              <a:t>출력하시오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search = input("</a:t>
            </a:r>
            <a:r>
              <a:rPr lang="ko-KR" altLang="en-US" sz="1400" dirty="0"/>
              <a:t>이름을 입력하세요</a:t>
            </a:r>
            <a:r>
              <a:rPr lang="en-US" altLang="ko-KR" sz="1400" dirty="0"/>
              <a:t>.&gt;&gt; ")</a:t>
            </a:r>
          </a:p>
          <a:p>
            <a:r>
              <a:rPr lang="en-US" altLang="ko-KR" sz="1400" dirty="0"/>
              <a:t>search = '%'+search+'%'</a:t>
            </a:r>
          </a:p>
          <a:p>
            <a:r>
              <a:rPr lang="en-US" altLang="ko-KR" sz="1400" dirty="0" err="1"/>
              <a:t>sql</a:t>
            </a:r>
            <a:r>
              <a:rPr lang="en-US" altLang="ko-KR" sz="1400" dirty="0"/>
              <a:t> = "select * from employees where </a:t>
            </a:r>
            <a:r>
              <a:rPr lang="en-US" altLang="ko-KR" sz="1400" dirty="0" err="1"/>
              <a:t>emp_name</a:t>
            </a:r>
            <a:r>
              <a:rPr lang="en-US" altLang="ko-KR" sz="1400" dirty="0"/>
              <a:t> like :search "</a:t>
            </a:r>
          </a:p>
          <a:p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sql,search</a:t>
            </a:r>
            <a:r>
              <a:rPr lang="en-US" altLang="ko-KR" sz="1400" dirty="0"/>
              <a:t>=search)</a:t>
            </a:r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# search = input("</a:t>
            </a:r>
            <a:r>
              <a:rPr lang="ko-KR" altLang="en-US" sz="1400" dirty="0"/>
              <a:t>번호검색 </a:t>
            </a:r>
            <a:r>
              <a:rPr lang="en-US" altLang="ko-KR" sz="1400" dirty="0"/>
              <a:t>&gt;&gt; ")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= "select * from employees where </a:t>
            </a:r>
            <a:r>
              <a:rPr lang="en-US" altLang="ko-KR" sz="1400" dirty="0" err="1"/>
              <a:t>emp_name</a:t>
            </a:r>
            <a:r>
              <a:rPr lang="en-US" altLang="ko-KR" sz="1400" dirty="0"/>
              <a:t> like '%:search%'"</a:t>
            </a: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키워드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= "select * from employees where </a:t>
            </a:r>
            <a:r>
              <a:rPr lang="en-US" altLang="ko-KR" sz="1400" dirty="0" err="1"/>
              <a:t>employee_id</a:t>
            </a:r>
            <a:r>
              <a:rPr lang="en-US" altLang="ko-KR" sz="1400" dirty="0"/>
              <a:t>&gt;=:search"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sql,search</a:t>
            </a:r>
            <a:r>
              <a:rPr lang="en-US" altLang="ko-KR" sz="1400" dirty="0"/>
              <a:t>=search)</a:t>
            </a:r>
          </a:p>
          <a:p>
            <a:r>
              <a:rPr lang="en-US" altLang="ko-KR" sz="1400" dirty="0"/>
              <a:t># </a:t>
            </a:r>
            <a:r>
              <a:rPr lang="ko-KR" altLang="en-US" sz="1400" dirty="0"/>
              <a:t>번호순서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 = "select * from employees where </a:t>
            </a:r>
            <a:r>
              <a:rPr lang="en-US" altLang="ko-KR" sz="1400" dirty="0" err="1"/>
              <a:t>employee_id</a:t>
            </a:r>
            <a:r>
              <a:rPr lang="en-US" altLang="ko-KR" sz="1400" dirty="0"/>
              <a:t>&gt;=:1"</a:t>
            </a:r>
          </a:p>
          <a:p>
            <a:r>
              <a:rPr lang="en-US" altLang="ko-KR" sz="1400" dirty="0"/>
              <a:t># </a:t>
            </a:r>
            <a:r>
              <a:rPr lang="en-US" altLang="ko-KR" sz="1400" dirty="0" err="1"/>
              <a:t>cursor.execute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sql</a:t>
            </a:r>
            <a:r>
              <a:rPr lang="en-US" altLang="ko-KR" sz="1400" dirty="0"/>
              <a:t>,[search])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2F6199-B4B5-6802-7458-D7EA9841BE9D}"/>
              </a:ext>
            </a:extLst>
          </p:cNvPr>
          <p:cNvSpPr/>
          <p:nvPr/>
        </p:nvSpPr>
        <p:spPr>
          <a:xfrm>
            <a:off x="55879" y="2231472"/>
            <a:ext cx="5942249" cy="13002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F151E-7485-CF14-08CD-7F0D22329779}"/>
              </a:ext>
            </a:extLst>
          </p:cNvPr>
          <p:cNvSpPr txBox="1"/>
          <p:nvPr/>
        </p:nvSpPr>
        <p:spPr>
          <a:xfrm>
            <a:off x="6135151" y="2231472"/>
            <a:ext cx="5844328" cy="3077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b="0" i="0" dirty="0" err="1">
                <a:solidFill>
                  <a:srgbClr val="FF0000"/>
                </a:solidFill>
                <a:effectLst/>
                <a:latin typeface="-apple-system"/>
              </a:rPr>
              <a:t>파이썬에서</a:t>
            </a:r>
            <a:r>
              <a:rPr lang="ko-KR" altLang="en-US" sz="1400" b="0" i="0" dirty="0">
                <a:solidFill>
                  <a:srgbClr val="FF0000"/>
                </a:solidFill>
                <a:effectLst/>
                <a:latin typeface="-apple-system"/>
              </a:rPr>
              <a:t> ‘</a:t>
            </a:r>
            <a:r>
              <a:rPr lang="en-US" altLang="ko-KR" sz="1400" b="0" i="0" dirty="0">
                <a:solidFill>
                  <a:srgbClr val="FF0000"/>
                </a:solidFill>
                <a:effectLst/>
                <a:latin typeface="-apple-system"/>
              </a:rPr>
              <a:t>%’</a:t>
            </a:r>
            <a:r>
              <a:rPr lang="ko-KR" altLang="en-US" sz="1400" b="0" i="0" dirty="0">
                <a:solidFill>
                  <a:srgbClr val="FF0000"/>
                </a:solidFill>
                <a:effectLst/>
                <a:latin typeface="-apple-system"/>
              </a:rPr>
              <a:t>는 외부에서 값을 받아올 때 타입을 지정해주기 위해 사용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29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1094271" y="227654"/>
            <a:ext cx="873527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오라클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연결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-  </a:t>
            </a:r>
            <a:r>
              <a:rPr lang="en-US" altLang="ko-KR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DataFrame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으로 받기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7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36422" y="979221"/>
            <a:ext cx="6020429" cy="58787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import </a:t>
            </a:r>
            <a:r>
              <a:rPr lang="en-US" altLang="ko-KR" sz="1400" dirty="0" err="1"/>
              <a:t>cx_Oracle</a:t>
            </a:r>
            <a:endParaRPr lang="en-US" altLang="ko-KR" sz="1400" dirty="0"/>
          </a:p>
          <a:p>
            <a:r>
              <a:rPr lang="en-US" altLang="ko-KR" sz="1400" dirty="0"/>
              <a:t>import pandas as pd</a:t>
            </a:r>
          </a:p>
          <a:p>
            <a:r>
              <a:rPr lang="en-US" altLang="ko-KR" sz="1400" dirty="0"/>
              <a:t>from </a:t>
            </a:r>
            <a:r>
              <a:rPr lang="en-US" altLang="ko-KR" sz="1400" dirty="0" err="1"/>
              <a:t>stboard.models</a:t>
            </a:r>
            <a:r>
              <a:rPr lang="en-US" altLang="ko-KR" sz="1400" dirty="0"/>
              <a:t> import board</a:t>
            </a:r>
          </a:p>
          <a:p>
            <a:pPr algn="l"/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연결함수로 정의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def connections():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try: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conn=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ora.connect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('system/1234@localhost:1521/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xe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')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# cursor =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conn.cursor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except Exception as e: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msg="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예외발생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print(msg)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return conn   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# pd.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Read_sql_query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구문 사용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def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blist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(request):</a:t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query ='select * from board' 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df = 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pd.read_sql_query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query,connections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())</a:t>
            </a:r>
          </a:p>
          <a:p>
            <a:pPr algn="l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print(df)</a:t>
            </a:r>
            <a:endParaRPr lang="en-US" altLang="ko-KR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F2B670-C4A0-41C4-9249-D268DCE609F5}"/>
              </a:ext>
            </a:extLst>
          </p:cNvPr>
          <p:cNvSpPr txBox="1"/>
          <p:nvPr/>
        </p:nvSpPr>
        <p:spPr>
          <a:xfrm>
            <a:off x="9655728" y="6581001"/>
            <a:ext cx="25362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https://tzara.tistory.com/119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EECC87F-6FFC-4306-82D5-DC0F0E6B16C7}"/>
              </a:ext>
            </a:extLst>
          </p:cNvPr>
          <p:cNvSpPr/>
          <p:nvPr/>
        </p:nvSpPr>
        <p:spPr>
          <a:xfrm>
            <a:off x="6135218" y="3123362"/>
            <a:ext cx="5844261" cy="95368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# pandas </a:t>
            </a:r>
            <a:r>
              <a:rPr lang="ko-KR" altLang="en-US" sz="1400" dirty="0"/>
              <a:t>라이브러리 </a:t>
            </a:r>
            <a:r>
              <a:rPr lang="en-US" altLang="ko-KR" sz="1400" dirty="0" err="1"/>
              <a:t>read_sql_query</a:t>
            </a:r>
            <a:r>
              <a:rPr lang="ko-KR" altLang="en-US" sz="1400" dirty="0"/>
              <a:t>사용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# </a:t>
            </a:r>
            <a:r>
              <a:rPr lang="en-US" altLang="ko-KR" sz="1400" dirty="0" err="1"/>
              <a:t>sql</a:t>
            </a:r>
            <a:r>
              <a:rPr lang="ko-KR" altLang="en-US" sz="1400" dirty="0"/>
              <a:t>에서 바로 </a:t>
            </a:r>
            <a:r>
              <a:rPr lang="en-US" altLang="ko-KR" sz="1400" dirty="0" err="1"/>
              <a:t>DataFrame</a:t>
            </a:r>
            <a:r>
              <a:rPr lang="ko-KR" altLang="en-US" sz="1400" dirty="0" err="1"/>
              <a:t>만듬</a:t>
            </a:r>
            <a:r>
              <a:rPr lang="en-US" altLang="ko-KR" sz="1400" dirty="0"/>
              <a:t>. </a:t>
            </a:r>
            <a:br>
              <a:rPr lang="en-US" altLang="ko-KR" sz="1400" dirty="0"/>
            </a:br>
            <a:endParaRPr lang="en-US" altLang="ko-KR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0E3A9A-0F4C-4B60-BDED-F83931B7E653}"/>
              </a:ext>
            </a:extLst>
          </p:cNvPr>
          <p:cNvSpPr/>
          <p:nvPr/>
        </p:nvSpPr>
        <p:spPr>
          <a:xfrm>
            <a:off x="55879" y="4320330"/>
            <a:ext cx="5808025" cy="14093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6BD331B-15D6-4A40-9D8B-BC6E81EDCF11}"/>
              </a:ext>
            </a:extLst>
          </p:cNvPr>
          <p:cNvCxnSpPr>
            <a:cxnSpLocks/>
            <a:stCxn id="35" idx="3"/>
            <a:endCxn id="27" idx="1"/>
          </p:cNvCxnSpPr>
          <p:nvPr/>
        </p:nvCxnSpPr>
        <p:spPr>
          <a:xfrm flipV="1">
            <a:off x="5863904" y="3600206"/>
            <a:ext cx="271314" cy="142480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07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5E58-D134-8DBA-353E-F407D816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AF7F6B26-E17A-8CB5-7FB3-B3CD31FB502E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7E1D3C8-DD44-F58A-EB90-D92F8568642A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B25A76-CAAE-76AC-C1E0-8CDF927705AC}"/>
              </a:ext>
            </a:extLst>
          </p:cNvPr>
          <p:cNvSpPr txBox="1"/>
          <p:nvPr/>
        </p:nvSpPr>
        <p:spPr>
          <a:xfrm>
            <a:off x="2457216" y="2832514"/>
            <a:ext cx="727757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i="0" dirty="0">
                <a:solidFill>
                  <a:srgbClr val="212529"/>
                </a:solidFill>
                <a:effectLst/>
                <a:latin typeface="-apple-system"/>
              </a:rPr>
              <a:t>Html Template Language</a:t>
            </a:r>
          </a:p>
          <a:p>
            <a:pPr algn="ctr"/>
            <a:r>
              <a:rPr lang="en-US" altLang="ko-KR" sz="3600" b="1" dirty="0"/>
              <a:t>html</a:t>
            </a:r>
            <a:r>
              <a:rPr lang="ko-KR" altLang="en-US" sz="3600" b="1" dirty="0"/>
              <a:t>사용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28BFCA-D2CE-2406-43AD-B7AA01DA2378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37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35C8-78AA-A832-DAF2-7258B373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39964852-264C-8CAA-96CF-E1076ED3C302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10BE5F6-9B5A-97BC-D277-337936829E8E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0878C9C-35D6-16DF-5274-609B765D8557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html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연결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– main.py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4948530-CF03-7656-8F0A-A43F6A83A286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4BCAD73-FDCA-3012-ED1F-D3FB33DEA1A5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B63D5C-BB8D-4A56-B709-2F0C674820B2}"/>
              </a:ext>
            </a:extLst>
          </p:cNvPr>
          <p:cNvSpPr/>
          <p:nvPr/>
        </p:nvSpPr>
        <p:spPr>
          <a:xfrm>
            <a:off x="2567087" y="1749823"/>
            <a:ext cx="6923201" cy="500553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fastapi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FastAPI</a:t>
            </a:r>
            <a:r>
              <a:rPr lang="ko-KR" altLang="ko-KR" sz="1600" dirty="0"/>
              <a:t>, </a:t>
            </a:r>
            <a:r>
              <a:rPr lang="ko-KR" altLang="ko-KR" sz="1600" dirty="0" err="1"/>
              <a:t>Request</a:t>
            </a:r>
            <a:endParaRPr lang="ko-KR" altLang="ko-KR" sz="1600" dirty="0"/>
          </a:p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fastapi.staticfiles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StaticFiles</a:t>
            </a:r>
            <a:endParaRPr lang="ko-KR" altLang="ko-KR" sz="1600" dirty="0"/>
          </a:p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fastapi.templating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Jinja2Templates</a:t>
            </a:r>
          </a:p>
          <a:p>
            <a:r>
              <a:rPr lang="ko-KR" altLang="ko-KR" sz="1600" dirty="0" err="1"/>
              <a:t>from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controller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import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memberController</a:t>
            </a:r>
            <a:endParaRPr lang="ko-KR" altLang="ko-KR" sz="1600" dirty="0"/>
          </a:p>
          <a:p>
            <a:endParaRPr lang="ko-KR" altLang="ko-KR" sz="1600" dirty="0"/>
          </a:p>
          <a:p>
            <a:r>
              <a:rPr lang="ko-KR" altLang="ko-KR" sz="1600" dirty="0" err="1"/>
              <a:t>app</a:t>
            </a:r>
            <a:r>
              <a:rPr lang="ko-KR" altLang="ko-KR" sz="1600" dirty="0"/>
              <a:t> = </a:t>
            </a:r>
            <a:r>
              <a:rPr lang="ko-KR" altLang="ko-KR" sz="1600" dirty="0" err="1"/>
              <a:t>FastAPI</a:t>
            </a:r>
            <a:r>
              <a:rPr lang="ko-KR" altLang="ko-KR" sz="1600" dirty="0"/>
              <a:t>()</a:t>
            </a:r>
          </a:p>
          <a:p>
            <a:r>
              <a:rPr lang="ko-KR" altLang="ko-KR" sz="1600" dirty="0" err="1"/>
              <a:t>app.include_router</a:t>
            </a:r>
            <a:r>
              <a:rPr lang="ko-KR" altLang="ko-KR" sz="1600" dirty="0"/>
              <a:t>(</a:t>
            </a:r>
            <a:r>
              <a:rPr lang="ko-KR" altLang="ko-KR" sz="1600" dirty="0" err="1"/>
              <a:t>memberController.router</a:t>
            </a:r>
            <a:r>
              <a:rPr lang="ko-KR" altLang="ko-KR" sz="1600" dirty="0"/>
              <a:t>)</a:t>
            </a:r>
          </a:p>
          <a:p>
            <a:br>
              <a:rPr lang="ko-KR" altLang="ko-KR" sz="1600" dirty="0"/>
            </a:br>
            <a:r>
              <a:rPr lang="ko-KR" altLang="ko-KR" sz="1600" dirty="0">
                <a:highlight>
                  <a:srgbClr val="FFFF00"/>
                </a:highlight>
              </a:rPr>
              <a:t># </a:t>
            </a:r>
            <a:r>
              <a:rPr lang="ko-KR" altLang="ko-KR" sz="1600" dirty="0" err="1">
                <a:highlight>
                  <a:srgbClr val="FFFF00"/>
                </a:highlight>
              </a:rPr>
              <a:t>static</a:t>
            </a:r>
            <a:r>
              <a:rPr lang="ko-KR" altLang="ko-KR" sz="1600" dirty="0">
                <a:highlight>
                  <a:srgbClr val="FFFF00"/>
                </a:highlight>
              </a:rPr>
              <a:t> 파일 연결</a:t>
            </a:r>
          </a:p>
          <a:p>
            <a:r>
              <a:rPr lang="ko-KR" altLang="ko-KR" sz="1600" dirty="0" err="1">
                <a:highlight>
                  <a:srgbClr val="FFFF00"/>
                </a:highlight>
              </a:rPr>
              <a:t>app.mount</a:t>
            </a:r>
            <a:r>
              <a:rPr lang="ko-KR" altLang="ko-KR" sz="1600" dirty="0">
                <a:highlight>
                  <a:srgbClr val="FFFF00"/>
                </a:highlight>
              </a:rPr>
              <a:t>("/</a:t>
            </a:r>
            <a:r>
              <a:rPr lang="ko-KR" altLang="ko-KR" sz="1600" dirty="0" err="1">
                <a:highlight>
                  <a:srgbClr val="FFFF00"/>
                </a:highlight>
              </a:rPr>
              <a:t>static</a:t>
            </a:r>
            <a:r>
              <a:rPr lang="ko-KR" altLang="ko-KR" sz="1600" dirty="0">
                <a:highlight>
                  <a:srgbClr val="FFFF00"/>
                </a:highlight>
              </a:rPr>
              <a:t>", </a:t>
            </a:r>
            <a:r>
              <a:rPr lang="ko-KR" altLang="ko-KR" sz="1600" dirty="0" err="1">
                <a:highlight>
                  <a:srgbClr val="FFFF00"/>
                </a:highlight>
              </a:rPr>
              <a:t>StaticFiles</a:t>
            </a:r>
            <a:r>
              <a:rPr lang="ko-KR" altLang="ko-KR" sz="1600" dirty="0">
                <a:highlight>
                  <a:srgbClr val="FFFF00"/>
                </a:highlight>
              </a:rPr>
              <a:t>(</a:t>
            </a:r>
            <a:r>
              <a:rPr lang="ko-KR" altLang="ko-KR" sz="1600" dirty="0" err="1">
                <a:highlight>
                  <a:srgbClr val="FFFF00"/>
                </a:highlight>
              </a:rPr>
              <a:t>directory</a:t>
            </a:r>
            <a:r>
              <a:rPr lang="ko-KR" altLang="ko-KR" sz="1600" dirty="0">
                <a:highlight>
                  <a:srgbClr val="FFFF00"/>
                </a:highlight>
              </a:rPr>
              <a:t>="</a:t>
            </a:r>
            <a:r>
              <a:rPr lang="ko-KR" altLang="ko-KR" sz="1600" dirty="0" err="1">
                <a:highlight>
                  <a:srgbClr val="FFFF00"/>
                </a:highlight>
              </a:rPr>
              <a:t>static</a:t>
            </a:r>
            <a:r>
              <a:rPr lang="ko-KR" altLang="ko-KR" sz="1600" dirty="0">
                <a:highlight>
                  <a:srgbClr val="FFFF00"/>
                </a:highlight>
              </a:rPr>
              <a:t>"), </a:t>
            </a:r>
            <a:r>
              <a:rPr lang="ko-KR" altLang="ko-KR" sz="1600" dirty="0" err="1">
                <a:highlight>
                  <a:srgbClr val="FFFF00"/>
                </a:highlight>
              </a:rPr>
              <a:t>name</a:t>
            </a:r>
            <a:r>
              <a:rPr lang="ko-KR" altLang="ko-KR" sz="1600" dirty="0">
                <a:highlight>
                  <a:srgbClr val="FFFF00"/>
                </a:highlight>
              </a:rPr>
              <a:t>="</a:t>
            </a:r>
            <a:r>
              <a:rPr lang="ko-KR" altLang="ko-KR" sz="1600" dirty="0" err="1">
                <a:highlight>
                  <a:srgbClr val="FFFF00"/>
                </a:highlight>
              </a:rPr>
              <a:t>static</a:t>
            </a:r>
            <a:r>
              <a:rPr lang="ko-KR" altLang="ko-KR" sz="1600" dirty="0">
                <a:highlight>
                  <a:srgbClr val="FFFF00"/>
                </a:highlight>
              </a:rPr>
              <a:t>")</a:t>
            </a:r>
          </a:p>
          <a:p>
            <a:r>
              <a:rPr lang="ko-KR" altLang="ko-KR" sz="1600" dirty="0">
                <a:highlight>
                  <a:srgbClr val="FFFF00"/>
                </a:highlight>
              </a:rPr>
              <a:t># </a:t>
            </a:r>
            <a:r>
              <a:rPr lang="ko-KR" altLang="ko-KR" sz="1600" dirty="0" err="1">
                <a:highlight>
                  <a:srgbClr val="FFFF00"/>
                </a:highlight>
              </a:rPr>
              <a:t>template</a:t>
            </a:r>
            <a:r>
              <a:rPr lang="ko-KR" altLang="ko-KR" sz="1600" dirty="0">
                <a:highlight>
                  <a:srgbClr val="FFFF00"/>
                </a:highlight>
              </a:rPr>
              <a:t> 파일 연결</a:t>
            </a:r>
          </a:p>
          <a:p>
            <a:r>
              <a:rPr lang="ko-KR" altLang="ko-KR" sz="1600" dirty="0" err="1">
                <a:highlight>
                  <a:srgbClr val="FFFF00"/>
                </a:highlight>
              </a:rPr>
              <a:t>templates</a:t>
            </a:r>
            <a:r>
              <a:rPr lang="ko-KR" altLang="ko-KR" sz="1600" dirty="0">
                <a:highlight>
                  <a:srgbClr val="FFFF00"/>
                </a:highlight>
              </a:rPr>
              <a:t> = Jinja2Templates(</a:t>
            </a:r>
            <a:r>
              <a:rPr lang="ko-KR" altLang="ko-KR" sz="1600" dirty="0" err="1">
                <a:highlight>
                  <a:srgbClr val="FFFF00"/>
                </a:highlight>
              </a:rPr>
              <a:t>directory</a:t>
            </a:r>
            <a:r>
              <a:rPr lang="ko-KR" altLang="ko-KR" sz="1600" dirty="0">
                <a:highlight>
                  <a:srgbClr val="FFFF00"/>
                </a:highlight>
              </a:rPr>
              <a:t>="</a:t>
            </a:r>
            <a:r>
              <a:rPr lang="ko-KR" altLang="ko-KR" sz="1600" dirty="0" err="1">
                <a:highlight>
                  <a:srgbClr val="FFFF00"/>
                </a:highlight>
              </a:rPr>
              <a:t>templates</a:t>
            </a:r>
            <a:r>
              <a:rPr lang="ko-KR" altLang="ko-KR" sz="1600" dirty="0">
                <a:highlight>
                  <a:srgbClr val="FFFF00"/>
                </a:highlight>
              </a:rPr>
              <a:t>")</a:t>
            </a:r>
          </a:p>
          <a:p>
            <a:br>
              <a:rPr lang="ko-KR" altLang="ko-KR" sz="1600" dirty="0"/>
            </a:br>
            <a:r>
              <a:rPr lang="ko-KR" altLang="ko-KR" sz="1600" dirty="0"/>
              <a:t>@app.get("/")</a:t>
            </a:r>
          </a:p>
          <a:p>
            <a:r>
              <a:rPr lang="ko-KR" altLang="ko-KR" sz="1600" dirty="0" err="1"/>
              <a:t>def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root</a:t>
            </a:r>
            <a:r>
              <a:rPr lang="ko-KR" altLang="ko-KR" sz="1600" dirty="0"/>
              <a:t>(</a:t>
            </a:r>
            <a:r>
              <a:rPr lang="ko-KR" altLang="ko-KR" sz="1600" dirty="0" err="1"/>
              <a:t>request</a:t>
            </a:r>
            <a:r>
              <a:rPr lang="ko-KR" altLang="ko-KR" sz="1600" dirty="0"/>
              <a:t>: </a:t>
            </a:r>
            <a:r>
              <a:rPr lang="ko-KR" altLang="ko-KR" sz="1600" dirty="0" err="1"/>
              <a:t>Request</a:t>
            </a:r>
            <a:r>
              <a:rPr lang="ko-KR" altLang="ko-KR" sz="1600" dirty="0"/>
              <a:t>):</a:t>
            </a:r>
          </a:p>
          <a:p>
            <a:r>
              <a:rPr lang="ko-KR" altLang="ko-KR" sz="1600" dirty="0"/>
              <a:t>    </a:t>
            </a:r>
            <a:r>
              <a:rPr lang="ko-KR" altLang="ko-KR" sz="1600" dirty="0" err="1"/>
              <a:t>return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templates.TemplateResponse</a:t>
            </a:r>
            <a:r>
              <a:rPr lang="ko-KR" altLang="ko-KR" sz="1600" dirty="0"/>
              <a:t>(</a:t>
            </a:r>
          </a:p>
          <a:p>
            <a:r>
              <a:rPr lang="ko-KR" altLang="ko-KR" sz="1600" dirty="0"/>
              <a:t>        </a:t>
            </a:r>
            <a:r>
              <a:rPr lang="ko-KR" altLang="ko-KR" sz="1600" dirty="0" err="1"/>
              <a:t>request</a:t>
            </a:r>
            <a:r>
              <a:rPr lang="ko-KR" altLang="ko-KR" sz="1600" dirty="0"/>
              <a:t>=</a:t>
            </a:r>
            <a:r>
              <a:rPr lang="ko-KR" altLang="ko-KR" sz="1600" dirty="0" err="1"/>
              <a:t>request</a:t>
            </a:r>
            <a:r>
              <a:rPr lang="ko-KR" altLang="ko-KR" sz="1600" dirty="0"/>
              <a:t>,</a:t>
            </a:r>
          </a:p>
          <a:p>
            <a:r>
              <a:rPr lang="ko-KR" altLang="ko-KR" sz="1600" dirty="0"/>
              <a:t>        </a:t>
            </a:r>
            <a:r>
              <a:rPr lang="ko-KR" altLang="ko-KR" sz="1600" dirty="0" err="1"/>
              <a:t>name</a:t>
            </a:r>
            <a:r>
              <a:rPr lang="ko-KR" altLang="ko-KR" sz="1600" dirty="0"/>
              <a:t>="</a:t>
            </a:r>
            <a:r>
              <a:rPr lang="ko-KR" altLang="ko-KR" sz="1600" dirty="0" err="1"/>
              <a:t>index.html</a:t>
            </a:r>
            <a:r>
              <a:rPr lang="ko-KR" altLang="ko-KR" sz="1600" dirty="0"/>
              <a:t>", </a:t>
            </a:r>
          </a:p>
          <a:p>
            <a:r>
              <a:rPr lang="ko-KR" altLang="ko-KR" sz="1600" dirty="0"/>
              <a:t>        </a:t>
            </a:r>
            <a:r>
              <a:rPr lang="ko-KR" altLang="ko-KR" sz="1600" dirty="0" err="1"/>
              <a:t>context</a:t>
            </a:r>
            <a:r>
              <a:rPr lang="ko-KR" altLang="ko-KR" sz="1600" dirty="0"/>
              <a:t>={"</a:t>
            </a:r>
            <a:r>
              <a:rPr lang="ko-KR" altLang="ko-KR" sz="1600" dirty="0" err="1"/>
              <a:t>request</a:t>
            </a:r>
            <a:r>
              <a:rPr lang="ko-KR" altLang="ko-KR" sz="1600" dirty="0"/>
              <a:t>": request,"id":1 }</a:t>
            </a:r>
          </a:p>
          <a:p>
            <a:r>
              <a:rPr lang="ko-KR" altLang="ko-KR" sz="1600" dirty="0"/>
              <a:t>    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44A3C-88AE-8D36-50EB-C515ECAED7AF}"/>
              </a:ext>
            </a:extLst>
          </p:cNvPr>
          <p:cNvSpPr txBox="1"/>
          <p:nvPr/>
        </p:nvSpPr>
        <p:spPr>
          <a:xfrm>
            <a:off x="2567087" y="1035593"/>
            <a:ext cx="692320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# html </a:t>
            </a:r>
            <a:r>
              <a:rPr lang="ko-KR" altLang="en-US" dirty="0"/>
              <a:t>하기위한 설치</a:t>
            </a:r>
            <a:endParaRPr lang="en-US" altLang="ko-KR" dirty="0"/>
          </a:p>
          <a:p>
            <a:r>
              <a:rPr lang="ko-KR" altLang="ko-KR" dirty="0" err="1">
                <a:highlight>
                  <a:srgbClr val="FFFF00"/>
                </a:highlight>
              </a:rPr>
              <a:t>pip</a:t>
            </a:r>
            <a:r>
              <a:rPr lang="ko-KR" altLang="ko-KR" dirty="0">
                <a:highlight>
                  <a:srgbClr val="FFFF00"/>
                </a:highlight>
              </a:rPr>
              <a:t> </a:t>
            </a:r>
            <a:r>
              <a:rPr lang="ko-KR" altLang="ko-KR" dirty="0" err="1">
                <a:highlight>
                  <a:srgbClr val="FFFF00"/>
                </a:highlight>
              </a:rPr>
              <a:t>install</a:t>
            </a:r>
            <a:r>
              <a:rPr lang="ko-KR" altLang="ko-KR" dirty="0">
                <a:highlight>
                  <a:srgbClr val="FFFF00"/>
                </a:highlight>
              </a:rPr>
              <a:t> jinja2</a:t>
            </a:r>
            <a:endParaRPr lang="en-US" altLang="ko-KR" sz="1400" dirty="0">
              <a:highlight>
                <a:srgbClr val="FFFF00"/>
              </a:highlight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45D451-4BBC-D58D-5367-49188AACDCC0}"/>
              </a:ext>
            </a:extLst>
          </p:cNvPr>
          <p:cNvSpPr/>
          <p:nvPr/>
        </p:nvSpPr>
        <p:spPr>
          <a:xfrm>
            <a:off x="8061364" y="1749823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main.py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D85611-5374-1000-F55C-C36B24F54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88" y="1035593"/>
            <a:ext cx="2187456" cy="18756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EA6200A-F7B9-5562-184F-FD67CFE66C63}"/>
              </a:ext>
            </a:extLst>
          </p:cNvPr>
          <p:cNvSpPr/>
          <p:nvPr/>
        </p:nvSpPr>
        <p:spPr>
          <a:xfrm>
            <a:off x="287975" y="2673611"/>
            <a:ext cx="2195469" cy="2376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2542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030B0-946D-7B85-CF3C-7B555985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89375AB3-BDAE-98DD-143C-AF3DC2D03668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287F6AC-3A63-C6F9-453B-7D72EF5973E5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E96FAF1-4F1F-A599-5CA6-3D0ACE6E3FD5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html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연결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– index.html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439643E-0F73-EF3C-32D9-2EDFC7F36FF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9919FCB-0473-60DE-046C-7D410D4E9919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F5320F-30AC-DECF-7A17-03FB3BAD260B}"/>
              </a:ext>
            </a:extLst>
          </p:cNvPr>
          <p:cNvSpPr/>
          <p:nvPr/>
        </p:nvSpPr>
        <p:spPr>
          <a:xfrm>
            <a:off x="2567087" y="1035593"/>
            <a:ext cx="6923201" cy="58224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ko-KR" altLang="ko-KR" sz="1400" dirty="0"/>
              <a:t>&lt;!DOCTYPE </a:t>
            </a:r>
            <a:r>
              <a:rPr lang="ko-KR" altLang="ko-KR" sz="1400" dirty="0" err="1"/>
              <a:t>html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&lt;</a:t>
            </a:r>
            <a:r>
              <a:rPr lang="ko-KR" altLang="ko-KR" sz="1400" dirty="0" err="1"/>
              <a:t>html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lang</a:t>
            </a:r>
            <a:r>
              <a:rPr lang="ko-KR" altLang="ko-KR" sz="1400" dirty="0"/>
              <a:t>="</a:t>
            </a:r>
            <a:r>
              <a:rPr lang="ko-KR" altLang="ko-KR" sz="1400" dirty="0" err="1"/>
              <a:t>en</a:t>
            </a:r>
            <a:r>
              <a:rPr lang="ko-KR" altLang="ko-KR" sz="1400" dirty="0"/>
              <a:t>"&gt;</a:t>
            </a:r>
          </a:p>
          <a:p>
            <a:r>
              <a:rPr lang="ko-KR" altLang="ko-KR" sz="1400" dirty="0"/>
              <a:t>&lt;</a:t>
            </a:r>
            <a:r>
              <a:rPr lang="ko-KR" altLang="ko-KR" sz="1400" dirty="0" err="1"/>
              <a:t>head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    &lt;</a:t>
            </a:r>
            <a:r>
              <a:rPr lang="ko-KR" altLang="ko-KR" sz="1400" dirty="0" err="1"/>
              <a:t>meta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charset</a:t>
            </a:r>
            <a:r>
              <a:rPr lang="ko-KR" altLang="ko-KR" sz="1400" dirty="0"/>
              <a:t>="UTF-8"&gt;</a:t>
            </a:r>
          </a:p>
          <a:p>
            <a:r>
              <a:rPr lang="ko-KR" altLang="ko-KR" sz="1400" dirty="0"/>
              <a:t>    &lt;</a:t>
            </a:r>
            <a:r>
              <a:rPr lang="ko-KR" altLang="ko-KR" sz="1400" dirty="0" err="1"/>
              <a:t>meta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name</a:t>
            </a:r>
            <a:r>
              <a:rPr lang="ko-KR" altLang="ko-KR" sz="1400" dirty="0"/>
              <a:t>="</a:t>
            </a:r>
            <a:r>
              <a:rPr lang="ko-KR" altLang="ko-KR" sz="1400" dirty="0" err="1"/>
              <a:t>viewport</a:t>
            </a:r>
            <a:r>
              <a:rPr lang="ko-KR" altLang="ko-KR" sz="1400" dirty="0"/>
              <a:t>" </a:t>
            </a:r>
            <a:r>
              <a:rPr lang="ko-KR" altLang="ko-KR" sz="1400" dirty="0" err="1"/>
              <a:t>content</a:t>
            </a:r>
            <a:r>
              <a:rPr lang="ko-KR" altLang="ko-KR" sz="1400" dirty="0"/>
              <a:t>="</a:t>
            </a:r>
            <a:r>
              <a:rPr lang="ko-KR" altLang="ko-KR" sz="1400" dirty="0" err="1"/>
              <a:t>width</a:t>
            </a:r>
            <a:r>
              <a:rPr lang="ko-KR" altLang="ko-KR" sz="1400" dirty="0"/>
              <a:t>=&lt;</a:t>
            </a:r>
            <a:r>
              <a:rPr lang="ko-KR" altLang="ko-KR" sz="1400" dirty="0" err="1"/>
              <a:t>device-width</a:t>
            </a:r>
            <a:r>
              <a:rPr lang="ko-KR" altLang="ko-KR" sz="1400" dirty="0"/>
              <a:t>&gt;, </a:t>
            </a:r>
            <a:r>
              <a:rPr lang="ko-KR" altLang="ko-KR" sz="1400" dirty="0" err="1"/>
              <a:t>initial-scale</a:t>
            </a:r>
            <a:r>
              <a:rPr lang="ko-KR" altLang="ko-KR" sz="1400" dirty="0"/>
              <a:t>=1.0"&gt;</a:t>
            </a:r>
          </a:p>
          <a:p>
            <a:r>
              <a:rPr lang="ko-KR" altLang="ko-KR" sz="1400" dirty="0"/>
              <a:t>    &lt;</a:t>
            </a:r>
            <a:r>
              <a:rPr lang="ko-KR" altLang="ko-KR" sz="1400" dirty="0" err="1"/>
              <a:t>title</a:t>
            </a:r>
            <a:r>
              <a:rPr lang="ko-KR" altLang="ko-KR" sz="1400" dirty="0"/>
              <a:t>&gt;</a:t>
            </a:r>
            <a:r>
              <a:rPr lang="ko-KR" altLang="ko-KR" sz="1400" dirty="0" err="1"/>
              <a:t>Document</a:t>
            </a:r>
            <a:r>
              <a:rPr lang="ko-KR" altLang="ko-KR" sz="1400" dirty="0"/>
              <a:t>&lt;/</a:t>
            </a:r>
            <a:r>
              <a:rPr lang="ko-KR" altLang="ko-KR" sz="1400" dirty="0" err="1"/>
              <a:t>title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    &lt;</a:t>
            </a:r>
            <a:r>
              <a:rPr lang="ko-KR" altLang="ko-KR" sz="1400" dirty="0" err="1"/>
              <a:t>link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href</a:t>
            </a:r>
            <a:r>
              <a:rPr lang="ko-KR" altLang="ko-KR" sz="1400" dirty="0"/>
              <a:t>="{{ </a:t>
            </a:r>
            <a:r>
              <a:rPr lang="ko-KR" altLang="ko-KR" sz="1400" dirty="0" err="1"/>
              <a:t>url_for</a:t>
            </a:r>
            <a:r>
              <a:rPr lang="ko-KR" altLang="ko-KR" sz="1400" dirty="0"/>
              <a:t>('</a:t>
            </a:r>
            <a:r>
              <a:rPr lang="ko-KR" altLang="ko-KR" sz="1400" dirty="0" err="1"/>
              <a:t>static</a:t>
            </a:r>
            <a:r>
              <a:rPr lang="ko-KR" altLang="ko-KR" sz="1400" dirty="0"/>
              <a:t>', </a:t>
            </a:r>
            <a:r>
              <a:rPr lang="ko-KR" altLang="ko-KR" sz="1400" dirty="0" err="1"/>
              <a:t>path</a:t>
            </a:r>
            <a:r>
              <a:rPr lang="ko-KR" altLang="ko-KR" sz="1400" dirty="0"/>
              <a:t>='</a:t>
            </a:r>
            <a:r>
              <a:rPr lang="ko-KR" altLang="ko-KR" sz="1400" dirty="0" err="1"/>
              <a:t>css</a:t>
            </a:r>
            <a:r>
              <a:rPr lang="ko-KR" altLang="ko-KR" sz="1400" dirty="0"/>
              <a:t>/</a:t>
            </a:r>
            <a:r>
              <a:rPr lang="ko-KR" altLang="ko-KR" sz="1400" dirty="0" err="1"/>
              <a:t>style.css</a:t>
            </a:r>
            <a:r>
              <a:rPr lang="ko-KR" altLang="ko-KR" sz="1400" dirty="0"/>
              <a:t>') }}" </a:t>
            </a:r>
            <a:r>
              <a:rPr lang="ko-KR" altLang="ko-KR" sz="1400" dirty="0" err="1"/>
              <a:t>rel</a:t>
            </a:r>
            <a:r>
              <a:rPr lang="ko-KR" altLang="ko-KR" sz="1400" dirty="0"/>
              <a:t>="</a:t>
            </a:r>
            <a:r>
              <a:rPr lang="ko-KR" altLang="ko-KR" sz="1400" dirty="0" err="1"/>
              <a:t>stylesheet</a:t>
            </a:r>
            <a:r>
              <a:rPr lang="ko-KR" altLang="ko-KR" sz="1400" dirty="0"/>
              <a:t>"&gt;</a:t>
            </a:r>
          </a:p>
          <a:p>
            <a:r>
              <a:rPr lang="ko-KR" altLang="ko-KR" sz="1400" dirty="0"/>
              <a:t>&lt;/</a:t>
            </a:r>
            <a:r>
              <a:rPr lang="ko-KR" altLang="ko-KR" sz="1400" dirty="0" err="1"/>
              <a:t>head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&lt;</a:t>
            </a:r>
            <a:r>
              <a:rPr lang="ko-KR" altLang="ko-KR" sz="1400" dirty="0" err="1"/>
              <a:t>body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    &lt;h2&gt;</a:t>
            </a:r>
            <a:r>
              <a:rPr lang="ko-KR" altLang="ko-KR" sz="1400" dirty="0" err="1"/>
              <a:t>메인페이지</a:t>
            </a:r>
            <a:r>
              <a:rPr lang="ko-KR" altLang="ko-KR" sz="1400" dirty="0"/>
              <a:t>&lt;/h2&gt;</a:t>
            </a:r>
          </a:p>
          <a:p>
            <a:r>
              <a:rPr lang="ko-KR" altLang="ko-KR" sz="1400" dirty="0"/>
              <a:t>    &lt;h3&gt;</a:t>
            </a:r>
            <a:r>
              <a:rPr lang="ko-KR" altLang="ko-KR" sz="1400" dirty="0" err="1"/>
              <a:t>Item</a:t>
            </a:r>
            <a:r>
              <a:rPr lang="ko-KR" altLang="ko-KR" sz="1400" dirty="0"/>
              <a:t> ID: {{ </a:t>
            </a:r>
            <a:r>
              <a:rPr lang="ko-KR" altLang="ko-KR" sz="1400" dirty="0" err="1"/>
              <a:t>id</a:t>
            </a:r>
            <a:r>
              <a:rPr lang="ko-KR" altLang="ko-KR" sz="1400" dirty="0"/>
              <a:t> }}&lt;/h3&gt;</a:t>
            </a:r>
          </a:p>
          <a:p>
            <a:br>
              <a:rPr lang="ko-KR" altLang="ko-KR" sz="1400" dirty="0"/>
            </a:br>
            <a:endParaRPr lang="ko-KR" altLang="ko-KR" sz="1400" dirty="0"/>
          </a:p>
          <a:p>
            <a:r>
              <a:rPr lang="ko-KR" altLang="ko-KR" sz="1400" dirty="0"/>
              <a:t>    &lt;</a:t>
            </a:r>
            <a:r>
              <a:rPr lang="ko-KR" altLang="ko-KR" sz="1400" dirty="0" err="1"/>
              <a:t>ul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        &lt;</a:t>
            </a:r>
            <a:r>
              <a:rPr lang="ko-KR" altLang="ko-KR" sz="1400" dirty="0" err="1"/>
              <a:t>li</a:t>
            </a:r>
            <a:r>
              <a:rPr lang="ko-KR" altLang="ko-KR" sz="1400" dirty="0"/>
              <a:t>&gt;&lt;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href</a:t>
            </a:r>
            <a:r>
              <a:rPr lang="ko-KR" altLang="ko-KR" sz="1400" dirty="0"/>
              <a:t>="/</a:t>
            </a:r>
            <a:r>
              <a:rPr lang="ko-KR" altLang="ko-KR" sz="1400" dirty="0" err="1"/>
              <a:t>items</a:t>
            </a:r>
            <a:r>
              <a:rPr lang="ko-KR" altLang="ko-KR" sz="1400" dirty="0"/>
              <a:t>/1"&gt;아이템 연결&lt;/</a:t>
            </a:r>
            <a:r>
              <a:rPr lang="ko-KR" altLang="ko-KR" sz="1400" dirty="0" err="1"/>
              <a:t>a</a:t>
            </a:r>
            <a:r>
              <a:rPr lang="ko-KR" altLang="ko-KR" sz="1400" dirty="0"/>
              <a:t>&gt;&lt;/</a:t>
            </a:r>
            <a:r>
              <a:rPr lang="ko-KR" altLang="ko-KR" sz="1400" dirty="0" err="1"/>
              <a:t>li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        &lt;</a:t>
            </a:r>
            <a:r>
              <a:rPr lang="ko-KR" altLang="ko-KR" sz="1400" dirty="0" err="1"/>
              <a:t>li</a:t>
            </a:r>
            <a:r>
              <a:rPr lang="ko-KR" altLang="ko-KR" sz="1400" dirty="0"/>
              <a:t>&gt;&lt;</a:t>
            </a:r>
            <a:r>
              <a:rPr lang="ko-KR" altLang="ko-KR" sz="1400" dirty="0" err="1"/>
              <a:t>a</a:t>
            </a:r>
            <a:r>
              <a:rPr lang="ko-KR" altLang="ko-KR" sz="1400" dirty="0"/>
              <a:t> </a:t>
            </a:r>
            <a:r>
              <a:rPr lang="ko-KR" altLang="ko-KR" sz="1400" dirty="0" err="1"/>
              <a:t>href</a:t>
            </a:r>
            <a:r>
              <a:rPr lang="ko-KR" altLang="ko-KR" sz="1400" dirty="0"/>
              <a:t>="/</a:t>
            </a:r>
            <a:r>
              <a:rPr lang="ko-KR" altLang="ko-KR" sz="1400" dirty="0" err="1"/>
              <a:t>member</a:t>
            </a:r>
            <a:r>
              <a:rPr lang="ko-KR" altLang="ko-KR" sz="1400" dirty="0"/>
              <a:t>"&gt;</a:t>
            </a:r>
            <a:r>
              <a:rPr lang="ko-KR" altLang="ko-KR" sz="1400" dirty="0" err="1"/>
              <a:t>member연결</a:t>
            </a:r>
            <a:r>
              <a:rPr lang="ko-KR" altLang="ko-KR" sz="1400" dirty="0"/>
              <a:t>&lt;/</a:t>
            </a:r>
            <a:r>
              <a:rPr lang="ko-KR" altLang="ko-KR" sz="1400" dirty="0" err="1"/>
              <a:t>a</a:t>
            </a:r>
            <a:r>
              <a:rPr lang="ko-KR" altLang="ko-KR" sz="1400" dirty="0"/>
              <a:t>&gt;&lt;/</a:t>
            </a:r>
            <a:r>
              <a:rPr lang="ko-KR" altLang="ko-KR" sz="1400" dirty="0" err="1"/>
              <a:t>li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    &lt;/</a:t>
            </a:r>
            <a:r>
              <a:rPr lang="ko-KR" altLang="ko-KR" sz="1400" dirty="0" err="1"/>
              <a:t>ul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&lt;/</a:t>
            </a:r>
            <a:r>
              <a:rPr lang="ko-KR" altLang="ko-KR" sz="1400" dirty="0" err="1"/>
              <a:t>body</a:t>
            </a:r>
            <a:r>
              <a:rPr lang="ko-KR" altLang="ko-KR" sz="1400" dirty="0"/>
              <a:t>&gt;</a:t>
            </a:r>
          </a:p>
          <a:p>
            <a:r>
              <a:rPr lang="ko-KR" altLang="ko-KR" sz="1400" dirty="0"/>
              <a:t>&lt;/</a:t>
            </a:r>
            <a:r>
              <a:rPr lang="ko-KR" altLang="ko-KR" sz="1400" dirty="0" err="1"/>
              <a:t>html</a:t>
            </a:r>
            <a:r>
              <a:rPr lang="ko-KR" altLang="ko-KR" sz="1400" dirty="0"/>
              <a:t>&gt;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C7B096-55AB-6E89-715D-0EA9DA8C4BAC}"/>
              </a:ext>
            </a:extLst>
          </p:cNvPr>
          <p:cNvSpPr/>
          <p:nvPr/>
        </p:nvSpPr>
        <p:spPr>
          <a:xfrm>
            <a:off x="8061364" y="1035593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index.html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D7C818-A898-75F5-19C9-7F7B19100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88" y="1035593"/>
            <a:ext cx="2187456" cy="18756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A8D0560-4E19-D9ED-1BB6-D93C8D105CF7}"/>
              </a:ext>
            </a:extLst>
          </p:cNvPr>
          <p:cNvSpPr/>
          <p:nvPr/>
        </p:nvSpPr>
        <p:spPr>
          <a:xfrm>
            <a:off x="287975" y="2239347"/>
            <a:ext cx="2195469" cy="429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1605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AA87-73AB-333A-53AA-30BEF18E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E8B682F3-1008-F4D2-523C-C83DEC757FDA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D16FB35-A583-5374-EF5F-F398CE50BE3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08326ED-6831-3B05-4842-321DDFA9B69B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html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연결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– static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0DFAE7-8CFE-2F89-0922-0417A17B4445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4625DF7A-03E5-5F55-9E34-ECD6E80D1334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ACC04B-198C-14E3-F338-AAF17A75C072}"/>
              </a:ext>
            </a:extLst>
          </p:cNvPr>
          <p:cNvSpPr/>
          <p:nvPr/>
        </p:nvSpPr>
        <p:spPr>
          <a:xfrm>
            <a:off x="2567087" y="1035593"/>
            <a:ext cx="6923201" cy="500553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ko-KR" altLang="ko-KR" dirty="0"/>
              <a:t>h3{</a:t>
            </a:r>
          </a:p>
          <a:p>
            <a:r>
              <a:rPr lang="ko-KR" altLang="ko-KR" dirty="0"/>
              <a:t>    </a:t>
            </a:r>
            <a:r>
              <a:rPr lang="ko-KR" altLang="ko-KR" dirty="0" err="1"/>
              <a:t>color:red</a:t>
            </a:r>
            <a:r>
              <a:rPr lang="ko-KR" altLang="ko-KR" dirty="0"/>
              <a:t>;</a:t>
            </a:r>
          </a:p>
          <a:p>
            <a:r>
              <a:rPr lang="ko-KR" altLang="ko-KR" dirty="0"/>
              <a:t>}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10AE06-022C-205B-8CEA-811E269B2F53}"/>
              </a:ext>
            </a:extLst>
          </p:cNvPr>
          <p:cNvSpPr/>
          <p:nvPr/>
        </p:nvSpPr>
        <p:spPr>
          <a:xfrm>
            <a:off x="8061364" y="1035593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style.css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FE0D402-CA37-EC57-9D09-DA10763A4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88" y="1035593"/>
            <a:ext cx="2187456" cy="18756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4765338-A87F-0BDF-FE06-72BC31EA0EDD}"/>
              </a:ext>
            </a:extLst>
          </p:cNvPr>
          <p:cNvSpPr/>
          <p:nvPr/>
        </p:nvSpPr>
        <p:spPr>
          <a:xfrm>
            <a:off x="287975" y="1758767"/>
            <a:ext cx="2195469" cy="429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9306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A801B-EC40-990C-09C6-CA9F7AF9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9EA65819-CCDA-9894-0704-B739955C5FBA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61445DA-3779-8A53-86E7-3E3B4A51F4DA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B2E96B-3303-DCB7-6B3E-AB7AFE3D98A6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Language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DD2258-D1CD-CC85-7AE0-176B30FAC6ED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763F11D-453B-74CF-0CEA-DB32F32350D0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CF2CEA0-FD3E-9B70-8E0B-D67D12C13F30}"/>
              </a:ext>
            </a:extLst>
          </p:cNvPr>
          <p:cNvSpPr txBox="1"/>
          <p:nvPr/>
        </p:nvSpPr>
        <p:spPr>
          <a:xfrm>
            <a:off x="1464469" y="1319510"/>
            <a:ext cx="6186486" cy="22079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Template 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태그 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: {% 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문법 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%}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Template 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변수 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: {{ 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변수 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}}</a:t>
            </a:r>
          </a:p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Template 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필터 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: {{ 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변수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|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옵션 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D0B55-83D8-8026-C36C-6F4A716D2A89}"/>
              </a:ext>
            </a:extLst>
          </p:cNvPr>
          <p:cNvSpPr txBox="1"/>
          <p:nvPr/>
        </p:nvSpPr>
        <p:spPr>
          <a:xfrm>
            <a:off x="6223430" y="6596390"/>
            <a:ext cx="59685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https://velog.io/@jewon119/Django-%EA%B8%B0%EC%B4%88-Template-Language</a:t>
            </a:r>
          </a:p>
        </p:txBody>
      </p:sp>
    </p:spTree>
    <p:extLst>
      <p:ext uri="{BB962C8B-B14F-4D97-AF65-F5344CB8AC3E}">
        <p14:creationId xmlns:p14="http://schemas.microsoft.com/office/powerpoint/2010/main" val="2221337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1178-553B-8306-2072-B4D9633F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DAF54EE5-0E22-60E5-8580-84738E5B53A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D254FD0-C907-552C-5AEF-8F080A85E035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82E59E-4B7C-08C9-D414-541B8386C1F6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Language - Template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태그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{%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문법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%}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A66397D-216D-16EC-7505-2762E425DB5F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76D9A6F-B5C4-9BE3-D336-4517778D00C6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74D90F-E245-818C-60F6-05CB955FD9BA}"/>
              </a:ext>
            </a:extLst>
          </p:cNvPr>
          <p:cNvSpPr/>
          <p:nvPr/>
        </p:nvSpPr>
        <p:spPr>
          <a:xfrm>
            <a:off x="416358" y="1070212"/>
            <a:ext cx="10937442" cy="54163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html 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상에서 프로그래밍 로직을 이용할 수 있는 태그</a:t>
            </a:r>
            <a:endParaRPr lang="en-US" altLang="ko-KR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load static, for, if 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</a:t>
            </a:r>
            <a:endParaRPr lang="en-US" altLang="ko-KR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and, or, not, and not, &gt; &gt;=, &lt; &lt;= ,in, not in </a:t>
            </a:r>
            <a:r>
              <a:rPr lang="ko-KR" altLang="en-US" sz="2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등의 비교연산이 가능</a:t>
            </a:r>
            <a:endParaRPr lang="en-US" altLang="ko-KR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0" i="0" dirty="0">
                <a:solidFill>
                  <a:srgbClr val="000000"/>
                </a:solidFill>
                <a:effectLst/>
                <a:latin typeface="TheJamsil2Light"/>
              </a:rPr>
              <a:t>{% </a:t>
            </a:r>
            <a:r>
              <a:rPr lang="en-US" altLang="ko-KR" sz="2400" b="0" i="0" dirty="0" err="1">
                <a:solidFill>
                  <a:srgbClr val="000000"/>
                </a:solidFill>
                <a:effectLst/>
                <a:latin typeface="TheJamsil2Light"/>
              </a:rPr>
              <a:t>csrf_token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TheJamsil2Light"/>
              </a:rPr>
              <a:t> %}</a:t>
            </a:r>
            <a:r>
              <a:rPr lang="en-US" altLang="ko-KR" sz="2400" b="0" i="0" spc="-1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heJamsil2Light"/>
              </a:rPr>
              <a:t>  :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TheJamsil2Light"/>
              </a:rPr>
              <a:t>CSRF 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TheJamsil2Light"/>
              </a:rPr>
              <a:t>공격 방지를 위한 태그</a:t>
            </a:r>
            <a:br>
              <a:rPr lang="en-US" altLang="ko-KR" sz="2400" b="0" i="0" spc="-1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heJamsil2Light"/>
              </a:rPr>
            </a:br>
            <a:r>
              <a:rPr lang="ko-KR" altLang="en-US" sz="2400" b="0" i="0" dirty="0">
                <a:solidFill>
                  <a:srgbClr val="000000"/>
                </a:solidFill>
                <a:effectLst/>
                <a:latin typeface="TheJamsil2Light"/>
              </a:rPr>
              <a:t>장고 내부적으로 </a:t>
            </a:r>
            <a:r>
              <a:rPr lang="en-US" altLang="ko-KR" sz="2400" b="0" i="0" dirty="0">
                <a:solidFill>
                  <a:srgbClr val="000000"/>
                </a:solidFill>
                <a:effectLst/>
                <a:latin typeface="TheJamsil2Light"/>
              </a:rPr>
              <a:t>CSRF </a:t>
            </a:r>
            <a:r>
              <a:rPr lang="ko-KR" altLang="en-US" sz="2400" b="0" i="0" dirty="0" err="1">
                <a:solidFill>
                  <a:srgbClr val="000000"/>
                </a:solidFill>
                <a:effectLst/>
                <a:latin typeface="TheJamsil2Light"/>
              </a:rPr>
              <a:t>토큰값의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TheJamsil2Light"/>
              </a:rPr>
              <a:t> 유효성을 검증</a:t>
            </a:r>
            <a:br>
              <a:rPr lang="en-US" altLang="ko-KR" sz="2400" b="0" i="0" spc="-1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heJamsil2Light"/>
              </a:rPr>
            </a:br>
            <a:r>
              <a:rPr lang="en-US" altLang="ko-KR" sz="2400" b="0" i="0" dirty="0">
                <a:solidFill>
                  <a:srgbClr val="000000"/>
                </a:solidFill>
                <a:effectLst/>
                <a:latin typeface="TheJamsil2Light"/>
              </a:rPr>
              <a:t>form</a:t>
            </a:r>
            <a:r>
              <a:rPr lang="ko-KR" altLang="en-US" sz="2400" b="0" i="0" dirty="0">
                <a:solidFill>
                  <a:srgbClr val="000000"/>
                </a:solidFill>
                <a:effectLst/>
                <a:latin typeface="TheJamsil2Light"/>
              </a:rPr>
              <a:t>태그의 첫 줄에 입력</a:t>
            </a:r>
            <a:endParaRPr lang="en-US" altLang="ko-KR" sz="2400" spc="-150" dirty="0">
              <a:solidFill>
                <a:srgbClr val="000000"/>
              </a:solidFill>
              <a:latin typeface="TheJamsil2Light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en-US" altLang="ko-KR" sz="2400" b="0" i="0" dirty="0">
                <a:solidFill>
                  <a:srgbClr val="000000"/>
                </a:solidFill>
                <a:effectLst/>
                <a:latin typeface="TheJamsil2Light"/>
              </a:rPr>
              <a:t>block content, extends</a:t>
            </a:r>
            <a:br>
              <a:rPr lang="en-US" altLang="ko-KR" sz="2400" b="0" i="0" spc="-150" dirty="0">
                <a:solidFill>
                  <a:srgbClr val="000000"/>
                </a:solidFill>
                <a:effectLst/>
                <a:latin typeface="TheJamsil2Light"/>
              </a:rPr>
            </a:br>
            <a:r>
              <a:rPr lang="ko-KR" altLang="en-US" sz="2400" b="0" i="0" spc="-150" dirty="0">
                <a:solidFill>
                  <a:srgbClr val="000000"/>
                </a:solidFill>
                <a:effectLst/>
                <a:latin typeface="TheJamsil2Light"/>
              </a:rPr>
              <a:t>템플릿 확장에 활용하는 태그</a:t>
            </a:r>
            <a:endParaRPr lang="ko-KR" altLang="en-US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205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A7CF-2EEC-E074-1515-26FC1183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4B398936-6FE5-80B6-0F64-6B1D080F34D1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74E23D0-5BD1-352C-15BD-BC8D69A28145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0D713BD-6FCF-A5C7-3FDC-0E73E8DD90E1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Language - Template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태그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{%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문법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%}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1F8B19-6A45-B525-5E36-EADBAFEC15DB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B92A5DB-24EB-CA75-582B-15033CD0E048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9F5242-E590-0B0D-F5D9-4998547C39C0}"/>
              </a:ext>
            </a:extLst>
          </p:cNvPr>
          <p:cNvSpPr/>
          <p:nvPr/>
        </p:nvSpPr>
        <p:spPr>
          <a:xfrm>
            <a:off x="416358" y="1070214"/>
            <a:ext cx="10937442" cy="865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{% for I in value %} .. {% </a:t>
            </a:r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endfor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%}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{% if %} .. {% </a:t>
            </a:r>
            <a:r>
              <a:rPr lang="en-US" altLang="ko-KR" sz="20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elif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%} .. {% else %} .. {% endif %}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B750E-E36A-AFD5-A6B0-73A33797842B}"/>
              </a:ext>
            </a:extLst>
          </p:cNvPr>
          <p:cNvSpPr txBox="1"/>
          <p:nvPr/>
        </p:nvSpPr>
        <p:spPr>
          <a:xfrm>
            <a:off x="416358" y="2092931"/>
            <a:ext cx="5270067" cy="47089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{%load static%}</a:t>
            </a:r>
          </a:p>
          <a:p>
            <a:r>
              <a:rPr lang="en-US" altLang="ko-KR" sz="2000" dirty="0"/>
              <a:t>&lt;!DOCTYPE html&gt;</a:t>
            </a:r>
          </a:p>
          <a:p>
            <a:r>
              <a:rPr lang="en-US" altLang="ko-KR" sz="2000" dirty="0"/>
              <a:t>&lt;html lang="</a:t>
            </a:r>
            <a:r>
              <a:rPr lang="en-US" altLang="ko-KR" sz="2000" dirty="0" err="1"/>
              <a:t>en</a:t>
            </a:r>
            <a:r>
              <a:rPr lang="en-US" altLang="ko-KR" sz="2000" dirty="0"/>
              <a:t>"&gt;</a:t>
            </a:r>
          </a:p>
          <a:p>
            <a:r>
              <a:rPr lang="en-US" altLang="ko-KR" sz="2000" dirty="0"/>
              <a:t>  &lt;head&gt;</a:t>
            </a:r>
          </a:p>
          <a:p>
            <a:r>
              <a:rPr lang="en-US" altLang="ko-KR" sz="2000" dirty="0"/>
              <a:t>    &lt;title&gt;Document&lt;/title&gt;</a:t>
            </a:r>
          </a:p>
          <a:p>
            <a:r>
              <a:rPr lang="en-US" altLang="ko-KR" sz="2000" dirty="0"/>
              <a:t>  &lt;/head&gt;</a:t>
            </a:r>
          </a:p>
          <a:p>
            <a:r>
              <a:rPr lang="en-US" altLang="ko-KR" sz="2000" dirty="0"/>
              <a:t>  &lt;body&gt;</a:t>
            </a:r>
          </a:p>
          <a:p>
            <a:r>
              <a:rPr lang="en-US" altLang="ko-KR" sz="2000" dirty="0"/>
              <a:t>    &lt;h1&gt;Template Language!&lt;/h1&gt;</a:t>
            </a:r>
          </a:p>
          <a:p>
            <a:r>
              <a:rPr lang="en-US" altLang="ko-KR" sz="2000" dirty="0"/>
              <a:t>    &lt;p&gt;{{value}}&lt;/p&gt;</a:t>
            </a:r>
          </a:p>
          <a:p>
            <a:r>
              <a:rPr lang="en-US" altLang="ko-KR" sz="2000" dirty="0"/>
              <a:t>    {% for </a:t>
            </a:r>
            <a:r>
              <a:rPr lang="en-US" altLang="ko-KR" sz="2000" dirty="0" err="1"/>
              <a:t>i</a:t>
            </a:r>
            <a:r>
              <a:rPr lang="en-US" altLang="ko-KR" sz="2000" dirty="0"/>
              <a:t> in value %}</a:t>
            </a:r>
          </a:p>
          <a:p>
            <a:r>
              <a:rPr lang="en-US" altLang="ko-KR" sz="2000" dirty="0"/>
              <a:t>    &lt;div&gt;{{</a:t>
            </a:r>
            <a:r>
              <a:rPr lang="en-US" altLang="ko-KR" sz="2000" dirty="0" err="1"/>
              <a:t>forloop.counter</a:t>
            </a:r>
            <a:r>
              <a:rPr lang="en-US" altLang="ko-KR" sz="2000" dirty="0"/>
              <a:t>}} </a:t>
            </a:r>
            <a:r>
              <a:rPr lang="ko-KR" altLang="en-US" sz="2000" dirty="0"/>
              <a:t>번째 </a:t>
            </a:r>
            <a:r>
              <a:rPr lang="en-US" altLang="ko-KR" sz="2000" dirty="0"/>
              <a:t>data&lt;/div&gt;</a:t>
            </a:r>
          </a:p>
          <a:p>
            <a:r>
              <a:rPr lang="en-US" altLang="ko-KR" sz="2000" dirty="0"/>
              <a:t>    &lt;div&gt;</a:t>
            </a:r>
            <a:r>
              <a:rPr lang="ko-KR" altLang="en-US" sz="2000" dirty="0"/>
              <a:t>제목 </a:t>
            </a:r>
            <a:r>
              <a:rPr lang="en-US" altLang="ko-KR" sz="2000" dirty="0"/>
              <a:t>: {{</a:t>
            </a:r>
            <a:r>
              <a:rPr lang="en-US" altLang="ko-KR" sz="2000" dirty="0" err="1"/>
              <a:t>i.title</a:t>
            </a:r>
            <a:r>
              <a:rPr lang="en-US" altLang="ko-KR" sz="2000" dirty="0"/>
              <a:t>}}&lt;/div&gt;</a:t>
            </a:r>
          </a:p>
          <a:p>
            <a:r>
              <a:rPr lang="en-US" altLang="ko-KR" sz="2000" dirty="0"/>
              <a:t>    &lt;div&gt;</a:t>
            </a:r>
            <a:r>
              <a:rPr lang="ko-KR" altLang="en-US" sz="2000" dirty="0" err="1"/>
              <a:t>추천수</a:t>
            </a:r>
            <a:r>
              <a:rPr lang="ko-KR" altLang="en-US" sz="2000" dirty="0"/>
              <a:t> </a:t>
            </a:r>
            <a:r>
              <a:rPr lang="en-US" altLang="ko-KR" sz="2000" dirty="0"/>
              <a:t>: {{</a:t>
            </a:r>
            <a:r>
              <a:rPr lang="en-US" altLang="ko-KR" sz="2000" dirty="0" err="1"/>
              <a:t>i.likeCount</a:t>
            </a:r>
            <a:r>
              <a:rPr lang="en-US" altLang="ko-KR" sz="2000" dirty="0"/>
              <a:t>}}&lt;/div&gt;</a:t>
            </a:r>
          </a:p>
          <a:p>
            <a:r>
              <a:rPr lang="en-US" altLang="ko-KR" sz="2000" dirty="0"/>
              <a:t>    &lt;div&gt;</a:t>
            </a:r>
            <a:r>
              <a:rPr lang="ko-KR" altLang="en-US" sz="2000" dirty="0"/>
              <a:t>조회수 </a:t>
            </a:r>
            <a:r>
              <a:rPr lang="en-US" altLang="ko-KR" sz="2000" dirty="0"/>
              <a:t>: {{</a:t>
            </a:r>
            <a:r>
              <a:rPr lang="en-US" altLang="ko-KR" sz="2000" dirty="0" err="1"/>
              <a:t>i.viewCount</a:t>
            </a:r>
            <a:r>
              <a:rPr lang="en-US" altLang="ko-KR" sz="2000" dirty="0"/>
              <a:t>}}&lt;/div&gt;</a:t>
            </a:r>
          </a:p>
          <a:p>
            <a:r>
              <a:rPr lang="en-US" altLang="ko-KR" sz="2000" dirty="0"/>
              <a:t>    &lt;div&gt;</a:t>
            </a:r>
            <a:r>
              <a:rPr lang="ko-KR" altLang="en-US" sz="2000" dirty="0"/>
              <a:t>내용 </a:t>
            </a:r>
            <a:r>
              <a:rPr lang="en-US" altLang="ko-KR" sz="2000" dirty="0"/>
              <a:t>: {{</a:t>
            </a:r>
            <a:r>
              <a:rPr lang="en-US" altLang="ko-KR" sz="2000" dirty="0" err="1"/>
              <a:t>i.contents</a:t>
            </a:r>
            <a:r>
              <a:rPr lang="en-US" altLang="ko-KR" sz="2000" dirty="0"/>
              <a:t>}}&lt;/div&gt;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EA8A8-ED4F-F169-FC43-0999A61DA608}"/>
              </a:ext>
            </a:extLst>
          </p:cNvPr>
          <p:cNvSpPr txBox="1"/>
          <p:nvPr/>
        </p:nvSpPr>
        <p:spPr>
          <a:xfrm>
            <a:off x="5988483" y="2092931"/>
            <a:ext cx="5270067" cy="3477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    {% if </a:t>
            </a:r>
            <a:r>
              <a:rPr lang="en-US" altLang="ko-KR" sz="2000" dirty="0" err="1"/>
              <a:t>i.viewCount</a:t>
            </a:r>
            <a:r>
              <a:rPr lang="en-US" altLang="ko-KR" sz="2000" dirty="0"/>
              <a:t> &gt; 10 %}</a:t>
            </a:r>
          </a:p>
          <a:p>
            <a:r>
              <a:rPr lang="en-US" altLang="ko-KR" sz="2000" dirty="0"/>
              <a:t>    &lt;p&gt;</a:t>
            </a:r>
            <a:r>
              <a:rPr lang="ko-KR" altLang="en-US" sz="2000" dirty="0"/>
              <a:t>조회수가 </a:t>
            </a:r>
            <a:r>
              <a:rPr lang="en-US" altLang="ko-KR" sz="2000" dirty="0"/>
              <a:t>10</a:t>
            </a:r>
            <a:r>
              <a:rPr lang="ko-KR" altLang="en-US" sz="2000" dirty="0"/>
              <a:t>이상 입니다</a:t>
            </a:r>
            <a:r>
              <a:rPr lang="en-US" altLang="ko-KR" sz="2000" dirty="0"/>
              <a:t>.&lt;/p&gt;</a:t>
            </a:r>
          </a:p>
          <a:p>
            <a:r>
              <a:rPr lang="en-US" altLang="ko-KR" sz="2000" dirty="0"/>
              <a:t>    {% </a:t>
            </a:r>
            <a:r>
              <a:rPr lang="en-US" altLang="ko-KR" sz="2000" dirty="0" err="1"/>
              <a:t>elif</a:t>
            </a:r>
            <a:r>
              <a:rPr lang="en-US" altLang="ko-KR" sz="2000" dirty="0"/>
              <a:t> </a:t>
            </a:r>
            <a:r>
              <a:rPr lang="en-US" altLang="ko-KR" sz="2000" dirty="0" err="1"/>
              <a:t>i.viewCount</a:t>
            </a:r>
            <a:r>
              <a:rPr lang="en-US" altLang="ko-KR" sz="2000" dirty="0"/>
              <a:t> &gt; 5 %}</a:t>
            </a:r>
          </a:p>
          <a:p>
            <a:r>
              <a:rPr lang="en-US" altLang="ko-KR" sz="2000" dirty="0"/>
              <a:t>    &lt;p&gt;</a:t>
            </a:r>
            <a:r>
              <a:rPr lang="ko-KR" altLang="en-US" sz="2000" dirty="0"/>
              <a:t>조회수가 </a:t>
            </a:r>
            <a:r>
              <a:rPr lang="en-US" altLang="ko-KR" sz="2000" dirty="0"/>
              <a:t>5</a:t>
            </a:r>
            <a:r>
              <a:rPr lang="ko-KR" altLang="en-US" sz="2000" dirty="0"/>
              <a:t>이상 </a:t>
            </a:r>
            <a:r>
              <a:rPr lang="en-US" altLang="ko-KR" sz="2000" dirty="0"/>
              <a:t>10</a:t>
            </a:r>
            <a:r>
              <a:rPr lang="ko-KR" altLang="en-US" sz="2000" dirty="0"/>
              <a:t>미만 입니다</a:t>
            </a:r>
            <a:r>
              <a:rPr lang="en-US" altLang="ko-KR" sz="2000" dirty="0"/>
              <a:t>.&lt;/p&gt;</a:t>
            </a:r>
          </a:p>
          <a:p>
            <a:r>
              <a:rPr lang="en-US" altLang="ko-KR" sz="2000" dirty="0"/>
              <a:t>    {% else %}</a:t>
            </a:r>
          </a:p>
          <a:p>
            <a:r>
              <a:rPr lang="en-US" altLang="ko-KR" sz="2000" dirty="0"/>
              <a:t>    &lt;p&gt;</a:t>
            </a:r>
            <a:r>
              <a:rPr lang="ko-KR" altLang="en-US" sz="2000" dirty="0"/>
              <a:t>조회수가 </a:t>
            </a:r>
            <a:r>
              <a:rPr lang="en-US" altLang="ko-KR" sz="2000" dirty="0"/>
              <a:t>5</a:t>
            </a:r>
            <a:r>
              <a:rPr lang="ko-KR" altLang="en-US" sz="2000" dirty="0"/>
              <a:t>미만 입니다</a:t>
            </a:r>
            <a:r>
              <a:rPr lang="en-US" altLang="ko-KR" sz="2000" dirty="0"/>
              <a:t>.&lt;/p&gt;</a:t>
            </a:r>
          </a:p>
          <a:p>
            <a:r>
              <a:rPr lang="en-US" altLang="ko-KR" sz="2000" dirty="0"/>
              <a:t>    {% endif %}</a:t>
            </a:r>
          </a:p>
          <a:p>
            <a:r>
              <a:rPr lang="en-US" altLang="ko-KR" sz="2000" dirty="0"/>
              <a:t>    &lt;</a:t>
            </a:r>
            <a:r>
              <a:rPr lang="en-US" altLang="ko-KR" sz="2000" dirty="0" err="1"/>
              <a:t>br</a:t>
            </a:r>
            <a:r>
              <a:rPr lang="en-US" altLang="ko-KR" sz="2000" dirty="0"/>
              <a:t> /&gt;</a:t>
            </a:r>
          </a:p>
          <a:p>
            <a:r>
              <a:rPr lang="en-US" altLang="ko-KR" sz="2000" dirty="0"/>
              <a:t>    {% </a:t>
            </a:r>
            <a:r>
              <a:rPr lang="en-US" altLang="ko-KR" sz="2000" dirty="0" err="1"/>
              <a:t>endfor</a:t>
            </a:r>
            <a:r>
              <a:rPr lang="en-US" altLang="ko-KR" sz="2000" dirty="0"/>
              <a:t> %}</a:t>
            </a:r>
          </a:p>
          <a:p>
            <a:r>
              <a:rPr lang="en-US" altLang="ko-KR" sz="2000" dirty="0"/>
              <a:t>  &lt;/body&gt;</a:t>
            </a:r>
          </a:p>
          <a:p>
            <a:r>
              <a:rPr lang="en-US" altLang="ko-KR" sz="2000" dirty="0"/>
              <a:t>&lt;/html&gt;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71487B-00B0-8FE0-FA40-6D5CB2505309}"/>
              </a:ext>
            </a:extLst>
          </p:cNvPr>
          <p:cNvSpPr/>
          <p:nvPr/>
        </p:nvSpPr>
        <p:spPr>
          <a:xfrm>
            <a:off x="5988483" y="2134862"/>
            <a:ext cx="5270067" cy="21704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50C9DBE-E788-5692-2ECD-72BDD40CE669}"/>
              </a:ext>
            </a:extLst>
          </p:cNvPr>
          <p:cNvSpPr/>
          <p:nvPr/>
        </p:nvSpPr>
        <p:spPr>
          <a:xfrm>
            <a:off x="4257501" y="209293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646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ADA6-0C83-F511-9E87-15595145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7D0C0E77-02B6-9994-E576-8A07E6227995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4A2C3B8A-C778-FCBB-689E-5F2003A1370D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C2E8B3-B78D-CC86-8BB3-DBD6C2BF16D3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Language - Template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태그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{%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문법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%}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E80DB47-A931-8425-61D5-019314308B85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7647A9BD-F32F-D018-786C-7D3EB2FCC13A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797CF963-DD6A-3C9C-6482-5C3B5A571301}"/>
              </a:ext>
            </a:extLst>
          </p:cNvPr>
          <p:cNvSpPr/>
          <p:nvPr/>
        </p:nvSpPr>
        <p:spPr>
          <a:xfrm>
            <a:off x="416358" y="1070214"/>
            <a:ext cx="10937442" cy="865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{% with </a:t>
            </a:r>
            <a:r>
              <a:rPr lang="ko-KR" altLang="en-US" sz="2800" spc="-15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변수명</a:t>
            </a:r>
            <a:r>
              <a:rPr lang="ko-KR" alt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'</a:t>
            </a:r>
            <a:r>
              <a:rPr lang="ko-KR" altLang="en-US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값</a:t>
            </a:r>
            <a:r>
              <a:rPr lang="en-US" altLang="ko-KR" sz="28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 %}</a:t>
            </a:r>
            <a:endParaRPr lang="ko-KR" altLang="en-US" sz="28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728FF-B458-429D-CD84-E51BE0997904}"/>
              </a:ext>
            </a:extLst>
          </p:cNvPr>
          <p:cNvSpPr txBox="1"/>
          <p:nvPr/>
        </p:nvSpPr>
        <p:spPr>
          <a:xfrm>
            <a:off x="416358" y="2092931"/>
            <a:ext cx="10937442" cy="409342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{%load static%}</a:t>
            </a:r>
          </a:p>
          <a:p>
            <a:r>
              <a:rPr lang="en-US" altLang="ko-KR" sz="2000" dirty="0"/>
              <a:t>&lt;!DOCTYPE html&gt;</a:t>
            </a:r>
          </a:p>
          <a:p>
            <a:r>
              <a:rPr lang="en-US" altLang="ko-KR" sz="2000" dirty="0"/>
              <a:t>&lt;html lang="</a:t>
            </a:r>
            <a:r>
              <a:rPr lang="en-US" altLang="ko-KR" sz="2000" dirty="0" err="1"/>
              <a:t>en</a:t>
            </a:r>
            <a:r>
              <a:rPr lang="en-US" altLang="ko-KR" sz="2000" dirty="0"/>
              <a:t>"&gt;</a:t>
            </a:r>
          </a:p>
          <a:p>
            <a:r>
              <a:rPr lang="en-US" altLang="ko-KR" sz="2000" dirty="0"/>
              <a:t>  &lt;head&gt;</a:t>
            </a:r>
          </a:p>
          <a:p>
            <a:r>
              <a:rPr lang="en-US" altLang="ko-KR" sz="2000" dirty="0"/>
              <a:t>    &lt;title&gt;Document&lt;/title&gt;</a:t>
            </a:r>
          </a:p>
          <a:p>
            <a:r>
              <a:rPr lang="en-US" altLang="ko-KR" sz="2000" dirty="0"/>
              <a:t>  &lt;/head&gt;</a:t>
            </a:r>
          </a:p>
          <a:p>
            <a:r>
              <a:rPr lang="en-US" altLang="ko-KR" sz="2000" dirty="0"/>
              <a:t>  &lt;body&gt;</a:t>
            </a:r>
          </a:p>
          <a:p>
            <a:r>
              <a:rPr lang="en-US" altLang="ko-KR" sz="2000" dirty="0"/>
              <a:t>    &lt;h1&gt;Template Language!&lt;/h1&gt;</a:t>
            </a:r>
          </a:p>
          <a:p>
            <a:r>
              <a:rPr lang="en-US" altLang="ko-KR" sz="2000" dirty="0"/>
              <a:t>    {% with value='hello Django'%}  </a:t>
            </a:r>
            <a:r>
              <a:rPr lang="ko-KR" altLang="en-US" sz="2000" dirty="0"/>
              <a:t>👈 </a:t>
            </a:r>
            <a:r>
              <a:rPr lang="en-US" altLang="ko-KR" sz="2000" dirty="0"/>
              <a:t>"hello Django"</a:t>
            </a:r>
            <a:r>
              <a:rPr lang="ko-KR" altLang="en-US" sz="2000" dirty="0"/>
              <a:t>를 </a:t>
            </a:r>
            <a:r>
              <a:rPr lang="en-US" altLang="ko-KR" sz="2000" dirty="0"/>
              <a:t>value</a:t>
            </a:r>
            <a:r>
              <a:rPr lang="ko-KR" altLang="en-US" sz="2000" dirty="0"/>
              <a:t>라는 변수에 담았어요</a:t>
            </a:r>
            <a:r>
              <a:rPr lang="en-US" altLang="ko-KR" sz="2000" dirty="0"/>
              <a:t>:)</a:t>
            </a:r>
          </a:p>
          <a:p>
            <a:r>
              <a:rPr lang="en-US" altLang="ko-KR" sz="2000" dirty="0"/>
              <a:t>    &lt;h4&gt;{{value}}&lt;/h4&gt;</a:t>
            </a:r>
          </a:p>
          <a:p>
            <a:r>
              <a:rPr lang="en-US" altLang="ko-KR" sz="2000" dirty="0"/>
              <a:t>    {% </a:t>
            </a:r>
            <a:r>
              <a:rPr lang="en-US" altLang="ko-KR" sz="2000" dirty="0" err="1"/>
              <a:t>endwith</a:t>
            </a:r>
            <a:r>
              <a:rPr lang="en-US" altLang="ko-KR" sz="2000" dirty="0"/>
              <a:t> %}</a:t>
            </a:r>
          </a:p>
          <a:p>
            <a:r>
              <a:rPr lang="en-US" altLang="ko-KR" sz="2000" dirty="0"/>
              <a:t>  &lt;/body&gt;</a:t>
            </a:r>
          </a:p>
          <a:p>
            <a:r>
              <a:rPr lang="en-US" altLang="ko-KR" sz="2000" dirty="0"/>
              <a:t>&lt;/html&gt;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470C52-E617-B2BB-C024-3A44503B0086}"/>
              </a:ext>
            </a:extLst>
          </p:cNvPr>
          <p:cNvSpPr/>
          <p:nvPr/>
        </p:nvSpPr>
        <p:spPr>
          <a:xfrm>
            <a:off x="9924876" y="209293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667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66DE-510B-E4A8-639B-50AAFB9B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13253CE-6CEE-8EBD-67ED-B3A92CCF37C7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88A5D22-5916-FA30-2FFE-73704AC220F8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747FF7B-1ED2-E94C-FB80-B7F7B46749B4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변수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{{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변수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7C1660-B845-C066-1A1C-1021B6AABE79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B8C0C3A-FB8B-E4FF-B414-FA5C5C0E469C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425CB2-EDF6-20CF-3ACA-9C5076429AC0}"/>
              </a:ext>
            </a:extLst>
          </p:cNvPr>
          <p:cNvSpPr/>
          <p:nvPr/>
        </p:nvSpPr>
        <p:spPr>
          <a:xfrm>
            <a:off x="416358" y="1070214"/>
            <a:ext cx="10937442" cy="865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view.py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에서 변수에 데이터를 넣어 템플릿으로 전달</a:t>
            </a:r>
            <a:endParaRPr lang="en-US" altLang="ko-KR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html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파일 안에서 해당 변수 사용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( </a:t>
            </a:r>
            <a:r>
              <a:rPr lang="en-US" altLang="ko-KR" sz="2000" dirty="0" err="1">
                <a:solidFill>
                  <a:srgbClr val="212529"/>
                </a:solidFill>
                <a:latin typeface="-apple-system"/>
              </a:rPr>
              <a:t>d</a:t>
            </a:r>
            <a:r>
              <a:rPr lang="en-US" altLang="ko-KR" sz="2000" b="0" i="0" dirty="0" err="1">
                <a:solidFill>
                  <a:srgbClr val="212529"/>
                </a:solidFill>
                <a:effectLst/>
                <a:latin typeface="-apple-system"/>
              </a:rPr>
              <a:t>ict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형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, list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형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단일변수 모두 전달 가능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)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CD7D7-5825-B4FB-00D3-A601CE481EFA}"/>
              </a:ext>
            </a:extLst>
          </p:cNvPr>
          <p:cNvSpPr txBox="1"/>
          <p:nvPr/>
        </p:nvSpPr>
        <p:spPr>
          <a:xfrm>
            <a:off x="416358" y="2092931"/>
            <a:ext cx="5679642" cy="45243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&lt;body&gt;</a:t>
            </a:r>
          </a:p>
          <a:p>
            <a:r>
              <a:rPr lang="en-US" altLang="ko-KR" dirty="0"/>
              <a:t>    &lt;h1&gt;Template Language!&lt;/h1&gt;</a:t>
            </a:r>
          </a:p>
          <a:p>
            <a:r>
              <a:rPr lang="en-US" altLang="ko-KR" dirty="0"/>
              <a:t>    &lt;&lt;p&gt;</a:t>
            </a:r>
          </a:p>
          <a:p>
            <a:r>
              <a:rPr lang="en-US" altLang="ko-KR" dirty="0"/>
              <a:t>      &lt;div&gt;l </a:t>
            </a:r>
            <a:r>
              <a:rPr lang="ko-KR" altLang="en-US" dirty="0"/>
              <a:t>출력 </a:t>
            </a:r>
            <a:r>
              <a:rPr lang="en-US" altLang="ko-KR" dirty="0"/>
              <a:t>: {{l}}&lt;/div&gt;</a:t>
            </a:r>
          </a:p>
          <a:p>
            <a:r>
              <a:rPr lang="en-US" altLang="ko-KR" dirty="0"/>
              <a:t>      &lt;div&gt;l</a:t>
            </a:r>
            <a:r>
              <a:rPr lang="ko-KR" altLang="en-US" dirty="0"/>
              <a:t>의 </a:t>
            </a:r>
            <a:r>
              <a:rPr lang="en-US" altLang="ko-KR" dirty="0"/>
              <a:t>0</a:t>
            </a:r>
            <a:r>
              <a:rPr lang="ko-KR" altLang="en-US" dirty="0"/>
              <a:t>번째 값은 </a:t>
            </a:r>
            <a:r>
              <a:rPr lang="en-US" altLang="ko-KR" dirty="0"/>
              <a:t>: {{l.0}}&lt;/div&gt;  </a:t>
            </a:r>
            <a:r>
              <a:rPr lang="en-US" altLang="ko-KR" dirty="0">
                <a:solidFill>
                  <a:srgbClr val="FF0000"/>
                </a:solidFill>
              </a:rPr>
              <a:t># </a:t>
            </a:r>
            <a:r>
              <a:rPr lang="ko-KR" altLang="en-US" dirty="0">
                <a:solidFill>
                  <a:srgbClr val="FF0000"/>
                </a:solidFill>
              </a:rPr>
              <a:t>리스트타입 출력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      &lt;div&gt;l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번째 값은 </a:t>
            </a:r>
            <a:r>
              <a:rPr lang="en-US" altLang="ko-KR" dirty="0"/>
              <a:t>: {{l.1}}&lt;/div&gt;  </a:t>
            </a:r>
          </a:p>
          <a:p>
            <a:r>
              <a:rPr lang="en-US" altLang="ko-KR" dirty="0"/>
              <a:t>      &lt;div&gt;l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번째 값은 </a:t>
            </a:r>
            <a:r>
              <a:rPr lang="en-US" altLang="ko-KR" dirty="0"/>
              <a:t>: {{l.2}}&lt;/div&gt;</a:t>
            </a:r>
          </a:p>
          <a:p>
            <a:r>
              <a:rPr lang="en-US" altLang="ko-KR" dirty="0"/>
              <a:t>    &lt;/p&gt;</a:t>
            </a:r>
          </a:p>
          <a:p>
            <a:r>
              <a:rPr lang="en-US" altLang="ko-KR" dirty="0"/>
              <a:t>    &lt;p&gt;</a:t>
            </a:r>
          </a:p>
          <a:p>
            <a:r>
              <a:rPr lang="en-US" altLang="ko-KR" dirty="0"/>
              <a:t>      &lt;div&gt;d </a:t>
            </a:r>
            <a:r>
              <a:rPr lang="ko-KR" altLang="en-US" dirty="0"/>
              <a:t>출력 </a:t>
            </a:r>
            <a:r>
              <a:rPr lang="en-US" altLang="ko-KR" dirty="0"/>
              <a:t>: {{d}}&lt;/div&gt;</a:t>
            </a:r>
          </a:p>
          <a:p>
            <a:r>
              <a:rPr lang="en-US" altLang="ko-KR" dirty="0"/>
              <a:t>      &lt;div&gt;d</a:t>
            </a:r>
            <a:r>
              <a:rPr lang="ko-KR" altLang="en-US" dirty="0"/>
              <a:t>의 </a:t>
            </a:r>
            <a:r>
              <a:rPr lang="en-US" altLang="ko-KR" dirty="0"/>
              <a:t>key(name) </a:t>
            </a:r>
            <a:r>
              <a:rPr lang="ko-KR" altLang="en-US" dirty="0"/>
              <a:t>값은 </a:t>
            </a:r>
            <a:r>
              <a:rPr lang="en-US" altLang="ko-KR" dirty="0"/>
              <a:t>: {{d.name}}&lt;/div&gt; </a:t>
            </a:r>
          </a:p>
          <a:p>
            <a:r>
              <a:rPr lang="en-US" altLang="ko-KR" dirty="0"/>
              <a:t>      &lt;div&gt;d</a:t>
            </a:r>
            <a:r>
              <a:rPr lang="ko-KR" altLang="en-US" dirty="0"/>
              <a:t>의 </a:t>
            </a:r>
            <a:r>
              <a:rPr lang="en-US" altLang="ko-KR" dirty="0"/>
              <a:t>key(age)) </a:t>
            </a:r>
            <a:r>
              <a:rPr lang="ko-KR" altLang="en-US" dirty="0"/>
              <a:t>값은 </a:t>
            </a:r>
            <a:r>
              <a:rPr lang="en-US" altLang="ko-KR" dirty="0"/>
              <a:t>: {{</a:t>
            </a:r>
            <a:r>
              <a:rPr lang="en-US" altLang="ko-KR" dirty="0" err="1"/>
              <a:t>d.age</a:t>
            </a:r>
            <a:r>
              <a:rPr lang="en-US" altLang="ko-KR" dirty="0"/>
              <a:t>}}&lt;/div&gt;</a:t>
            </a:r>
          </a:p>
          <a:p>
            <a:r>
              <a:rPr lang="en-US" altLang="ko-KR" dirty="0"/>
              <a:t>      &lt;div&gt;d</a:t>
            </a:r>
            <a:r>
              <a:rPr lang="ko-KR" altLang="en-US" dirty="0"/>
              <a:t>의 </a:t>
            </a:r>
            <a:r>
              <a:rPr lang="en-US" altLang="ko-KR" dirty="0"/>
              <a:t>key(location) </a:t>
            </a:r>
            <a:r>
              <a:rPr lang="ko-KR" altLang="en-US" dirty="0"/>
              <a:t>값은 </a:t>
            </a:r>
            <a:r>
              <a:rPr lang="en-US" altLang="ko-KR" dirty="0"/>
              <a:t>: {{</a:t>
            </a:r>
            <a:r>
              <a:rPr lang="en-US" altLang="ko-KR" dirty="0" err="1"/>
              <a:t>d.location</a:t>
            </a:r>
            <a:r>
              <a:rPr lang="en-US" altLang="ko-KR" dirty="0"/>
              <a:t>}}&lt;/div&gt;</a:t>
            </a:r>
          </a:p>
          <a:p>
            <a:r>
              <a:rPr lang="en-US" altLang="ko-KR" dirty="0"/>
              <a:t>      &lt;div&gt;d</a:t>
            </a:r>
            <a:r>
              <a:rPr lang="ko-KR" altLang="en-US" dirty="0"/>
              <a:t>의 </a:t>
            </a:r>
            <a:r>
              <a:rPr lang="en-US" altLang="ko-KR" dirty="0"/>
              <a:t>key(</a:t>
            </a:r>
            <a:r>
              <a:rPr lang="en-US" altLang="ko-KR" dirty="0" err="1"/>
              <a:t>isman</a:t>
            </a:r>
            <a:r>
              <a:rPr lang="en-US" altLang="ko-KR" dirty="0"/>
              <a:t>) </a:t>
            </a:r>
            <a:r>
              <a:rPr lang="ko-KR" altLang="en-US" dirty="0"/>
              <a:t>값은 </a:t>
            </a:r>
            <a:r>
              <a:rPr lang="en-US" altLang="ko-KR" dirty="0"/>
              <a:t>: {{</a:t>
            </a:r>
            <a:r>
              <a:rPr lang="en-US" altLang="ko-KR" dirty="0" err="1"/>
              <a:t>d.isman</a:t>
            </a:r>
            <a:r>
              <a:rPr lang="en-US" altLang="ko-KR" dirty="0"/>
              <a:t>}}&lt;/div&gt;</a:t>
            </a:r>
          </a:p>
          <a:p>
            <a:r>
              <a:rPr lang="en-US" altLang="ko-KR" dirty="0"/>
              <a:t>    &lt;/p&gt;</a:t>
            </a:r>
          </a:p>
          <a:p>
            <a:r>
              <a:rPr lang="en-US" altLang="ko-KR" dirty="0"/>
              <a:t>  &lt;/body&gt;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C5308-45C6-1A90-E89B-79A35190C60B}"/>
              </a:ext>
            </a:extLst>
          </p:cNvPr>
          <p:cNvSpPr txBox="1"/>
          <p:nvPr/>
        </p:nvSpPr>
        <p:spPr>
          <a:xfrm>
            <a:off x="6223430" y="2092931"/>
            <a:ext cx="5679642" cy="286232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# views.py</a:t>
            </a:r>
          </a:p>
          <a:p>
            <a:r>
              <a:rPr lang="en-US" altLang="ko-KR" dirty="0"/>
              <a:t>from </a:t>
            </a:r>
            <a:r>
              <a:rPr lang="en-US" altLang="ko-KR" dirty="0" err="1"/>
              <a:t>django.shortcuts</a:t>
            </a:r>
            <a:r>
              <a:rPr lang="en-US" altLang="ko-KR" dirty="0"/>
              <a:t> import render, redirect</a:t>
            </a:r>
          </a:p>
          <a:p>
            <a:r>
              <a:rPr lang="en-US" altLang="ko-KR" dirty="0"/>
              <a:t>from </a:t>
            </a:r>
            <a:r>
              <a:rPr lang="en-US" altLang="ko-KR" dirty="0" err="1"/>
              <a:t>django.http</a:t>
            </a:r>
            <a:r>
              <a:rPr lang="en-US" altLang="ko-KR" dirty="0"/>
              <a:t> import </a:t>
            </a:r>
            <a:r>
              <a:rPr lang="en-US" altLang="ko-KR" dirty="0" err="1"/>
              <a:t>HttpResponse</a:t>
            </a:r>
            <a:r>
              <a:rPr lang="en-US" altLang="ko-KR" dirty="0"/>
              <a:t>, </a:t>
            </a:r>
            <a:r>
              <a:rPr lang="en-US" altLang="ko-KR" dirty="0" err="1"/>
              <a:t>JsonResponse</a:t>
            </a:r>
            <a:endParaRPr lang="en-US" altLang="ko-KR" dirty="0"/>
          </a:p>
          <a:p>
            <a:r>
              <a:rPr lang="en-US" altLang="ko-KR" dirty="0"/>
              <a:t>def sample(request):</a:t>
            </a:r>
          </a:p>
          <a:p>
            <a:r>
              <a:rPr lang="en-US" altLang="ko-KR" dirty="0"/>
              <a:t>    </a:t>
            </a:r>
            <a:r>
              <a:rPr lang="en-US" altLang="ko-KR" dirty="0">
                <a:solidFill>
                  <a:srgbClr val="FF0000"/>
                </a:solidFill>
              </a:rPr>
              <a:t>d = {'name':'</a:t>
            </a:r>
            <a:r>
              <a:rPr lang="en-US" altLang="ko-KR" dirty="0" err="1">
                <a:solidFill>
                  <a:srgbClr val="FF0000"/>
                </a:solidFill>
              </a:rPr>
              <a:t>jaewon</a:t>
            </a:r>
            <a:r>
              <a:rPr lang="en-US" altLang="ko-KR" dirty="0">
                <a:solidFill>
                  <a:srgbClr val="FF0000"/>
                </a:solidFill>
              </a:rPr>
              <a:t>', 'age':99, 'location':'</a:t>
            </a:r>
            <a:r>
              <a:rPr lang="en-US" altLang="ko-KR" dirty="0" err="1">
                <a:solidFill>
                  <a:srgbClr val="FF0000"/>
                </a:solidFill>
              </a:rPr>
              <a:t>seoul</a:t>
            </a:r>
            <a:r>
              <a:rPr lang="en-US" altLang="ko-KR" dirty="0">
                <a:solidFill>
                  <a:srgbClr val="FF0000"/>
                </a:solidFill>
              </a:rPr>
              <a:t>', '</a:t>
            </a:r>
            <a:r>
              <a:rPr lang="en-US" altLang="ko-KR" dirty="0" err="1">
                <a:solidFill>
                  <a:srgbClr val="FF0000"/>
                </a:solidFill>
              </a:rPr>
              <a:t>isman</a:t>
            </a:r>
            <a:r>
              <a:rPr lang="en-US" altLang="ko-KR" dirty="0">
                <a:solidFill>
                  <a:srgbClr val="FF0000"/>
                </a:solidFill>
              </a:rPr>
              <a:t>':True}           # </a:t>
            </a:r>
            <a:r>
              <a:rPr lang="en-US" altLang="ko-KR" dirty="0" err="1">
                <a:solidFill>
                  <a:srgbClr val="FF0000"/>
                </a:solidFill>
              </a:rPr>
              <a:t>dic</a:t>
            </a:r>
            <a:r>
              <a:rPr lang="ko-KR" altLang="en-US" dirty="0">
                <a:solidFill>
                  <a:srgbClr val="FF0000"/>
                </a:solidFill>
              </a:rPr>
              <a:t>타입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   l = [100,200,300] # </a:t>
            </a:r>
            <a:r>
              <a:rPr lang="ko-KR" altLang="en-US" dirty="0">
                <a:solidFill>
                  <a:srgbClr val="FF0000"/>
                </a:solidFill>
              </a:rPr>
              <a:t>리스트타입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    return render(request, 'sample.html',</a:t>
            </a:r>
            <a:r>
              <a:rPr lang="en-US" altLang="ko-KR" dirty="0">
                <a:solidFill>
                  <a:srgbClr val="FF0000"/>
                </a:solidFill>
              </a:rPr>
              <a:t> {'</a:t>
            </a:r>
            <a:r>
              <a:rPr lang="en-US" altLang="ko-KR" dirty="0" err="1">
                <a:solidFill>
                  <a:srgbClr val="FF0000"/>
                </a:solidFill>
              </a:rPr>
              <a:t>d':d</a:t>
            </a:r>
            <a:r>
              <a:rPr lang="en-US" altLang="ko-KR" dirty="0">
                <a:solidFill>
                  <a:srgbClr val="FF0000"/>
                </a:solidFill>
              </a:rPr>
              <a:t>, '</a:t>
            </a:r>
            <a:r>
              <a:rPr lang="en-US" altLang="ko-KR" dirty="0" err="1">
                <a:solidFill>
                  <a:srgbClr val="FF0000"/>
                </a:solidFill>
              </a:rPr>
              <a:t>l’:l</a:t>
            </a:r>
            <a:r>
              <a:rPr lang="en-US" altLang="ko-KR" dirty="0">
                <a:solidFill>
                  <a:srgbClr val="FF0000"/>
                </a:solidFill>
              </a:rPr>
              <a:t>}  </a:t>
            </a:r>
            <a:r>
              <a:rPr lang="en-US" altLang="ko-KR" dirty="0"/>
              <a:t>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750786-DCEC-13DC-8084-C8A4A34828C4}"/>
              </a:ext>
            </a:extLst>
          </p:cNvPr>
          <p:cNvSpPr/>
          <p:nvPr/>
        </p:nvSpPr>
        <p:spPr>
          <a:xfrm>
            <a:off x="10474148" y="209293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8D579C-97E3-4153-F551-999ACE48A0C4}"/>
              </a:ext>
            </a:extLst>
          </p:cNvPr>
          <p:cNvSpPr/>
          <p:nvPr/>
        </p:nvSpPr>
        <p:spPr>
          <a:xfrm>
            <a:off x="4667076" y="209293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EAB7E-2C85-F631-A187-B27FD6F334DA}"/>
              </a:ext>
            </a:extLst>
          </p:cNvPr>
          <p:cNvSpPr txBox="1"/>
          <p:nvPr/>
        </p:nvSpPr>
        <p:spPr>
          <a:xfrm>
            <a:off x="5061024" y="5086975"/>
            <a:ext cx="1684836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# </a:t>
            </a:r>
            <a:r>
              <a:rPr lang="en-US" altLang="ko-KR" dirty="0" err="1">
                <a:solidFill>
                  <a:srgbClr val="FF0000"/>
                </a:solidFill>
              </a:rPr>
              <a:t>dic</a:t>
            </a:r>
            <a:r>
              <a:rPr lang="ko-KR" altLang="en-US" dirty="0">
                <a:solidFill>
                  <a:srgbClr val="FF0000"/>
                </a:solidFill>
              </a:rPr>
              <a:t>타입 출력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996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7645-8AB6-ADCA-836D-6888B3F65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FE4CDE7D-A035-71F6-9C07-54A361D56E83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A93EC73-DF8D-FDD2-60B5-0B52CCD45D89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040ED5-FF02-50F8-6A7F-94FA40AEB287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필터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{{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변수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옵션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376196-AAEE-BD00-49EB-06FD6A41508B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AC1752D9-016A-DFFD-A09D-EE5D37D8C4E6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F278DB-0801-1AF0-DAE2-EC39021C9A17}"/>
              </a:ext>
            </a:extLst>
          </p:cNvPr>
          <p:cNvSpPr/>
          <p:nvPr/>
        </p:nvSpPr>
        <p:spPr>
          <a:xfrm>
            <a:off x="416358" y="1070214"/>
            <a:ext cx="10937442" cy="49171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템플릿 변수의 값을 변환시키기 위한 옵션으로 사용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(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템플릿 변수에 파이프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(|)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를 붙인 뒤 사용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주로 문자열이나 리스트 등의 </a:t>
            </a:r>
            <a:r>
              <a:rPr lang="ko-KR" altLang="en-US" sz="2000" b="0" i="0" dirty="0" err="1">
                <a:solidFill>
                  <a:srgbClr val="212529"/>
                </a:solidFill>
                <a:effectLst/>
                <a:latin typeface="-apple-system"/>
              </a:rPr>
              <a:t>길이구하기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2000" b="0" i="0" dirty="0" err="1">
                <a:solidFill>
                  <a:srgbClr val="212529"/>
                </a:solidFill>
                <a:effectLst/>
                <a:latin typeface="-apple-system"/>
              </a:rPr>
              <a:t>슬라이싱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합치기 등에 활용</a:t>
            </a:r>
            <a:endParaRPr lang="en-US" altLang="ko-KR" sz="2000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길이 구하기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: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템플릿변수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| length }}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리스트를 문자열로 합치기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: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변수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|join:"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옵션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" }}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소문자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&amp;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대문자로 변환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: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변수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|lower }} /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변수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|upper }}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리스트에서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random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하게 추출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: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리스트형 변수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|random }}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문자열로 </a:t>
            </a:r>
            <a:r>
              <a:rPr lang="ko-KR" altLang="en-US" sz="2000" b="0" i="0" dirty="0" err="1">
                <a:solidFill>
                  <a:srgbClr val="212529"/>
                </a:solidFill>
                <a:effectLst/>
                <a:latin typeface="-apple-system"/>
              </a:rPr>
              <a:t>슬라이싱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: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변수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|slice:"n:n" }}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Django Templates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에서 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lorem </a:t>
            </a:r>
            <a:r>
              <a:rPr lang="ko-KR" altLang="en-US" sz="2000" b="0" i="0" dirty="0">
                <a:solidFill>
                  <a:srgbClr val="212529"/>
                </a:solidFill>
                <a:effectLst/>
                <a:latin typeface="-apple-system"/>
              </a:rPr>
              <a:t>사용하는 방법은 아래와 같음</a:t>
            </a:r>
            <a:b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</a:b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{{ lorem [count][</a:t>
            </a:r>
            <a:r>
              <a:rPr lang="en-US" altLang="ko-KR" sz="2000" b="0" i="0" dirty="0" err="1">
                <a:solidFill>
                  <a:srgbClr val="212529"/>
                </a:solidFill>
                <a:effectLst/>
                <a:latin typeface="-apple-system"/>
              </a:rPr>
              <a:t>mehod</a:t>
            </a:r>
            <a:r>
              <a:rPr lang="en-US" altLang="ko-KR" sz="2000" b="0" i="0" dirty="0">
                <a:solidFill>
                  <a:srgbClr val="212529"/>
                </a:solidFill>
                <a:effectLst/>
                <a:latin typeface="-apple-system"/>
              </a:rPr>
              <a:t>][random] }}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89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C58DF-4C7A-B012-3547-7B0D4489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C6F2AAB5-EA74-C22A-EECF-2ED842BB5191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BE8779F-B32F-3E24-D84D-106D6A9AEC35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21392AC-4990-F9AD-C9BF-700DD5FF116E}"/>
              </a:ext>
            </a:extLst>
          </p:cNvPr>
          <p:cNvSpPr txBox="1"/>
          <p:nvPr/>
        </p:nvSpPr>
        <p:spPr>
          <a:xfrm>
            <a:off x="660400" y="203587"/>
            <a:ext cx="111260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Template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필터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{{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변수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옵션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}}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127067-10B6-DD11-E0EC-12E3B700AAE4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BAE09D5-AA81-B1CD-E47B-1569E05DBE8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8778F51-7B46-877F-29FE-007E22CA4817}"/>
              </a:ext>
            </a:extLst>
          </p:cNvPr>
          <p:cNvSpPr txBox="1"/>
          <p:nvPr/>
        </p:nvSpPr>
        <p:spPr>
          <a:xfrm>
            <a:off x="416358" y="994231"/>
            <a:ext cx="10232592" cy="452431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{%load static%}</a:t>
            </a:r>
          </a:p>
          <a:p>
            <a:r>
              <a:rPr lang="en-US" altLang="ko-KR" dirty="0"/>
              <a:t>&lt;!DOCTYPE html&gt;</a:t>
            </a:r>
          </a:p>
          <a:p>
            <a:r>
              <a:rPr lang="en-US" altLang="ko-KR" dirty="0"/>
              <a:t>&lt;html lang="</a:t>
            </a:r>
            <a:r>
              <a:rPr lang="en-US" altLang="ko-KR" dirty="0" err="1"/>
              <a:t>en</a:t>
            </a:r>
            <a:r>
              <a:rPr lang="en-US" altLang="ko-KR" dirty="0"/>
              <a:t>"&gt;</a:t>
            </a:r>
          </a:p>
          <a:p>
            <a:r>
              <a:rPr lang="en-US" altLang="ko-KR" dirty="0"/>
              <a:t>  &lt;head&gt;</a:t>
            </a:r>
          </a:p>
          <a:p>
            <a:r>
              <a:rPr lang="en-US" altLang="ko-KR" dirty="0"/>
              <a:t>    &lt;title&gt;Document&lt;/title&gt;</a:t>
            </a:r>
          </a:p>
          <a:p>
            <a:r>
              <a:rPr lang="en-US" altLang="ko-KR" dirty="0"/>
              <a:t>  &lt;/head&gt;</a:t>
            </a:r>
          </a:p>
          <a:p>
            <a:r>
              <a:rPr lang="en-US" altLang="ko-KR" dirty="0"/>
              <a:t>  &lt;body&gt;</a:t>
            </a:r>
          </a:p>
          <a:p>
            <a:r>
              <a:rPr lang="en-US" altLang="ko-KR" dirty="0"/>
              <a:t>    &lt;h1&gt;Template Language!&lt;/h1&gt;</a:t>
            </a:r>
          </a:p>
          <a:p>
            <a:r>
              <a:rPr lang="en-US" altLang="ko-KR" dirty="0"/>
              <a:t>    {% with value='hello Django'%}</a:t>
            </a:r>
          </a:p>
          <a:p>
            <a:r>
              <a:rPr lang="en-US" altLang="ko-KR" dirty="0"/>
              <a:t>    &lt;h4&gt;{{value}}&lt;/h4&gt;</a:t>
            </a:r>
          </a:p>
          <a:p>
            <a:r>
              <a:rPr lang="en-US" altLang="ko-KR" dirty="0"/>
              <a:t>    {% </a:t>
            </a:r>
            <a:r>
              <a:rPr lang="en-US" altLang="ko-KR" dirty="0" err="1"/>
              <a:t>endwith</a:t>
            </a:r>
            <a:r>
              <a:rPr lang="en-US" altLang="ko-KR" dirty="0"/>
              <a:t> %}</a:t>
            </a:r>
          </a:p>
          <a:p>
            <a:r>
              <a:rPr lang="en-US" altLang="ko-KR" dirty="0"/>
              <a:t>    {% lorem %}    &lt;!-- </a:t>
            </a:r>
            <a:r>
              <a:rPr lang="ko-KR" altLang="en-US" dirty="0"/>
              <a:t>👈 </a:t>
            </a:r>
            <a:r>
              <a:rPr lang="en-US" altLang="ko-KR" dirty="0"/>
              <a:t>lorem </a:t>
            </a:r>
            <a:r>
              <a:rPr lang="ko-KR" altLang="en-US" dirty="0"/>
              <a:t>생성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	{% lorem 3 p%} &lt;!-- </a:t>
            </a:r>
            <a:r>
              <a:rPr lang="ko-KR" altLang="en-US" dirty="0"/>
              <a:t>👈 </a:t>
            </a:r>
            <a:r>
              <a:rPr lang="en-US" altLang="ko-KR" dirty="0"/>
              <a:t>lorem </a:t>
            </a:r>
            <a:r>
              <a:rPr lang="ko-KR" altLang="en-US" dirty="0"/>
              <a:t>문장</a:t>
            </a:r>
            <a:r>
              <a:rPr lang="en-US" altLang="ko-KR" dirty="0"/>
              <a:t>(p)</a:t>
            </a:r>
            <a:r>
              <a:rPr lang="ko-KR" altLang="en-US" dirty="0"/>
              <a:t>을 </a:t>
            </a:r>
            <a:r>
              <a:rPr lang="en-US" altLang="ko-KR" dirty="0"/>
              <a:t>3</a:t>
            </a:r>
            <a:r>
              <a:rPr lang="ko-KR" altLang="en-US" dirty="0"/>
              <a:t>개 생성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    {% lorem 2 w random %} {% lorem 5 w random %} &lt;!-- </a:t>
            </a:r>
            <a:r>
              <a:rPr lang="ko-KR" altLang="en-US" dirty="0"/>
              <a:t>👈 </a:t>
            </a:r>
            <a:r>
              <a:rPr lang="en-US" altLang="ko-KR" dirty="0"/>
              <a:t>lorem </a:t>
            </a:r>
            <a:r>
              <a:rPr lang="ko-KR" altLang="en-US" dirty="0"/>
              <a:t>단어</a:t>
            </a:r>
            <a:r>
              <a:rPr lang="en-US" altLang="ko-KR" dirty="0"/>
              <a:t>(w)</a:t>
            </a:r>
            <a:r>
              <a:rPr lang="ko-KR" altLang="en-US" dirty="0"/>
              <a:t>을 </a:t>
            </a:r>
            <a:r>
              <a:rPr lang="en-US" altLang="ko-KR" dirty="0"/>
              <a:t>5</a:t>
            </a:r>
            <a:r>
              <a:rPr lang="ko-KR" altLang="en-US" dirty="0"/>
              <a:t>개 랜덤 생성 </a:t>
            </a:r>
            <a:r>
              <a:rPr lang="en-US" altLang="ko-KR" dirty="0"/>
              <a:t>--&gt;</a:t>
            </a:r>
          </a:p>
          <a:p>
            <a:r>
              <a:rPr lang="en-US" altLang="ko-KR" dirty="0"/>
              <a:t>  &lt;/body&gt;</a:t>
            </a:r>
          </a:p>
          <a:p>
            <a:r>
              <a:rPr lang="en-US" altLang="ko-KR" dirty="0"/>
              <a:t>&lt;/html&gt;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434C0D-5D51-F899-9C58-B23B411D221D}"/>
              </a:ext>
            </a:extLst>
          </p:cNvPr>
          <p:cNvSpPr/>
          <p:nvPr/>
        </p:nvSpPr>
        <p:spPr>
          <a:xfrm>
            <a:off x="9220026" y="99423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273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2A920-515E-5ED4-08D1-D69782AC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B487614-D815-6C88-2E89-3298925340AE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710ABB5-0436-3C61-F8E3-97A4441F984E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78D22D-8A07-2CB9-7A43-352371DC8285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4AE4BE-3016-ED53-306C-89CBD6DBB9AC}"/>
              </a:ext>
            </a:extLst>
          </p:cNvPr>
          <p:cNvSpPr txBox="1"/>
          <p:nvPr/>
        </p:nvSpPr>
        <p:spPr>
          <a:xfrm>
            <a:off x="4602644" y="2980067"/>
            <a:ext cx="29867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b="1" dirty="0"/>
              <a:t>ajax </a:t>
            </a:r>
            <a:r>
              <a:rPr lang="ko-KR" altLang="en-US" sz="5400" b="1" dirty="0"/>
              <a:t>통신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395C0DB-0382-0FB1-B934-C77418EF63DB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51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ajax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댓글리스트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1 - get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방식으로 전달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  <a:highlight>
                  <a:srgbClr val="FFFF00"/>
                </a:highlight>
              </a:rPr>
              <a:t> 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405538" y="1176227"/>
            <a:ext cx="6020429" cy="55883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  <a:t># html</a:t>
            </a:r>
            <a:r>
              <a:rPr lang="ko-KR" altLang="en-US" sz="2000" b="1" spc="-150" dirty="0">
                <a:solidFill>
                  <a:schemeClr val="accent3">
                    <a:lumMod val="50000"/>
                  </a:schemeClr>
                </a:solidFill>
              </a:rPr>
              <a:t> 페이지 </a:t>
            </a:r>
            <a:b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</a:br>
            <a:r>
              <a:rPr lang="en-US" altLang="ko-KR" sz="2000" spc="-150" dirty="0">
                <a:solidFill>
                  <a:srgbClr val="FF0000"/>
                </a:solidFill>
              </a:rPr>
              <a:t>&lt;meta name="</a:t>
            </a:r>
            <a:r>
              <a:rPr lang="en-US" altLang="ko-KR" sz="2000" spc="-150" dirty="0" err="1">
                <a:solidFill>
                  <a:srgbClr val="FF0000"/>
                </a:solidFill>
              </a:rPr>
              <a:t>csrf</a:t>
            </a:r>
            <a:r>
              <a:rPr lang="en-US" altLang="ko-KR" sz="2000" spc="-150" dirty="0">
                <a:solidFill>
                  <a:srgbClr val="FF0000"/>
                </a:solidFill>
              </a:rPr>
              <a:t>-token" content="{{ </a:t>
            </a:r>
            <a:r>
              <a:rPr lang="en-US" altLang="ko-KR" sz="2000" spc="-150" dirty="0" err="1">
                <a:solidFill>
                  <a:srgbClr val="FF0000"/>
                </a:solidFill>
              </a:rPr>
              <a:t>csrf_token</a:t>
            </a:r>
            <a:r>
              <a:rPr lang="en-US" altLang="ko-KR" sz="2000" spc="-150" dirty="0">
                <a:solidFill>
                  <a:srgbClr val="FF0000"/>
                </a:solidFill>
              </a:rPr>
              <a:t> }}"&gt;</a:t>
            </a:r>
          </a:p>
          <a:p>
            <a:r>
              <a:rPr lang="en-US" altLang="ko-KR" sz="1400" b="1" dirty="0"/>
              <a:t>&lt;script </a:t>
            </a:r>
            <a:r>
              <a:rPr lang="en-US" altLang="ko-KR" sz="1400" b="1" dirty="0" err="1"/>
              <a:t>src</a:t>
            </a:r>
            <a:r>
              <a:rPr lang="en-US" altLang="ko-KR" sz="1400" b="1" dirty="0"/>
              <a:t>="http://code.jquery.com/jquery-latest.min.js"&gt;&lt;/script&gt;</a:t>
            </a:r>
          </a:p>
          <a:p>
            <a:endParaRPr lang="ko-KR" altLang="en-US" sz="1400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600" dirty="0"/>
              <a:t>&lt;script type=</a:t>
            </a:r>
            <a:r>
              <a:rPr lang="en-US" altLang="ko-KR" sz="1600" i="1" dirty="0"/>
              <a:t>"text/</a:t>
            </a:r>
            <a:r>
              <a:rPr lang="en-US" altLang="ko-KR" sz="1600" i="1" dirty="0" err="1"/>
              <a:t>javascript</a:t>
            </a:r>
            <a:r>
              <a:rPr lang="en-US" altLang="ko-KR" sz="1600" i="1" dirty="0"/>
              <a:t>"&gt;</a:t>
            </a:r>
          </a:p>
          <a:p>
            <a:r>
              <a:rPr lang="en-US" altLang="ko-KR" sz="1600" dirty="0"/>
              <a:t>    $(</a:t>
            </a:r>
            <a:r>
              <a:rPr lang="en-US" altLang="ko-KR" sz="1600" b="1" dirty="0"/>
              <a:t>function(){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const </a:t>
            </a:r>
            <a:r>
              <a:rPr lang="en-US" altLang="ko-KR" sz="1600" dirty="0" err="1">
                <a:solidFill>
                  <a:srgbClr val="FF0000"/>
                </a:solidFill>
              </a:rPr>
              <a:t>csrfToken</a:t>
            </a:r>
            <a:r>
              <a:rPr lang="en-US" altLang="ko-KR" sz="1600" dirty="0">
                <a:solidFill>
                  <a:srgbClr val="FF0000"/>
                </a:solidFill>
              </a:rPr>
              <a:t> = $('meta[name="</a:t>
            </a:r>
            <a:r>
              <a:rPr lang="en-US" altLang="ko-KR" sz="1600" dirty="0" err="1">
                <a:solidFill>
                  <a:srgbClr val="FF0000"/>
                </a:solidFill>
              </a:rPr>
              <a:t>csrf</a:t>
            </a:r>
            <a:r>
              <a:rPr lang="en-US" altLang="ko-KR" sz="1600" dirty="0">
                <a:solidFill>
                  <a:srgbClr val="FF0000"/>
                </a:solidFill>
              </a:rPr>
              <a:t>-token"]').</a:t>
            </a:r>
            <a:r>
              <a:rPr lang="en-US" altLang="ko-KR" sz="1600" dirty="0" err="1">
                <a:solidFill>
                  <a:srgbClr val="FF0000"/>
                </a:solidFill>
              </a:rPr>
              <a:t>attr</a:t>
            </a:r>
            <a:r>
              <a:rPr lang="en-US" altLang="ko-KR" sz="1600" dirty="0">
                <a:solidFill>
                  <a:srgbClr val="FF0000"/>
                </a:solidFill>
              </a:rPr>
              <a:t>('content');</a:t>
            </a:r>
          </a:p>
          <a:p>
            <a:r>
              <a:rPr lang="en-US" altLang="ko-KR" sz="1600" dirty="0"/>
              <a:t>            $.ajax({</a:t>
            </a:r>
          </a:p>
          <a:p>
            <a:r>
              <a:rPr lang="en-US" altLang="ko-KR" sz="1600" dirty="0"/>
              <a:t>                url: “/board/</a:t>
            </a:r>
            <a:r>
              <a:rPr lang="en-US" altLang="ko-KR" sz="1600" dirty="0" err="1"/>
              <a:t>boardList</a:t>
            </a:r>
            <a:r>
              <a:rPr lang="en-US" altLang="ko-KR" sz="1600" dirty="0"/>
              <a:t>",</a:t>
            </a:r>
          </a:p>
          <a:p>
            <a:r>
              <a:rPr lang="en-US" altLang="ko-KR" sz="1600" dirty="0"/>
              <a:t>                type: “GET",</a:t>
            </a:r>
          </a:p>
          <a:p>
            <a:r>
              <a:rPr lang="en-US" altLang="ko-KR" sz="1600" dirty="0"/>
              <a:t>          </a:t>
            </a:r>
            <a:r>
              <a:rPr lang="en-US" altLang="ko-KR" sz="1600" dirty="0">
                <a:solidFill>
                  <a:srgbClr val="FF0000"/>
                </a:solidFill>
              </a:rPr>
              <a:t>headers: { "X-</a:t>
            </a:r>
            <a:r>
              <a:rPr lang="en-US" altLang="ko-KR" sz="1600" dirty="0" err="1">
                <a:solidFill>
                  <a:srgbClr val="FF0000"/>
                </a:solidFill>
              </a:rPr>
              <a:t>CSRFToken</a:t>
            </a:r>
            <a:r>
              <a:rPr lang="en-US" altLang="ko-KR" sz="1600" dirty="0">
                <a:solidFill>
                  <a:srgbClr val="FF0000"/>
                </a:solidFill>
              </a:rPr>
              <a:t>": </a:t>
            </a:r>
            <a:r>
              <a:rPr lang="en-US" altLang="ko-KR" sz="1600" dirty="0" err="1">
                <a:solidFill>
                  <a:srgbClr val="FF0000"/>
                </a:solidFill>
              </a:rPr>
              <a:t>csrfToken</a:t>
            </a:r>
            <a:r>
              <a:rPr lang="en-US" altLang="ko-KR" sz="1600" dirty="0">
                <a:solidFill>
                  <a:srgbClr val="FF0000"/>
                </a:solidFill>
              </a:rPr>
              <a:t> },  // CSRF </a:t>
            </a:r>
            <a:r>
              <a:rPr lang="ko-KR" altLang="en-US" sz="1600" dirty="0">
                <a:solidFill>
                  <a:srgbClr val="FF0000"/>
                </a:solidFill>
              </a:rPr>
              <a:t>토큰 포함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/>
              <a:t>                data:{ “name”: “</a:t>
            </a:r>
            <a:r>
              <a:rPr lang="en-US" altLang="ko-KR" sz="1600" dirty="0" err="1"/>
              <a:t>kim</a:t>
            </a:r>
            <a:r>
              <a:rPr lang="en-US" altLang="ko-KR" sz="1600" dirty="0"/>
              <a:t>”, “age”:30   },</a:t>
            </a:r>
          </a:p>
          <a:p>
            <a:r>
              <a:rPr lang="en-US" altLang="ko-KR" sz="1600" dirty="0"/>
              <a:t>                /* data: $(“#</a:t>
            </a:r>
            <a:r>
              <a:rPr lang="en-US" altLang="ko-KR" sz="1600" dirty="0" err="1"/>
              <a:t>frm</a:t>
            </a:r>
            <a:r>
              <a:rPr lang="en-US" altLang="ko-KR" sz="1600" dirty="0"/>
              <a:t>”).serialize(), */</a:t>
            </a:r>
          </a:p>
          <a:p>
            <a:r>
              <a:rPr lang="en-US" altLang="ko-KR" sz="1600" dirty="0"/>
              <a:t>                success: </a:t>
            </a:r>
            <a:r>
              <a:rPr lang="en-US" altLang="ko-KR" sz="1600" b="1" dirty="0"/>
              <a:t>function(data){</a:t>
            </a:r>
          </a:p>
          <a:p>
            <a:r>
              <a:rPr lang="en-US" altLang="ko-KR" sz="1600" dirty="0"/>
              <a:t>                alert("</a:t>
            </a:r>
            <a:r>
              <a:rPr lang="ko-KR" altLang="en-US" sz="1600" dirty="0"/>
              <a:t>성공</a:t>
            </a:r>
            <a:r>
              <a:rPr lang="en-US" altLang="ko-KR" sz="1600" dirty="0"/>
              <a:t>");</a:t>
            </a:r>
          </a:p>
          <a:p>
            <a:r>
              <a:rPr lang="en-US" altLang="ko-KR" sz="1600" dirty="0"/>
              <a:t>                }</a:t>
            </a:r>
          </a:p>
          <a:p>
            <a:r>
              <a:rPr lang="ko-KR" altLang="en-US" sz="1600" dirty="0"/>
              <a:t>                </a:t>
            </a:r>
            <a:r>
              <a:rPr lang="en-US" altLang="ko-KR" sz="1600" dirty="0"/>
              <a:t>},</a:t>
            </a:r>
          </a:p>
          <a:p>
            <a:r>
              <a:rPr lang="en-US" altLang="ko-KR" sz="1600" dirty="0"/>
              <a:t>                error: </a:t>
            </a:r>
            <a:r>
              <a:rPr lang="en-US" altLang="ko-KR" sz="1600" b="1" dirty="0"/>
              <a:t>function(){</a:t>
            </a:r>
          </a:p>
          <a:p>
            <a:r>
              <a:rPr lang="en-US" altLang="ko-KR" sz="1600" dirty="0"/>
              <a:t>                    alert("</a:t>
            </a:r>
            <a:r>
              <a:rPr lang="ko-KR" altLang="en-US" sz="1600" dirty="0"/>
              <a:t>실패</a:t>
            </a:r>
            <a:r>
              <a:rPr lang="en-US" altLang="ko-KR" sz="1600" dirty="0"/>
              <a:t>");</a:t>
            </a:r>
          </a:p>
          <a:p>
            <a:r>
              <a:rPr lang="ko-KR" altLang="en-US" sz="1600" dirty="0"/>
              <a:t>                </a:t>
            </a:r>
            <a:r>
              <a:rPr lang="en-US" altLang="ko-KR" sz="1600" dirty="0"/>
              <a:t>}</a:t>
            </a:r>
          </a:p>
          <a:p>
            <a:r>
              <a:rPr lang="ko-KR" altLang="en-US" sz="1600" dirty="0"/>
              <a:t>            </a:t>
            </a:r>
            <a:r>
              <a:rPr lang="en-US" altLang="ko-KR" sz="1600" dirty="0"/>
              <a:t>});</a:t>
            </a:r>
          </a:p>
          <a:p>
            <a:r>
              <a:rPr lang="ko-KR" altLang="en-US" sz="1600" dirty="0"/>
              <a:t>    </a:t>
            </a:r>
            <a:r>
              <a:rPr lang="en-US" altLang="ko-KR" sz="1600" dirty="0"/>
              <a:t>});</a:t>
            </a:r>
            <a:endParaRPr lang="en-US" altLang="ko-KR" sz="1050" dirty="0">
              <a:latin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8769A4-B893-4ADB-AE43-DB984F1B3D5D}"/>
              </a:ext>
            </a:extLst>
          </p:cNvPr>
          <p:cNvSpPr/>
          <p:nvPr/>
        </p:nvSpPr>
        <p:spPr>
          <a:xfrm>
            <a:off x="6681159" y="1632272"/>
            <a:ext cx="5373822" cy="33957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b="1" spc="-150" dirty="0">
                <a:solidFill>
                  <a:schemeClr val="accent3">
                    <a:lumMod val="50000"/>
                  </a:schemeClr>
                </a:solidFill>
              </a:rPr>
              <a:t># ajax </a:t>
            </a:r>
            <a:r>
              <a:rPr lang="ko-KR" altLang="en-US" b="1" spc="-150" dirty="0">
                <a:solidFill>
                  <a:schemeClr val="accent3">
                    <a:lumMod val="50000"/>
                  </a:schemeClr>
                </a:solidFill>
              </a:rPr>
              <a:t>구조</a:t>
            </a:r>
            <a:br>
              <a:rPr lang="en-US" altLang="ko-KR" b="1" spc="-150" dirty="0">
                <a:solidFill>
                  <a:schemeClr val="accent3">
                    <a:lumMod val="50000"/>
                  </a:schemeClr>
                </a:solidFill>
              </a:rPr>
            </a:br>
            <a:endParaRPr lang="en-US" altLang="ko-KR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600" dirty="0" err="1"/>
              <a:t>url</a:t>
            </a:r>
            <a:r>
              <a:rPr lang="en-US" altLang="ko-KR" sz="1600" dirty="0"/>
              <a:t> : </a:t>
            </a:r>
            <a:r>
              <a:rPr lang="ko-KR" altLang="en-US" sz="1600" dirty="0"/>
              <a:t>호출해야 할 </a:t>
            </a:r>
            <a:r>
              <a:rPr lang="en-US" altLang="ko-KR" sz="1600" dirty="0" err="1"/>
              <a:t>url</a:t>
            </a:r>
            <a:r>
              <a:rPr lang="ko-KR" altLang="en-US" sz="1600" dirty="0"/>
              <a:t>경로</a:t>
            </a:r>
          </a:p>
          <a:p>
            <a:r>
              <a:rPr lang="en-US" altLang="ko-KR" sz="1600" dirty="0"/>
              <a:t>type : post </a:t>
            </a:r>
            <a:r>
              <a:rPr lang="ko-KR" altLang="en-US" sz="1600" dirty="0"/>
              <a:t>또는 </a:t>
            </a:r>
            <a:r>
              <a:rPr lang="en-US" altLang="ko-KR" sz="1600" dirty="0"/>
              <a:t>get </a:t>
            </a:r>
            <a:r>
              <a:rPr lang="ko-KR" altLang="en-US" sz="1600" dirty="0"/>
              <a:t>요청 방식</a:t>
            </a:r>
          </a:p>
          <a:p>
            <a:r>
              <a:rPr lang="en-US" altLang="ko-KR" sz="1600" dirty="0"/>
              <a:t>data : </a:t>
            </a:r>
            <a:r>
              <a:rPr lang="ko-KR" altLang="en-US" sz="1600" dirty="0"/>
              <a:t>전달해야 할 데이터 </a:t>
            </a:r>
            <a:r>
              <a:rPr lang="en-US" altLang="ko-KR" sz="1600" dirty="0"/>
              <a:t>{json String} </a:t>
            </a:r>
            <a:r>
              <a:rPr lang="ko-KR" altLang="en-US" sz="1600" dirty="0"/>
              <a:t>보통 </a:t>
            </a:r>
            <a:r>
              <a:rPr lang="en-US" altLang="ko-KR" sz="1600" dirty="0"/>
              <a:t>json</a:t>
            </a:r>
            <a:r>
              <a:rPr lang="ko-KR" altLang="en-US" sz="1600" dirty="0"/>
              <a:t>형태로 전달</a:t>
            </a:r>
          </a:p>
          <a:p>
            <a:r>
              <a:rPr lang="en-US" altLang="ko-KR" sz="1600" dirty="0" err="1"/>
              <a:t>contentType</a:t>
            </a:r>
            <a:r>
              <a:rPr lang="en-US" altLang="ko-KR" sz="1600" dirty="0"/>
              <a:t> : </a:t>
            </a:r>
            <a:r>
              <a:rPr lang="ko-KR" altLang="en-US" sz="1600" dirty="0"/>
              <a:t>전송할 데이터 타입 </a:t>
            </a:r>
          </a:p>
          <a:p>
            <a:r>
              <a:rPr lang="en-US" altLang="ko-KR" sz="1600" dirty="0"/>
              <a:t>datatype : </a:t>
            </a:r>
            <a:r>
              <a:rPr lang="ko-KR" altLang="en-US" sz="1600" dirty="0"/>
              <a:t>서버로 부터 리턴 타입을 지정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beforeSend</a:t>
            </a:r>
            <a:r>
              <a:rPr lang="en-US" altLang="ko-KR" sz="1600" dirty="0"/>
              <a:t> : </a:t>
            </a:r>
            <a:r>
              <a:rPr lang="en-US" altLang="ko-KR" sz="1600" dirty="0" err="1"/>
              <a:t>fucntion</a:t>
            </a:r>
            <a:r>
              <a:rPr lang="en-US" altLang="ko-KR" sz="1600" dirty="0"/>
              <a:t>()</a:t>
            </a:r>
            <a:br>
              <a:rPr lang="en-US" altLang="ko-KR" sz="1600" dirty="0"/>
            </a:br>
            <a:r>
              <a:rPr lang="en-US" altLang="ko-KR" sz="1600" dirty="0"/>
              <a:t>{ ajax</a:t>
            </a:r>
            <a:r>
              <a:rPr lang="ko-KR" altLang="en-US" sz="1600" dirty="0"/>
              <a:t>호출 전 수행해야할 액티비티 로직 처리</a:t>
            </a:r>
            <a:r>
              <a:rPr lang="en-US" altLang="ko-KR" sz="1600" dirty="0"/>
              <a:t>}</a:t>
            </a:r>
          </a:p>
          <a:p>
            <a:r>
              <a:rPr lang="en-US" altLang="ko-KR" sz="1600" dirty="0"/>
              <a:t>success : function(data) {</a:t>
            </a:r>
            <a:r>
              <a:rPr lang="ko-KR" altLang="en-US" sz="1600" dirty="0"/>
              <a:t>요청이 완료된 경우 처리 </a:t>
            </a:r>
            <a:r>
              <a:rPr lang="en-US" altLang="ko-KR" sz="1600" dirty="0"/>
              <a:t>}</a:t>
            </a:r>
          </a:p>
          <a:p>
            <a:r>
              <a:rPr lang="en-US" altLang="ko-KR" sz="1600" dirty="0"/>
              <a:t>error : function(data) {</a:t>
            </a:r>
            <a:r>
              <a:rPr lang="ko-KR" altLang="en-US" sz="1600" dirty="0"/>
              <a:t>실패 </a:t>
            </a:r>
            <a:r>
              <a:rPr lang="ko-KR" altLang="en-US" sz="1600" dirty="0" err="1"/>
              <a:t>했을경우</a:t>
            </a:r>
            <a:r>
              <a:rPr lang="ko-KR" altLang="en-US" sz="1600" dirty="0"/>
              <a:t> 처리</a:t>
            </a:r>
            <a:r>
              <a:rPr lang="en-US" altLang="ko-KR" sz="1600" dirty="0"/>
              <a:t>}</a:t>
            </a:r>
            <a:endParaRPr lang="en-US" altLang="ko-KR" sz="1050" dirty="0">
              <a:latin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997043" y="114875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CDEDB-F519-48D5-9761-B931BF941228}"/>
              </a:ext>
            </a:extLst>
          </p:cNvPr>
          <p:cNvSpPr txBox="1"/>
          <p:nvPr/>
        </p:nvSpPr>
        <p:spPr>
          <a:xfrm>
            <a:off x="7611541" y="6360079"/>
            <a:ext cx="45804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2"/>
              </a:rPr>
              <a:t>https://velog.io/@ansalstmd/Django-Ajax-%EC%97%B0%EB%8F%99</a:t>
            </a:r>
            <a:endParaRPr lang="en-US" altLang="ko-KR" sz="1100" dirty="0"/>
          </a:p>
          <a:p>
            <a:r>
              <a:rPr lang="en-US" altLang="ko-KR" sz="1100" dirty="0"/>
              <a:t>https://codong.tistory.com/29</a:t>
            </a:r>
            <a:endParaRPr lang="ko-KR" alt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716A5-530F-AB00-A193-48093BE6ED78}"/>
              </a:ext>
            </a:extLst>
          </p:cNvPr>
          <p:cNvSpPr txBox="1"/>
          <p:nvPr/>
        </p:nvSpPr>
        <p:spPr>
          <a:xfrm>
            <a:off x="6681159" y="5358606"/>
            <a:ext cx="524917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dirty="0"/>
              <a:t>@csrf_exempt   </a:t>
            </a:r>
            <a:br>
              <a:rPr lang="en-US" altLang="ko-KR" sz="1800" b="1" dirty="0">
                <a:solidFill>
                  <a:srgbClr val="FF0000"/>
                </a:solidFill>
              </a:rPr>
            </a:br>
            <a:r>
              <a:rPr lang="en-US" altLang="ko-KR" sz="1800" b="1" dirty="0">
                <a:solidFill>
                  <a:srgbClr val="FF0000"/>
                </a:solidFill>
              </a:rPr>
              <a:t># </a:t>
            </a:r>
            <a:r>
              <a:rPr lang="en-US" altLang="ko-KR" sz="1800" dirty="0">
                <a:solidFill>
                  <a:srgbClr val="FF0000"/>
                </a:solidFill>
              </a:rPr>
              <a:t>views.py</a:t>
            </a:r>
            <a:r>
              <a:rPr lang="ko-KR" altLang="en-US" sz="1800" dirty="0">
                <a:solidFill>
                  <a:srgbClr val="FF0000"/>
                </a:solidFill>
              </a:rPr>
              <a:t>에서 </a:t>
            </a:r>
            <a:r>
              <a:rPr lang="en-US" altLang="ko-KR" sz="1800" dirty="0" err="1">
                <a:solidFill>
                  <a:srgbClr val="FF0000"/>
                </a:solidFill>
              </a:rPr>
              <a:t>csrf</a:t>
            </a:r>
            <a:r>
              <a:rPr lang="en-US" altLang="ko-KR" sz="1800" dirty="0">
                <a:solidFill>
                  <a:srgbClr val="FF0000"/>
                </a:solidFill>
              </a:rPr>
              <a:t> </a:t>
            </a:r>
            <a:r>
              <a:rPr lang="ko-KR" altLang="en-US" sz="1800" dirty="0">
                <a:solidFill>
                  <a:srgbClr val="FF0000"/>
                </a:solidFill>
              </a:rPr>
              <a:t>예외처리를 할 </a:t>
            </a:r>
            <a:r>
              <a:rPr lang="ko-KR" altLang="en-US" sz="1800" dirty="0" err="1">
                <a:solidFill>
                  <a:srgbClr val="FF0000"/>
                </a:solidFill>
              </a:rPr>
              <a:t>필요없음</a:t>
            </a:r>
            <a:endParaRPr lang="ko-KR" altLang="en-US" sz="1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01C505-9024-2885-753C-A91B0CDD9F1D}"/>
              </a:ext>
            </a:extLst>
          </p:cNvPr>
          <p:cNvSpPr/>
          <p:nvPr/>
        </p:nvSpPr>
        <p:spPr>
          <a:xfrm>
            <a:off x="948527" y="3743406"/>
            <a:ext cx="5477439" cy="2678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9577E10C-D075-67E7-2190-1A4581F8B836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6425966" y="3877345"/>
            <a:ext cx="255193" cy="180442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8ACB783-A2F4-918D-D388-CE2B0ADCCCB6}"/>
              </a:ext>
            </a:extLst>
          </p:cNvPr>
          <p:cNvSpPr txBox="1"/>
          <p:nvPr/>
        </p:nvSpPr>
        <p:spPr>
          <a:xfrm>
            <a:off x="6676647" y="1148751"/>
            <a:ext cx="5373822" cy="33855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/>
              <a:t>JsonResponse</a:t>
            </a:r>
            <a:r>
              <a:rPr lang="en-US" altLang="ko-KR" sz="1600" dirty="0"/>
              <a:t> :</a:t>
            </a:r>
            <a:r>
              <a:rPr lang="ko-KR" altLang="en-US" sz="1600" dirty="0"/>
              <a:t> </a:t>
            </a:r>
            <a:r>
              <a:rPr lang="en-US" altLang="ko-KR" sz="1600" dirty="0"/>
              <a:t>Python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딕셔너리나</a:t>
            </a:r>
            <a:r>
              <a:rPr lang="ko-KR" altLang="en-US" sz="1600" dirty="0"/>
              <a:t> 리스트를 </a:t>
            </a:r>
            <a:r>
              <a:rPr lang="en-US" altLang="ko-KR" sz="1600" dirty="0"/>
              <a:t>JSON </a:t>
            </a:r>
            <a:r>
              <a:rPr lang="ko-KR" altLang="en-US" sz="1600" dirty="0"/>
              <a:t>형식</a:t>
            </a:r>
          </a:p>
        </p:txBody>
      </p:sp>
    </p:spTree>
    <p:extLst>
      <p:ext uri="{BB962C8B-B14F-4D97-AF65-F5344CB8AC3E}">
        <p14:creationId xmlns:p14="http://schemas.microsoft.com/office/powerpoint/2010/main" val="376832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ajax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타입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dataset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타입 전달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405538" y="1038208"/>
            <a:ext cx="5071523" cy="573817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600" spc="-150" dirty="0">
                <a:solidFill>
                  <a:srgbClr val="FF0000"/>
                </a:solidFill>
              </a:rPr>
              <a:t>&lt;meta name="</a:t>
            </a:r>
            <a:r>
              <a:rPr lang="en-US" altLang="ko-KR" sz="1600" spc="-150" dirty="0" err="1">
                <a:solidFill>
                  <a:srgbClr val="FF0000"/>
                </a:solidFill>
              </a:rPr>
              <a:t>csrf</a:t>
            </a:r>
            <a:r>
              <a:rPr lang="en-US" altLang="ko-KR" sz="1600" spc="-150" dirty="0">
                <a:solidFill>
                  <a:srgbClr val="FF0000"/>
                </a:solidFill>
              </a:rPr>
              <a:t>-token" content="{{ </a:t>
            </a:r>
            <a:r>
              <a:rPr lang="en-US" altLang="ko-KR" sz="1600" spc="-150" dirty="0" err="1">
                <a:solidFill>
                  <a:srgbClr val="FF0000"/>
                </a:solidFill>
              </a:rPr>
              <a:t>csrf_token</a:t>
            </a:r>
            <a:r>
              <a:rPr lang="en-US" altLang="ko-KR" sz="1600" spc="-150" dirty="0">
                <a:solidFill>
                  <a:srgbClr val="FF0000"/>
                </a:solidFill>
              </a:rPr>
              <a:t> }}"&gt;</a:t>
            </a:r>
          </a:p>
          <a:p>
            <a:r>
              <a:rPr lang="en-US" altLang="ko-KR" sz="1400" dirty="0"/>
              <a:t>function </a:t>
            </a:r>
            <a:r>
              <a:rPr lang="en-US" altLang="ko-KR" sz="1400" dirty="0" err="1"/>
              <a:t>chkbtn</a:t>
            </a:r>
            <a:r>
              <a:rPr lang="en-US" altLang="ko-KR" sz="1400" dirty="0"/>
              <a:t>(){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alert("</a:t>
            </a:r>
            <a:r>
              <a:rPr lang="ko-KR" altLang="en-US" sz="1400" dirty="0"/>
              <a:t>확인 </a:t>
            </a:r>
            <a:r>
              <a:rPr lang="en-US" altLang="ko-KR" sz="1400" dirty="0"/>
              <a:t>: "+$("#</a:t>
            </a:r>
            <a:r>
              <a:rPr lang="en-US" altLang="ko-KR" sz="1400" dirty="0" err="1"/>
              <a:t>uId</a:t>
            </a:r>
            <a:r>
              <a:rPr lang="en-US" altLang="ko-KR" sz="1400" dirty="0"/>
              <a:t>").</a:t>
            </a:r>
            <a:r>
              <a:rPr lang="en-US" altLang="ko-KR" sz="1400" dirty="0" err="1"/>
              <a:t>val</a:t>
            </a:r>
            <a:r>
              <a:rPr lang="en-US" altLang="ko-KR" sz="1400" dirty="0"/>
              <a:t>())</a:t>
            </a:r>
          </a:p>
          <a:p>
            <a:r>
              <a:rPr lang="en-US" altLang="ko-KR" sz="1400" dirty="0"/>
              <a:t>  </a:t>
            </a:r>
            <a:r>
              <a:rPr lang="en-US" altLang="ko-KR" sz="1400" dirty="0">
                <a:solidFill>
                  <a:srgbClr val="FF0000"/>
                </a:solidFill>
              </a:rPr>
              <a:t>const </a:t>
            </a:r>
            <a:r>
              <a:rPr lang="en-US" altLang="ko-KR" sz="1400" dirty="0" err="1">
                <a:solidFill>
                  <a:srgbClr val="FF0000"/>
                </a:solidFill>
              </a:rPr>
              <a:t>csrfToken</a:t>
            </a:r>
            <a:r>
              <a:rPr lang="en-US" altLang="ko-KR" sz="1400" dirty="0">
                <a:solidFill>
                  <a:srgbClr val="FF0000"/>
                </a:solidFill>
              </a:rPr>
              <a:t> = $('meta[name="</a:t>
            </a:r>
            <a:r>
              <a:rPr lang="en-US" altLang="ko-KR" sz="1400" dirty="0" err="1">
                <a:solidFill>
                  <a:srgbClr val="FF0000"/>
                </a:solidFill>
              </a:rPr>
              <a:t>csrf</a:t>
            </a:r>
            <a:r>
              <a:rPr lang="en-US" altLang="ko-KR" sz="1400" dirty="0">
                <a:solidFill>
                  <a:srgbClr val="FF0000"/>
                </a:solidFill>
              </a:rPr>
              <a:t>-token"]').</a:t>
            </a:r>
            <a:r>
              <a:rPr lang="en-US" altLang="ko-KR" sz="1400" dirty="0" err="1">
                <a:solidFill>
                  <a:srgbClr val="FF0000"/>
                </a:solidFill>
              </a:rPr>
              <a:t>attr</a:t>
            </a:r>
            <a:r>
              <a:rPr lang="en-US" altLang="ko-KR" sz="1400" dirty="0">
                <a:solidFill>
                  <a:srgbClr val="FF0000"/>
                </a:solidFill>
              </a:rPr>
              <a:t>('content');</a:t>
            </a:r>
          </a:p>
          <a:p>
            <a:r>
              <a:rPr lang="en-US" altLang="ko-KR" sz="1400" dirty="0"/>
              <a:t>      </a:t>
            </a:r>
          </a:p>
          <a:p>
            <a:r>
              <a:rPr lang="en-US" altLang="ko-KR" sz="1400" dirty="0"/>
              <a:t>  $.ajax({</a:t>
            </a:r>
          </a:p>
          <a:p>
            <a:r>
              <a:rPr lang="en-US" altLang="ko-KR" sz="1400" dirty="0"/>
              <a:t>            url: "/member/</a:t>
            </a:r>
            <a:r>
              <a:rPr lang="en-US" altLang="ko-KR" sz="1400" dirty="0" err="1"/>
              <a:t>chkid</a:t>
            </a:r>
            <a:r>
              <a:rPr lang="en-US" altLang="ko-KR" sz="1400" dirty="0"/>
              <a:t>/",</a:t>
            </a:r>
          </a:p>
          <a:p>
            <a:r>
              <a:rPr lang="en-US" altLang="ko-KR" sz="1400" dirty="0"/>
              <a:t>            type: "post",</a:t>
            </a:r>
          </a:p>
          <a:p>
            <a:r>
              <a:rPr lang="en-US" altLang="ko-KR" sz="1400" dirty="0"/>
              <a:t>     </a:t>
            </a:r>
            <a:r>
              <a:rPr lang="en-US" altLang="ko-KR" sz="1400" dirty="0">
                <a:solidFill>
                  <a:srgbClr val="FF0000"/>
                </a:solidFill>
              </a:rPr>
              <a:t>headers: { "X-</a:t>
            </a:r>
            <a:r>
              <a:rPr lang="en-US" altLang="ko-KR" sz="1400" dirty="0" err="1">
                <a:solidFill>
                  <a:srgbClr val="FF0000"/>
                </a:solidFill>
              </a:rPr>
              <a:t>CSRFToken</a:t>
            </a:r>
            <a:r>
              <a:rPr lang="en-US" altLang="ko-KR" sz="1400" dirty="0">
                <a:solidFill>
                  <a:srgbClr val="FF0000"/>
                </a:solidFill>
              </a:rPr>
              <a:t>": </a:t>
            </a:r>
            <a:r>
              <a:rPr lang="en-US" altLang="ko-KR" sz="1400" dirty="0" err="1">
                <a:solidFill>
                  <a:srgbClr val="FF0000"/>
                </a:solidFill>
              </a:rPr>
              <a:t>csrfToken</a:t>
            </a:r>
            <a:r>
              <a:rPr lang="en-US" altLang="ko-KR" sz="1400" dirty="0">
                <a:solidFill>
                  <a:srgbClr val="FF0000"/>
                </a:solidFill>
              </a:rPr>
              <a:t> },  // CSRF </a:t>
            </a:r>
            <a:r>
              <a:rPr lang="ko-KR" altLang="en-US" sz="1400" dirty="0">
                <a:solidFill>
                  <a:srgbClr val="FF0000"/>
                </a:solidFill>
              </a:rPr>
              <a:t>토큰 포함</a:t>
            </a:r>
            <a:endParaRPr lang="en-US" altLang="ko-KR" sz="1400" dirty="0"/>
          </a:p>
          <a:p>
            <a:r>
              <a:rPr lang="en-US" altLang="ko-KR" sz="1400" dirty="0"/>
              <a:t>            //</a:t>
            </a:r>
            <a:r>
              <a:rPr lang="en-US" altLang="ko-KR" sz="1400" dirty="0" err="1"/>
              <a:t>dataType</a:t>
            </a:r>
            <a:r>
              <a:rPr lang="en-US" altLang="ko-KR" sz="1400" dirty="0"/>
              <a:t>:"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",</a:t>
            </a:r>
          </a:p>
          <a:p>
            <a:r>
              <a:rPr lang="en-US" altLang="ko-KR" sz="1400" dirty="0"/>
              <a:t>            data:{ "id":$("#</a:t>
            </a:r>
            <a:r>
              <a:rPr lang="en-US" altLang="ko-KR" sz="1400" dirty="0" err="1"/>
              <a:t>uId</a:t>
            </a:r>
            <a:r>
              <a:rPr lang="en-US" altLang="ko-KR" sz="1400" dirty="0"/>
              <a:t>").</a:t>
            </a:r>
            <a:r>
              <a:rPr lang="en-US" altLang="ko-KR" sz="1400" dirty="0" err="1"/>
              <a:t>val</a:t>
            </a:r>
            <a:r>
              <a:rPr lang="en-US" altLang="ko-KR" sz="1400" dirty="0"/>
              <a:t>() },</a:t>
            </a:r>
          </a:p>
          <a:p>
            <a:r>
              <a:rPr lang="en-US" altLang="ko-KR" sz="1400" dirty="0"/>
              <a:t>            /* data: $("#</a:t>
            </a:r>
            <a:r>
              <a:rPr lang="en-US" altLang="ko-KR" sz="1400" dirty="0" err="1"/>
              <a:t>frm</a:t>
            </a:r>
            <a:r>
              <a:rPr lang="en-US" altLang="ko-KR" sz="1400" dirty="0"/>
              <a:t>").serialize(), Form </a:t>
            </a:r>
            <a:r>
              <a:rPr lang="ko-KR" altLang="en-US" sz="1400" dirty="0"/>
              <a:t>의 모든 값 반환</a:t>
            </a:r>
            <a:r>
              <a:rPr lang="en-US" altLang="ko-KR" sz="1400" dirty="0"/>
              <a:t> */</a:t>
            </a:r>
          </a:p>
          <a:p>
            <a:r>
              <a:rPr lang="en-US" altLang="ko-KR" sz="1400" dirty="0"/>
              <a:t>            success: function(data){</a:t>
            </a:r>
          </a:p>
          <a:p>
            <a:r>
              <a:rPr lang="en-US" altLang="ko-KR" sz="1400" dirty="0"/>
              <a:t>              alert("</a:t>
            </a:r>
            <a:r>
              <a:rPr lang="ko-KR" altLang="en-US" sz="1400" dirty="0"/>
              <a:t>성공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          console.log(data);</a:t>
            </a:r>
          </a:p>
          <a:p>
            <a:r>
              <a:rPr lang="en-US" altLang="ko-KR" sz="1400" dirty="0"/>
              <a:t>              // console.log(</a:t>
            </a:r>
            <a:r>
              <a:rPr lang="en-US" altLang="ko-KR" sz="1400" dirty="0" err="1"/>
              <a:t>data.member</a:t>
            </a:r>
            <a:r>
              <a:rPr lang="en-US" altLang="ko-KR" sz="1400" dirty="0"/>
              <a:t>[0].id;</a:t>
            </a:r>
          </a:p>
          <a:p>
            <a:r>
              <a:rPr lang="en-US" altLang="ko-KR" sz="1400" dirty="0"/>
              <a:t>            },</a:t>
            </a:r>
          </a:p>
          <a:p>
            <a:r>
              <a:rPr lang="en-US" altLang="ko-KR" sz="1400" dirty="0"/>
              <a:t>            error: function(){</a:t>
            </a:r>
          </a:p>
          <a:p>
            <a:r>
              <a:rPr lang="en-US" altLang="ko-KR" sz="1400" dirty="0"/>
              <a:t>                alert("</a:t>
            </a:r>
            <a:r>
              <a:rPr lang="ko-KR" altLang="en-US" sz="1400" dirty="0"/>
              <a:t>실패</a:t>
            </a:r>
            <a:r>
              <a:rPr lang="en-US" altLang="ko-KR" sz="1400" dirty="0"/>
              <a:t>");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});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}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048137" y="1038208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1093EA-2CDA-A3EF-16A3-C57D93116074}"/>
              </a:ext>
            </a:extLst>
          </p:cNvPr>
          <p:cNvSpPr/>
          <p:nvPr/>
        </p:nvSpPr>
        <p:spPr>
          <a:xfrm>
            <a:off x="5768196" y="951948"/>
            <a:ext cx="5572568" cy="314560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 altLang="ko-KR" sz="1600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endParaRPr lang="en-US" altLang="ko-KR" sz="1400" dirty="0"/>
          </a:p>
          <a:p>
            <a:r>
              <a:rPr lang="en-US" altLang="ko-KR" sz="1400" dirty="0"/>
              <a:t>from </a:t>
            </a:r>
            <a:r>
              <a:rPr lang="en-US" altLang="ko-KR" sz="1400" dirty="0" err="1"/>
              <a:t>django.http</a:t>
            </a:r>
            <a:r>
              <a:rPr lang="en-US" altLang="ko-KR" sz="1400" dirty="0"/>
              <a:t> import </a:t>
            </a:r>
            <a:r>
              <a:rPr lang="en-US" altLang="ko-KR" sz="1400" dirty="0" err="1"/>
              <a:t>HttpResponse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JsonResponse</a:t>
            </a:r>
            <a:endParaRPr lang="en-US" altLang="ko-KR" sz="1400" dirty="0"/>
          </a:p>
          <a:p>
            <a:r>
              <a:rPr lang="en-US" altLang="ko-KR" sz="1400" dirty="0"/>
              <a:t>from </a:t>
            </a:r>
            <a:r>
              <a:rPr lang="en-US" altLang="ko-KR" sz="1400" dirty="0" err="1"/>
              <a:t>django.views.decorators.csrf</a:t>
            </a:r>
            <a:r>
              <a:rPr lang="en-US" altLang="ko-KR" sz="1400" dirty="0"/>
              <a:t> import </a:t>
            </a:r>
            <a:r>
              <a:rPr lang="en-US" altLang="ko-KR" sz="1400" dirty="0" err="1"/>
              <a:t>csrf_exempt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# </a:t>
            </a:r>
            <a:r>
              <a:rPr lang="en-US" altLang="ko-KR" sz="1400" dirty="0">
                <a:solidFill>
                  <a:srgbClr val="FF0000"/>
                </a:solidFill>
              </a:rPr>
              <a:t>@csrf_exempt   </a:t>
            </a:r>
            <a:r>
              <a:rPr lang="en-US" altLang="ko-KR" sz="1400" b="1" dirty="0">
                <a:solidFill>
                  <a:srgbClr val="FF0000"/>
                </a:solidFill>
              </a:rPr>
              <a:t># </a:t>
            </a:r>
            <a:r>
              <a:rPr lang="ko-KR" altLang="en-US" sz="1400" b="1" dirty="0">
                <a:solidFill>
                  <a:srgbClr val="FF0000"/>
                </a:solidFill>
              </a:rPr>
              <a:t>예외처리 </a:t>
            </a:r>
            <a:r>
              <a:rPr lang="ko-KR" altLang="en-US" sz="1400" b="1" dirty="0" err="1">
                <a:solidFill>
                  <a:srgbClr val="FF0000"/>
                </a:solidFill>
              </a:rPr>
              <a:t>필요없음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en-US" altLang="ko-KR" sz="1400" dirty="0">
                <a:solidFill>
                  <a:srgbClr val="FF0000"/>
                </a:solidFill>
              </a:rPr>
              <a:t>views.py</a:t>
            </a:r>
            <a:r>
              <a:rPr lang="ko-KR" altLang="en-US" sz="1400" dirty="0">
                <a:solidFill>
                  <a:srgbClr val="FF0000"/>
                </a:solidFill>
              </a:rPr>
              <a:t>에서 </a:t>
            </a:r>
            <a:r>
              <a:rPr lang="en-US" altLang="ko-KR" sz="1400" dirty="0" err="1">
                <a:solidFill>
                  <a:srgbClr val="FF0000"/>
                </a:solidFill>
              </a:rPr>
              <a:t>csrf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예외처리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/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chkid</a:t>
            </a:r>
            <a:r>
              <a:rPr lang="en-US" altLang="ko-KR" sz="1400" dirty="0"/>
              <a:t>(request):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# str</a:t>
            </a:r>
            <a:r>
              <a:rPr lang="ko-KR" altLang="en-US" sz="1400" dirty="0"/>
              <a:t>타입 데이터를 </a:t>
            </a:r>
            <a:r>
              <a:rPr lang="ko-KR" altLang="en-US" sz="1400" dirty="0" err="1"/>
              <a:t>넘길때</a:t>
            </a:r>
            <a:endParaRPr lang="ko-KR" altLang="en-US" sz="1400" dirty="0"/>
          </a:p>
          <a:p>
            <a:r>
              <a:rPr lang="ko-KR" altLang="en-US" sz="1400" dirty="0"/>
              <a:t>  </a:t>
            </a:r>
            <a:r>
              <a:rPr lang="en-US" altLang="ko-KR" sz="1400" dirty="0"/>
              <a:t>id = </a:t>
            </a:r>
            <a:r>
              <a:rPr lang="en-US" altLang="ko-KR" sz="1400" dirty="0" err="1"/>
              <a:t>request.POST.get</a:t>
            </a:r>
            <a:r>
              <a:rPr lang="en-US" altLang="ko-KR" sz="1400" dirty="0"/>
              <a:t>('id', None) </a:t>
            </a:r>
          </a:p>
          <a:p>
            <a:r>
              <a:rPr lang="en-US" altLang="ko-KR" sz="1400" dirty="0"/>
              <a:t>  context = {'id': id }       </a:t>
            </a:r>
            <a:r>
              <a:rPr lang="en-US" altLang="ko-KR" sz="1400" b="1" dirty="0">
                <a:solidFill>
                  <a:srgbClr val="FF0000"/>
                </a:solidFill>
              </a:rPr>
              <a:t># str</a:t>
            </a:r>
            <a:r>
              <a:rPr lang="ko-KR" altLang="en-US" sz="1400" b="1" dirty="0">
                <a:solidFill>
                  <a:srgbClr val="FF0000"/>
                </a:solidFill>
              </a:rPr>
              <a:t>타입 넘김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b="1" dirty="0">
                <a:solidFill>
                  <a:srgbClr val="FF0000"/>
                </a:solidFill>
              </a:rPr>
              <a:t>  # </a:t>
            </a:r>
            <a:r>
              <a:rPr lang="en-US" altLang="ko-KR" sz="1400" dirty="0" err="1">
                <a:solidFill>
                  <a:srgbClr val="FF0000"/>
                </a:solidFill>
              </a:rPr>
              <a:t>qs</a:t>
            </a:r>
            <a:r>
              <a:rPr lang="en-US" altLang="ko-KR" sz="1400" dirty="0">
                <a:solidFill>
                  <a:srgbClr val="FF0000"/>
                </a:solidFill>
              </a:rPr>
              <a:t> = list(</a:t>
            </a:r>
            <a:r>
              <a:rPr lang="en-US" altLang="ko-KR" sz="1400" dirty="0" err="1">
                <a:solidFill>
                  <a:srgbClr val="FF0000"/>
                </a:solidFill>
              </a:rPr>
              <a:t>Member.objects.filter</a:t>
            </a:r>
            <a:r>
              <a:rPr lang="en-US" altLang="ko-KR" sz="1400" dirty="0">
                <a:solidFill>
                  <a:srgbClr val="FF0000"/>
                </a:solidFill>
              </a:rPr>
              <a:t>(id=id).values()) # list</a:t>
            </a:r>
            <a:r>
              <a:rPr lang="ko-KR" altLang="en-US" sz="1400" dirty="0">
                <a:solidFill>
                  <a:srgbClr val="FF0000"/>
                </a:solidFill>
              </a:rPr>
              <a:t>타입 변경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rgbClr val="FF0000"/>
                </a:solidFill>
              </a:rPr>
              <a:t>  # context = {'id': id, ‘member’,</a:t>
            </a:r>
            <a:r>
              <a:rPr lang="en-US" altLang="ko-KR" sz="1400" dirty="0" err="1">
                <a:solidFill>
                  <a:srgbClr val="FF0000"/>
                </a:solidFill>
              </a:rPr>
              <a:t>qs</a:t>
            </a:r>
            <a:r>
              <a:rPr lang="en-US" altLang="ko-KR" sz="1400" dirty="0">
                <a:solidFill>
                  <a:srgbClr val="FF0000"/>
                </a:solidFill>
              </a:rPr>
              <a:t> } </a:t>
            </a:r>
          </a:p>
          <a:p>
            <a:r>
              <a:rPr lang="en-US" altLang="ko-KR" sz="1400" dirty="0"/>
              <a:t>  return </a:t>
            </a:r>
            <a:r>
              <a:rPr lang="en-US" altLang="ko-KR" sz="1400" dirty="0" err="1"/>
              <a:t>JsonResponse</a:t>
            </a:r>
            <a:r>
              <a:rPr lang="en-US" altLang="ko-KR" sz="1400" dirty="0"/>
              <a:t>(context)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65B4D2-F17B-A94B-731C-3C498C024128}"/>
              </a:ext>
            </a:extLst>
          </p:cNvPr>
          <p:cNvSpPr/>
          <p:nvPr/>
        </p:nvSpPr>
        <p:spPr>
          <a:xfrm>
            <a:off x="9911840" y="951948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380D5F-0157-7065-25A5-CD3CE4A221AB}"/>
              </a:ext>
            </a:extLst>
          </p:cNvPr>
          <p:cNvSpPr/>
          <p:nvPr/>
        </p:nvSpPr>
        <p:spPr>
          <a:xfrm>
            <a:off x="994541" y="2990206"/>
            <a:ext cx="4396968" cy="2678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0BBE8-AF45-9A64-F747-574D52076C86}"/>
              </a:ext>
            </a:extLst>
          </p:cNvPr>
          <p:cNvSpPr txBox="1"/>
          <p:nvPr/>
        </p:nvSpPr>
        <p:spPr>
          <a:xfrm>
            <a:off x="5795935" y="6274169"/>
            <a:ext cx="551709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url: "{%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 '</a:t>
            </a:r>
            <a:r>
              <a:rPr lang="en-US" altLang="ko-KR" sz="1400" dirty="0" err="1"/>
              <a:t>post:post_like</a:t>
            </a:r>
            <a:r>
              <a:rPr lang="en-US" altLang="ko-KR" sz="1400" dirty="0"/>
              <a:t>' %}", // </a:t>
            </a:r>
            <a:r>
              <a:rPr lang="ko-KR" altLang="en-US" sz="1400" dirty="0"/>
              <a:t>통신할 </a:t>
            </a:r>
            <a:r>
              <a:rPr lang="en-US" altLang="ko-KR" sz="1400" dirty="0" err="1"/>
              <a:t>url</a:t>
            </a:r>
            <a:r>
              <a:rPr lang="ko-KR" altLang="en-US" sz="1400" dirty="0"/>
              <a:t>을 지정</a:t>
            </a:r>
            <a:endParaRPr lang="en-US" altLang="ko-KR" sz="1400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F27A602-8FE5-A736-3352-C07FD48D233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391509" y="3124145"/>
            <a:ext cx="404426" cy="330391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0913D3-E411-0A51-AA9B-0C4F0D7D3A3B}"/>
              </a:ext>
            </a:extLst>
          </p:cNvPr>
          <p:cNvSpPr/>
          <p:nvPr/>
        </p:nvSpPr>
        <p:spPr>
          <a:xfrm>
            <a:off x="5768196" y="5576477"/>
            <a:ext cx="5572568" cy="5810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 altLang="ko-KR" sz="1600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sz="1400" dirty="0"/>
              <a:t>path('</a:t>
            </a:r>
            <a:r>
              <a:rPr lang="en-US" altLang="ko-KR" sz="1400" dirty="0" err="1"/>
              <a:t>chkid</a:t>
            </a:r>
            <a:r>
              <a:rPr lang="en-US" altLang="ko-KR" sz="1400" dirty="0"/>
              <a:t>/', </a:t>
            </a:r>
            <a:r>
              <a:rPr lang="en-US" altLang="ko-KR" sz="1400" dirty="0" err="1"/>
              <a:t>views.chkid</a:t>
            </a:r>
            <a:r>
              <a:rPr lang="en-US" altLang="ko-KR" sz="1400" dirty="0"/>
              <a:t>, name='</a:t>
            </a:r>
            <a:r>
              <a:rPr lang="en-US" altLang="ko-KR" sz="1400" dirty="0" err="1"/>
              <a:t>chkid</a:t>
            </a:r>
            <a:r>
              <a:rPr lang="en-US" altLang="ko-KR" sz="1400" dirty="0"/>
              <a:t>'), # </a:t>
            </a:r>
            <a:r>
              <a:rPr lang="ko-KR" altLang="en-US" sz="1400" dirty="0" err="1"/>
              <a:t>체크아이디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6F7FE6-B95C-A32C-16E5-D44B33425301}"/>
              </a:ext>
            </a:extLst>
          </p:cNvPr>
          <p:cNvSpPr/>
          <p:nvPr/>
        </p:nvSpPr>
        <p:spPr>
          <a:xfrm>
            <a:off x="10192902" y="5576478"/>
            <a:ext cx="1147861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urls.py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511539-66FB-9622-D9B1-8EE5A253EA88}"/>
              </a:ext>
            </a:extLst>
          </p:cNvPr>
          <p:cNvSpPr/>
          <p:nvPr/>
        </p:nvSpPr>
        <p:spPr>
          <a:xfrm>
            <a:off x="5768195" y="3150700"/>
            <a:ext cx="5572568" cy="6880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05638-E3EE-ABE9-0EFA-96211DD849ED}"/>
              </a:ext>
            </a:extLst>
          </p:cNvPr>
          <p:cNvSpPr/>
          <p:nvPr/>
        </p:nvSpPr>
        <p:spPr>
          <a:xfrm>
            <a:off x="5768196" y="4162368"/>
            <a:ext cx="5572568" cy="12412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* dataset </a:t>
            </a:r>
            <a:r>
              <a:rPr lang="ko-KR" altLang="en-US" sz="1400" dirty="0"/>
              <a:t>타입으로 넘길 시 에러발생</a:t>
            </a:r>
            <a:br>
              <a:rPr lang="en-US" altLang="ko-KR" sz="1400" dirty="0"/>
            </a:br>
            <a:r>
              <a:rPr lang="en-US" altLang="ko-KR" sz="1400" dirty="0"/>
              <a:t>* list</a:t>
            </a:r>
            <a:r>
              <a:rPr lang="ko-KR" altLang="en-US" sz="1400" dirty="0"/>
              <a:t>타입으로 변경해서 넘겨야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* get()</a:t>
            </a:r>
            <a:r>
              <a:rPr lang="ko-KR" altLang="en-US" sz="1400" dirty="0"/>
              <a:t>이 아닌</a:t>
            </a:r>
            <a:r>
              <a:rPr lang="en-US" altLang="ko-KR" sz="1400" dirty="0"/>
              <a:t>, filter()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검색해야 함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r>
              <a:rPr lang="en-US" altLang="ko-KR" sz="1400" dirty="0" err="1"/>
              <a:t>typeerror</a:t>
            </a:r>
            <a:r>
              <a:rPr lang="en-US" altLang="ko-KR" sz="1400" dirty="0"/>
              <a:t>: object of type </a:t>
            </a:r>
            <a:r>
              <a:rPr lang="en-US" altLang="ko-KR" sz="1400" dirty="0" err="1"/>
              <a:t>queryset</a:t>
            </a:r>
            <a:r>
              <a:rPr lang="en-US" altLang="ko-KR" sz="1400" dirty="0"/>
              <a:t> is not 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 serializable </a:t>
            </a:r>
            <a:r>
              <a:rPr lang="ko-KR" altLang="en-US" sz="1400" dirty="0"/>
              <a:t>오류발생</a:t>
            </a:r>
            <a:endParaRPr lang="en-US" altLang="ko-KR" sz="1400" dirty="0"/>
          </a:p>
        </p:txBody>
      </p: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99C37A1-F09C-257F-9A3D-88834C1B5CD8}"/>
              </a:ext>
            </a:extLst>
          </p:cNvPr>
          <p:cNvCxnSpPr>
            <a:cxnSpLocks/>
            <a:stCxn id="23" idx="3"/>
            <a:endCxn id="27" idx="3"/>
          </p:cNvCxnSpPr>
          <p:nvPr/>
        </p:nvCxnSpPr>
        <p:spPr>
          <a:xfrm>
            <a:off x="11340763" y="3494730"/>
            <a:ext cx="1" cy="1288243"/>
          </a:xfrm>
          <a:prstGeom prst="bentConnector3">
            <a:avLst>
              <a:gd name="adj1" fmla="val 2286010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97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EE72D-6398-4F35-3C6D-4360204F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A0716F3-874F-8F72-BBB6-4FE1D110C1EC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1056254-4E0C-5481-C3AE-D69E6A2B6A4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DEAA115-2B53-83FF-826A-4BC13F0C42D0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ajax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dataset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전송시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list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타입 변경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0129C3-4DE2-9F8D-EC56-CA24E8381FD7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F98A5858-CE95-383D-AE8D-15027559E32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C55F48-7B76-1F47-2E9B-80235BCD0072}"/>
              </a:ext>
            </a:extLst>
          </p:cNvPr>
          <p:cNvSpPr/>
          <p:nvPr/>
        </p:nvSpPr>
        <p:spPr>
          <a:xfrm>
            <a:off x="195628" y="1038208"/>
            <a:ext cx="5572568" cy="328362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from </a:t>
            </a:r>
            <a:r>
              <a:rPr lang="en-US" altLang="ko-KR" sz="1600" dirty="0" err="1"/>
              <a:t>django.http</a:t>
            </a:r>
            <a:r>
              <a:rPr lang="en-US" altLang="ko-KR" sz="1600" dirty="0"/>
              <a:t> import </a:t>
            </a:r>
            <a:r>
              <a:rPr lang="en-US" altLang="ko-KR" sz="1600" dirty="0" err="1"/>
              <a:t>HttpResponse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JsonResponse</a:t>
            </a:r>
            <a:endParaRPr lang="en-US" altLang="ko-KR" sz="1600" dirty="0"/>
          </a:p>
          <a:p>
            <a:r>
              <a:rPr lang="en-US" altLang="ko-KR" sz="1600" dirty="0"/>
              <a:t>from </a:t>
            </a:r>
            <a:r>
              <a:rPr lang="en-US" altLang="ko-KR" sz="1600" dirty="0" err="1"/>
              <a:t>django.views.decorators.csrf</a:t>
            </a:r>
            <a:r>
              <a:rPr lang="en-US" altLang="ko-KR" sz="1600" dirty="0"/>
              <a:t> import </a:t>
            </a:r>
            <a:r>
              <a:rPr lang="en-US" altLang="ko-KR" sz="1600" dirty="0" err="1"/>
              <a:t>csrf_exempt</a:t>
            </a:r>
            <a:endParaRPr lang="en-US" altLang="ko-KR" sz="1600" dirty="0"/>
          </a:p>
          <a:p>
            <a:endParaRPr lang="en-US" altLang="ko-KR" sz="1400" dirty="0"/>
          </a:p>
          <a:p>
            <a:r>
              <a:rPr lang="en-US" altLang="ko-KR" sz="1400" dirty="0"/>
              <a:t>@csrf_exempt</a:t>
            </a:r>
          </a:p>
          <a:p>
            <a:r>
              <a:rPr lang="en-US" altLang="ko-KR" sz="1400" dirty="0"/>
              <a:t>def </a:t>
            </a:r>
            <a:r>
              <a:rPr lang="en-US" altLang="ko-KR" sz="1400" dirty="0" err="1"/>
              <a:t>chkid</a:t>
            </a:r>
            <a:r>
              <a:rPr lang="en-US" altLang="ko-KR" sz="1400" dirty="0"/>
              <a:t>(request):</a:t>
            </a:r>
          </a:p>
          <a:p>
            <a:r>
              <a:rPr lang="en-US" altLang="ko-KR" sz="1400" dirty="0"/>
              <a:t>  # </a:t>
            </a:r>
            <a:r>
              <a:rPr lang="ko-KR" altLang="en-US" sz="1400" dirty="0"/>
              <a:t>객체타입 데이터를 </a:t>
            </a:r>
            <a:r>
              <a:rPr lang="ko-KR" altLang="en-US" sz="1400" dirty="0" err="1"/>
              <a:t>넘길때</a:t>
            </a:r>
            <a:r>
              <a:rPr lang="en-US" altLang="ko-KR" sz="1400" dirty="0"/>
              <a:t>, filter</a:t>
            </a:r>
            <a:r>
              <a:rPr lang="ko-KR" altLang="en-US" sz="1400" dirty="0"/>
              <a:t>사용</a:t>
            </a:r>
          </a:p>
          <a:p>
            <a:r>
              <a:rPr lang="ko-KR" altLang="en-US" sz="1400" dirty="0"/>
              <a:t>  </a:t>
            </a:r>
            <a:r>
              <a:rPr lang="en-US" altLang="ko-KR" sz="1400" dirty="0"/>
              <a:t>id = </a:t>
            </a:r>
            <a:r>
              <a:rPr lang="en-US" altLang="ko-KR" sz="1400" dirty="0" err="1"/>
              <a:t>request.POST.get</a:t>
            </a:r>
            <a:r>
              <a:rPr lang="en-US" altLang="ko-KR" sz="1400" dirty="0"/>
              <a:t>('id', None) </a:t>
            </a:r>
          </a:p>
          <a:p>
            <a:r>
              <a:rPr lang="en-US" altLang="ko-KR" sz="1400" dirty="0"/>
              <a:t>  </a:t>
            </a:r>
            <a:r>
              <a:rPr lang="en-US" altLang="ko-KR" sz="1400" dirty="0" err="1"/>
              <a:t>qs</a:t>
            </a:r>
            <a:r>
              <a:rPr lang="en-US" altLang="ko-KR" sz="1400" dirty="0"/>
              <a:t> = list(</a:t>
            </a:r>
            <a:r>
              <a:rPr lang="en-US" altLang="ko-KR" sz="1400" dirty="0" err="1"/>
              <a:t>Member.objects.filter</a:t>
            </a:r>
            <a:r>
              <a:rPr lang="en-US" altLang="ko-KR" sz="1400" dirty="0"/>
              <a:t>(id=id).values())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context = {'id': </a:t>
            </a:r>
            <a:r>
              <a:rPr lang="en-US" altLang="ko-KR" sz="1400" dirty="0" err="1"/>
              <a:t>id,'member</a:t>
            </a:r>
            <a:r>
              <a:rPr lang="en-US" altLang="ko-KR" sz="1400" dirty="0"/>
              <a:t>': </a:t>
            </a:r>
            <a:r>
              <a:rPr lang="en-US" altLang="ko-KR" sz="1400" dirty="0" err="1"/>
              <a:t>qs</a:t>
            </a:r>
            <a:r>
              <a:rPr lang="en-US" altLang="ko-KR" sz="1400" dirty="0"/>
              <a:t>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return </a:t>
            </a:r>
            <a:r>
              <a:rPr lang="en-US" altLang="ko-KR" sz="1400" dirty="0" err="1"/>
              <a:t>JsonResponse</a:t>
            </a:r>
            <a:r>
              <a:rPr lang="en-US" altLang="ko-KR" sz="1400" dirty="0"/>
              <a:t>(context)</a:t>
            </a:r>
            <a:endParaRPr lang="en-US" altLang="ko-KR" sz="1000" dirty="0">
              <a:latin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75FFFC-0802-3FF3-A98F-1FA5FE28CC7F}"/>
              </a:ext>
            </a:extLst>
          </p:cNvPr>
          <p:cNvSpPr/>
          <p:nvPr/>
        </p:nvSpPr>
        <p:spPr>
          <a:xfrm>
            <a:off x="4339272" y="1038208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Views.py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01C092-2786-0FA8-747A-22F4C9CDCF9A}"/>
              </a:ext>
            </a:extLst>
          </p:cNvPr>
          <p:cNvSpPr/>
          <p:nvPr/>
        </p:nvSpPr>
        <p:spPr>
          <a:xfrm>
            <a:off x="223367" y="3126618"/>
            <a:ext cx="3865554" cy="2678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9F518C-64FC-A5E3-506C-1F7F4FD8F6B1}"/>
              </a:ext>
            </a:extLst>
          </p:cNvPr>
          <p:cNvSpPr/>
          <p:nvPr/>
        </p:nvSpPr>
        <p:spPr>
          <a:xfrm>
            <a:off x="5923472" y="1672101"/>
            <a:ext cx="5572568" cy="12412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400" dirty="0"/>
              <a:t>* dataset </a:t>
            </a:r>
            <a:r>
              <a:rPr lang="ko-KR" altLang="en-US" sz="1400" dirty="0"/>
              <a:t>타입으로 넘길 시 에러발생</a:t>
            </a:r>
            <a:br>
              <a:rPr lang="en-US" altLang="ko-KR" sz="1400" dirty="0"/>
            </a:br>
            <a:r>
              <a:rPr lang="en-US" altLang="ko-KR" sz="1400" dirty="0"/>
              <a:t>* list</a:t>
            </a:r>
            <a:r>
              <a:rPr lang="ko-KR" altLang="en-US" sz="1400" dirty="0"/>
              <a:t>타입으로 변경해서 넘겨야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* get()</a:t>
            </a:r>
            <a:r>
              <a:rPr lang="ko-KR" altLang="en-US" sz="1400" dirty="0"/>
              <a:t>이 아닌</a:t>
            </a:r>
            <a:r>
              <a:rPr lang="en-US" altLang="ko-KR" sz="1400" dirty="0"/>
              <a:t>, filter() 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검색해야 함</a:t>
            </a:r>
            <a:r>
              <a:rPr lang="en-US" altLang="ko-KR" sz="1400" dirty="0"/>
              <a:t>.</a:t>
            </a:r>
          </a:p>
          <a:p>
            <a:br>
              <a:rPr lang="en-US" altLang="ko-KR" sz="1400" dirty="0"/>
            </a:br>
            <a:r>
              <a:rPr lang="en-US" altLang="ko-KR" sz="1400" dirty="0" err="1"/>
              <a:t>typeerror</a:t>
            </a:r>
            <a:r>
              <a:rPr lang="en-US" altLang="ko-KR" sz="1400" dirty="0"/>
              <a:t>: object of type </a:t>
            </a:r>
            <a:r>
              <a:rPr lang="en-US" altLang="ko-KR" sz="1400" dirty="0" err="1"/>
              <a:t>queryset</a:t>
            </a:r>
            <a:r>
              <a:rPr lang="en-US" altLang="ko-KR" sz="1400" dirty="0"/>
              <a:t> is not 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 serializable </a:t>
            </a:r>
            <a:r>
              <a:rPr lang="ko-KR" altLang="en-US" sz="1400" dirty="0"/>
              <a:t>오류발생</a:t>
            </a:r>
            <a:endParaRPr lang="en-US" altLang="ko-KR" sz="1400" dirty="0"/>
          </a:p>
        </p:txBody>
      </p: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F1B44495-9265-0EDD-A25C-9982077043C4}"/>
              </a:ext>
            </a:extLst>
          </p:cNvPr>
          <p:cNvCxnSpPr>
            <a:cxnSpLocks/>
            <a:stCxn id="23" idx="3"/>
            <a:endCxn id="2" idx="1"/>
          </p:cNvCxnSpPr>
          <p:nvPr/>
        </p:nvCxnSpPr>
        <p:spPr>
          <a:xfrm flipV="1">
            <a:off x="4088921" y="2292706"/>
            <a:ext cx="1834551" cy="967851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9B57F14-BB13-8766-B9F5-8DAA1FB4034A}"/>
              </a:ext>
            </a:extLst>
          </p:cNvPr>
          <p:cNvSpPr txBox="1"/>
          <p:nvPr/>
        </p:nvSpPr>
        <p:spPr>
          <a:xfrm>
            <a:off x="5923472" y="3126059"/>
            <a:ext cx="5572568" cy="31085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from </a:t>
            </a:r>
            <a:r>
              <a:rPr lang="en-US" altLang="ko-KR" sz="1400" dirty="0" err="1"/>
              <a:t>django.core</a:t>
            </a:r>
            <a:r>
              <a:rPr lang="en-US" altLang="ko-KR" sz="1400" dirty="0"/>
              <a:t> import serializers # </a:t>
            </a:r>
            <a:r>
              <a:rPr lang="en-US" altLang="ko-KR" sz="1400" dirty="0" err="1"/>
              <a:t>json</a:t>
            </a:r>
            <a:r>
              <a:rPr lang="ko-KR" altLang="en-US" sz="1400" dirty="0"/>
              <a:t>타입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# get</a:t>
            </a:r>
            <a:r>
              <a:rPr lang="ko-KR" altLang="en-US" sz="1400" dirty="0"/>
              <a:t>검색 객체 보내는 방법 </a:t>
            </a:r>
            <a:r>
              <a:rPr lang="en-US" altLang="ko-KR" sz="1400" dirty="0"/>
              <a:t>- list</a:t>
            </a:r>
            <a:r>
              <a:rPr lang="ko-KR" altLang="en-US" sz="1400" dirty="0"/>
              <a:t>타입으로 보내야 함</a:t>
            </a:r>
            <a:r>
              <a:rPr lang="en-US" altLang="ko-KR" sz="1400" dirty="0"/>
              <a:t>. (</a:t>
            </a:r>
            <a:r>
              <a:rPr lang="ko-KR" altLang="en-US" sz="1400" dirty="0" err="1"/>
              <a:t>타입에러</a:t>
            </a:r>
            <a:r>
              <a:rPr lang="ko-KR" altLang="en-US" sz="1400" dirty="0"/>
              <a:t> 발생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</a:t>
            </a:r>
            <a:r>
              <a:rPr lang="en-US" altLang="ko-KR" sz="1400" dirty="0" err="1"/>
              <a:t>qs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Member.objects.get</a:t>
            </a:r>
            <a:r>
              <a:rPr lang="en-US" altLang="ko-KR" sz="1400" dirty="0"/>
              <a:t>(id=</a:t>
            </a:r>
            <a:r>
              <a:rPr lang="en-US" altLang="ko-KR" sz="1400" dirty="0" err="1"/>
              <a:t>id,pw</a:t>
            </a:r>
            <a:r>
              <a:rPr lang="en-US" altLang="ko-KR" sz="1400" dirty="0"/>
              <a:t>=pw)</a:t>
            </a:r>
          </a:p>
          <a:p>
            <a:r>
              <a:rPr lang="en-US" altLang="ko-KR" sz="1400" dirty="0"/>
              <a:t>  print(</a:t>
            </a:r>
            <a:r>
              <a:rPr lang="en-US" altLang="ko-KR" sz="1400" dirty="0" err="1"/>
              <a:t>qs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 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 # Json </a:t>
            </a:r>
            <a:r>
              <a:rPr lang="ko-KR" altLang="en-US" sz="1400" dirty="0">
                <a:solidFill>
                  <a:srgbClr val="FF0000"/>
                </a:solidFill>
              </a:rPr>
              <a:t>직렬화 작업 </a:t>
            </a:r>
            <a:r>
              <a:rPr lang="en-US" altLang="ko-KR" sz="1400" dirty="0">
                <a:solidFill>
                  <a:srgbClr val="FF0000"/>
                </a:solidFill>
              </a:rPr>
              <a:t>- </a:t>
            </a:r>
            <a:r>
              <a:rPr lang="ko-KR" altLang="en-US" sz="1400" dirty="0">
                <a:solidFill>
                  <a:srgbClr val="FF0000"/>
                </a:solidFill>
              </a:rPr>
              <a:t>객체를 </a:t>
            </a:r>
            <a:r>
              <a:rPr lang="en-US" altLang="ko-KR" sz="1400" dirty="0" err="1">
                <a:solidFill>
                  <a:srgbClr val="FF0000"/>
                </a:solidFill>
              </a:rPr>
              <a:t>QuerySet</a:t>
            </a:r>
            <a:r>
              <a:rPr lang="ko-KR" altLang="en-US" sz="1400" dirty="0">
                <a:solidFill>
                  <a:srgbClr val="FF0000"/>
                </a:solidFill>
              </a:rPr>
              <a:t>처럼 변경해야 함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400" dirty="0"/>
              <a:t>  </a:t>
            </a:r>
            <a:r>
              <a:rPr lang="en-US" altLang="ko-KR" sz="1400" dirty="0" err="1">
                <a:solidFill>
                  <a:srgbClr val="FF0000"/>
                </a:solidFill>
              </a:rPr>
              <a:t>qs</a:t>
            </a:r>
            <a:r>
              <a:rPr lang="en-US" altLang="ko-KR" sz="1400" dirty="0">
                <a:solidFill>
                  <a:srgbClr val="FF0000"/>
                </a:solidFill>
              </a:rPr>
              <a:t> = </a:t>
            </a:r>
            <a:r>
              <a:rPr lang="en-US" altLang="ko-KR" sz="1400" dirty="0" err="1">
                <a:solidFill>
                  <a:srgbClr val="FF0000"/>
                </a:solidFill>
              </a:rPr>
              <a:t>serializers.serialize</a:t>
            </a:r>
            <a:r>
              <a:rPr lang="en-US" altLang="ko-KR" sz="1400" dirty="0">
                <a:solidFill>
                  <a:srgbClr val="FF0000"/>
                </a:solidFill>
              </a:rPr>
              <a:t>('</a:t>
            </a:r>
            <a:r>
              <a:rPr lang="en-US" altLang="ko-KR" sz="1400" dirty="0" err="1">
                <a:solidFill>
                  <a:srgbClr val="FF0000"/>
                </a:solidFill>
              </a:rPr>
              <a:t>json</a:t>
            </a:r>
            <a:r>
              <a:rPr lang="en-US" altLang="ko-KR" sz="1400" dirty="0">
                <a:solidFill>
                  <a:srgbClr val="FF0000"/>
                </a:solidFill>
              </a:rPr>
              <a:t>', [</a:t>
            </a:r>
            <a:r>
              <a:rPr lang="en-US" altLang="ko-KR" sz="1400" dirty="0" err="1">
                <a:solidFill>
                  <a:srgbClr val="FF0000"/>
                </a:solidFill>
              </a:rPr>
              <a:t>qs</a:t>
            </a:r>
            <a:r>
              <a:rPr lang="en-US" altLang="ko-KR" sz="1400" dirty="0">
                <a:solidFill>
                  <a:srgbClr val="FF0000"/>
                </a:solidFill>
              </a:rPr>
              <a:t>]) 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  </a:t>
            </a:r>
          </a:p>
          <a:p>
            <a:r>
              <a:rPr lang="en-US" altLang="ko-KR" sz="1400" dirty="0"/>
              <a:t>  if </a:t>
            </a:r>
            <a:r>
              <a:rPr lang="en-US" altLang="ko-KR" sz="1400" dirty="0" err="1"/>
              <a:t>qs</a:t>
            </a:r>
            <a:r>
              <a:rPr lang="en-US" altLang="ko-KR" sz="1400" dirty="0"/>
              <a:t>:</a:t>
            </a:r>
          </a:p>
          <a:p>
            <a:r>
              <a:rPr lang="en-US" altLang="ko-KR" sz="1400" dirty="0"/>
              <a:t>    context = {"member":</a:t>
            </a:r>
            <a:r>
              <a:rPr lang="en-US" altLang="ko-KR" sz="1400" dirty="0" err="1"/>
              <a:t>qs</a:t>
            </a:r>
            <a:r>
              <a:rPr lang="en-US" altLang="ko-KR" sz="1400" dirty="0"/>
              <a:t>,"</a:t>
            </a:r>
            <a:r>
              <a:rPr lang="en-US" altLang="ko-KR" sz="1400" dirty="0" err="1"/>
              <a:t>result":"success</a:t>
            </a:r>
            <a:r>
              <a:rPr lang="en-US" altLang="ko-KR" sz="1400" dirty="0"/>
              <a:t>"}</a:t>
            </a:r>
          </a:p>
          <a:p>
            <a:r>
              <a:rPr lang="en-US" altLang="ko-KR" sz="1400" dirty="0"/>
              <a:t>  else:</a:t>
            </a:r>
          </a:p>
          <a:p>
            <a:r>
              <a:rPr lang="en-US" altLang="ko-KR" sz="1400" dirty="0"/>
              <a:t>    context = {"</a:t>
            </a:r>
            <a:r>
              <a:rPr lang="en-US" altLang="ko-KR" sz="1400" dirty="0" err="1"/>
              <a:t>result":"fail</a:t>
            </a:r>
            <a:r>
              <a:rPr lang="en-US" altLang="ko-KR" sz="1400" dirty="0"/>
              <a:t>"}</a:t>
            </a:r>
          </a:p>
          <a:p>
            <a:r>
              <a:rPr lang="en-US" altLang="ko-KR" sz="1400" dirty="0"/>
              <a:t>  return </a:t>
            </a:r>
            <a:r>
              <a:rPr lang="en-US" altLang="ko-KR" sz="1400" dirty="0" err="1"/>
              <a:t>JsonResponse</a:t>
            </a:r>
            <a:r>
              <a:rPr lang="en-US" altLang="ko-KR" sz="1400" dirty="0"/>
              <a:t>(context)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E41DA-6E61-ED6C-B846-B09739CB47A8}"/>
              </a:ext>
            </a:extLst>
          </p:cNvPr>
          <p:cNvSpPr txBox="1"/>
          <p:nvPr/>
        </p:nvSpPr>
        <p:spPr>
          <a:xfrm>
            <a:off x="9383696" y="6550223"/>
            <a:ext cx="28083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https://spoonhasi.tistory.com/2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8D3C7C-0D17-0635-717C-4B686C2DAA77}"/>
              </a:ext>
            </a:extLst>
          </p:cNvPr>
          <p:cNvSpPr txBox="1"/>
          <p:nvPr/>
        </p:nvSpPr>
        <p:spPr>
          <a:xfrm>
            <a:off x="195628" y="4764133"/>
            <a:ext cx="557256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let </a:t>
            </a:r>
            <a:r>
              <a:rPr lang="en-US" altLang="ko-KR" dirty="0" err="1">
                <a:solidFill>
                  <a:srgbClr val="FF0000"/>
                </a:solidFill>
              </a:rPr>
              <a:t>jData</a:t>
            </a:r>
            <a:r>
              <a:rPr lang="en-US" altLang="ko-KR" dirty="0">
                <a:solidFill>
                  <a:srgbClr val="FF0000"/>
                </a:solidFill>
              </a:rPr>
              <a:t> = </a:t>
            </a:r>
            <a:r>
              <a:rPr lang="en-US" altLang="ko-KR" dirty="0" err="1">
                <a:solidFill>
                  <a:srgbClr val="FF0000"/>
                </a:solidFill>
              </a:rPr>
              <a:t>JSON.parse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data.board</a:t>
            </a:r>
            <a:r>
              <a:rPr lang="en-US" altLang="ko-KR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ko-KR" dirty="0"/>
              <a:t>console.log(</a:t>
            </a:r>
            <a:r>
              <a:rPr lang="en-US" altLang="ko-KR" dirty="0" err="1"/>
              <a:t>jData</a:t>
            </a:r>
            <a:r>
              <a:rPr lang="en-US" altLang="ko-KR" dirty="0"/>
              <a:t>[0].pk);</a:t>
            </a:r>
          </a:p>
          <a:p>
            <a:r>
              <a:rPr lang="en-US" altLang="ko-KR" dirty="0"/>
              <a:t> console.log(</a:t>
            </a:r>
            <a:r>
              <a:rPr lang="en-US" altLang="ko-KR" dirty="0" err="1"/>
              <a:t>jData</a:t>
            </a:r>
            <a:r>
              <a:rPr lang="en-US" altLang="ko-KR" dirty="0"/>
              <a:t>[0].</a:t>
            </a:r>
            <a:r>
              <a:rPr lang="en-US" altLang="ko-KR" dirty="0" err="1"/>
              <a:t>fields.btitle</a:t>
            </a:r>
            <a:r>
              <a:rPr lang="en-US" altLang="ko-KR" dirty="0"/>
              <a:t>);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317A50-4DBC-6EC4-3ED9-39952E9B0665}"/>
              </a:ext>
            </a:extLst>
          </p:cNvPr>
          <p:cNvSpPr/>
          <p:nvPr/>
        </p:nvSpPr>
        <p:spPr>
          <a:xfrm>
            <a:off x="4339272" y="4764133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2195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ajax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댓글리스트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파일업로드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추가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74B1E6-0CBD-47FF-9E1A-807CBFBAA370}"/>
              </a:ext>
            </a:extLst>
          </p:cNvPr>
          <p:cNvSpPr/>
          <p:nvPr/>
        </p:nvSpPr>
        <p:spPr>
          <a:xfrm>
            <a:off x="405538" y="1176227"/>
            <a:ext cx="6020429" cy="558839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  <a:t># Ajax</a:t>
            </a:r>
            <a:r>
              <a:rPr lang="ko-KR" altLang="en-US" sz="2000" b="1" spc="-150" dirty="0">
                <a:solidFill>
                  <a:schemeClr val="accent3">
                    <a:lumMod val="50000"/>
                  </a:schemeClr>
                </a:solidFill>
              </a:rPr>
              <a:t> 에서 이미지 파일 업로드 방법</a:t>
            </a:r>
            <a:br>
              <a:rPr lang="en-US" altLang="ko-KR" sz="2000" b="1" spc="-150" dirty="0">
                <a:solidFill>
                  <a:schemeClr val="accent3">
                    <a:lumMod val="50000"/>
                  </a:schemeClr>
                </a:solidFill>
              </a:rPr>
            </a:br>
            <a:endParaRPr lang="en-US" altLang="ko-KR" sz="2000" b="1" spc="-15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&lt;script </a:t>
            </a:r>
            <a:r>
              <a:rPr lang="en-US" altLang="ko-KR" dirty="0" err="1">
                <a:solidFill>
                  <a:srgbClr val="FF0000"/>
                </a:solidFill>
              </a:rPr>
              <a:t>src</a:t>
            </a:r>
            <a:r>
              <a:rPr lang="en-US" altLang="ko-KR" dirty="0">
                <a:solidFill>
                  <a:srgbClr val="FF0000"/>
                </a:solidFill>
              </a:rPr>
              <a:t>="http://code.jquery.com/jquery-latest.min.js"&gt;&lt;/script&gt;</a:t>
            </a:r>
            <a:endParaRPr lang="ko-KR" altLang="en-US" dirty="0">
              <a:solidFill>
                <a:srgbClr val="FF0000"/>
              </a:solidFill>
            </a:endParaRPr>
          </a:p>
          <a:p>
            <a:r>
              <a:rPr lang="en-US" altLang="ko-KR" sz="1800" dirty="0"/>
              <a:t>&lt;script type=</a:t>
            </a:r>
            <a:r>
              <a:rPr lang="en-US" altLang="ko-KR" sz="1800" i="1" dirty="0"/>
              <a:t>"text/</a:t>
            </a:r>
            <a:r>
              <a:rPr lang="en-US" altLang="ko-KR" sz="1800" i="1" dirty="0" err="1"/>
              <a:t>javascript</a:t>
            </a:r>
            <a:r>
              <a:rPr lang="en-US" altLang="ko-KR" sz="1800" i="1" dirty="0"/>
              <a:t>"&gt;</a:t>
            </a:r>
          </a:p>
          <a:p>
            <a:r>
              <a:rPr lang="en-US" altLang="ko-KR" sz="1800" dirty="0"/>
              <a:t>    $(</a:t>
            </a:r>
            <a:r>
              <a:rPr lang="en-US" altLang="ko-KR" sz="1800" b="1" dirty="0"/>
              <a:t>function(){</a:t>
            </a:r>
          </a:p>
          <a:p>
            <a:r>
              <a:rPr lang="en-US" altLang="ko-KR" b="1" dirty="0"/>
              <a:t>        </a:t>
            </a:r>
          </a:p>
          <a:p>
            <a:r>
              <a:rPr lang="en-US" altLang="ko-KR" b="1" dirty="0"/>
              <a:t>        //</a:t>
            </a:r>
            <a:r>
              <a:rPr lang="ko-KR" altLang="en-US" b="1" dirty="0"/>
              <a:t>이미지 파일 업로드 방법</a:t>
            </a:r>
            <a:endParaRPr lang="en-US" altLang="ko-KR" b="1" dirty="0"/>
          </a:p>
          <a:p>
            <a:r>
              <a:rPr lang="en-US" altLang="ko-KR" dirty="0"/>
              <a:t>        var</a:t>
            </a:r>
            <a:r>
              <a:rPr lang="en-US" altLang="ko-KR" sz="1800" b="1" dirty="0"/>
              <a:t> </a:t>
            </a:r>
            <a:r>
              <a:rPr lang="en-US" altLang="ko-KR" dirty="0"/>
              <a:t>data = new </a:t>
            </a:r>
            <a:r>
              <a:rPr lang="en-US" altLang="ko-KR" dirty="0" err="1"/>
              <a:t>FormData</a:t>
            </a:r>
            <a:r>
              <a:rPr lang="en-US" altLang="ko-KR" dirty="0"/>
              <a:t>($(‘#</a:t>
            </a:r>
            <a:r>
              <a:rPr lang="en-US" altLang="ko-KR" dirty="0" err="1"/>
              <a:t>mfrm</a:t>
            </a:r>
            <a:r>
              <a:rPr lang="en-US" altLang="ko-KR" dirty="0"/>
              <a:t>')[0]);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data.append</a:t>
            </a:r>
            <a:r>
              <a:rPr lang="en-US" altLang="ko-KR" dirty="0"/>
              <a:t>("</a:t>
            </a:r>
            <a:r>
              <a:rPr lang="en-US" altLang="ko-KR" dirty="0" err="1"/>
              <a:t>img_file</a:t>
            </a:r>
            <a:r>
              <a:rPr lang="en-US" altLang="ko-KR" dirty="0"/>
              <a:t>", $('#</a:t>
            </a:r>
            <a:r>
              <a:rPr lang="en-US" altLang="ko-KR" dirty="0" err="1"/>
              <a:t>img_file</a:t>
            </a:r>
            <a:r>
              <a:rPr lang="en-US" altLang="ko-KR" dirty="0"/>
              <a:t>')[0].files[0]);</a:t>
            </a:r>
          </a:p>
          <a:p>
            <a:r>
              <a:rPr lang="en-US" altLang="ko-KR" sz="1800" dirty="0"/>
              <a:t>            </a:t>
            </a:r>
          </a:p>
          <a:p>
            <a:r>
              <a:rPr lang="en-US" altLang="ko-KR" dirty="0"/>
              <a:t>        </a:t>
            </a:r>
            <a:r>
              <a:rPr lang="en-US" altLang="ko-KR" sz="1800" dirty="0"/>
              <a:t>$.ajax({</a:t>
            </a:r>
          </a:p>
          <a:p>
            <a:r>
              <a:rPr lang="en-US" altLang="ko-KR" sz="1800" dirty="0"/>
              <a:t>                url: “/board/</a:t>
            </a:r>
            <a:r>
              <a:rPr lang="en-US" altLang="ko-KR" sz="1800" dirty="0" err="1"/>
              <a:t>boardList</a:t>
            </a:r>
            <a:r>
              <a:rPr lang="en-US" altLang="ko-KR" sz="1800" dirty="0"/>
              <a:t>",</a:t>
            </a:r>
          </a:p>
          <a:p>
            <a:r>
              <a:rPr lang="en-US" altLang="ko-KR" sz="1800" dirty="0"/>
              <a:t>                type: "POST",</a:t>
            </a:r>
          </a:p>
          <a:p>
            <a:r>
              <a:rPr lang="en-US" altLang="ko-KR" sz="1800" dirty="0"/>
              <a:t>                </a:t>
            </a:r>
            <a:r>
              <a:rPr lang="en-US" altLang="ko-KR" sz="1800" dirty="0" err="1"/>
              <a:t>processData</a:t>
            </a:r>
            <a:r>
              <a:rPr lang="en-US" altLang="ko-KR" sz="1800" dirty="0"/>
              <a:t> : false,</a:t>
            </a:r>
          </a:p>
          <a:p>
            <a:r>
              <a:rPr lang="en-US" altLang="ko-KR" sz="1800" dirty="0"/>
              <a:t>                </a:t>
            </a:r>
            <a:r>
              <a:rPr lang="en-US" altLang="ko-KR" sz="1800" dirty="0" err="1"/>
              <a:t>contentType</a:t>
            </a:r>
            <a:r>
              <a:rPr lang="en-US" altLang="ko-KR" sz="1800" dirty="0"/>
              <a:t> : false,</a:t>
            </a:r>
          </a:p>
          <a:p>
            <a:r>
              <a:rPr lang="en-US" altLang="ko-KR" dirty="0"/>
              <a:t>                </a:t>
            </a:r>
            <a:r>
              <a:rPr lang="en-US" altLang="ko-KR" sz="1800" dirty="0"/>
              <a:t>data: </a:t>
            </a:r>
            <a:r>
              <a:rPr lang="en-US" altLang="ko-KR" dirty="0"/>
              <a:t>data</a:t>
            </a:r>
            <a:r>
              <a:rPr lang="en-US" altLang="ko-KR" sz="1800" dirty="0"/>
              <a:t>,</a:t>
            </a:r>
          </a:p>
          <a:p>
            <a:r>
              <a:rPr lang="en-US" altLang="ko-KR" sz="1800" dirty="0"/>
              <a:t>                success: function(data){</a:t>
            </a:r>
          </a:p>
          <a:p>
            <a:r>
              <a:rPr lang="en-US" altLang="ko-KR" dirty="0"/>
              <a:t>                     // </a:t>
            </a:r>
            <a:r>
              <a:rPr lang="ko-KR" altLang="en-US" dirty="0"/>
              <a:t>생략</a:t>
            </a:r>
            <a:r>
              <a:rPr lang="en-US" altLang="ko-KR" dirty="0"/>
              <a:t>~</a:t>
            </a:r>
          </a:p>
          <a:p>
            <a:r>
              <a:rPr lang="en-US" altLang="ko-KR" sz="1800" dirty="0"/>
              <a:t>                }</a:t>
            </a:r>
          </a:p>
          <a:p>
            <a:r>
              <a:rPr lang="en-US" altLang="ko-KR" sz="1800" dirty="0"/>
              <a:t>                </a:t>
            </a:r>
            <a:endParaRPr lang="en-US" altLang="ko-KR" sz="1100" dirty="0">
              <a:latin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D42943-2E38-403A-A952-FC36E4FD1405}"/>
              </a:ext>
            </a:extLst>
          </p:cNvPr>
          <p:cNvSpPr/>
          <p:nvPr/>
        </p:nvSpPr>
        <p:spPr>
          <a:xfrm>
            <a:off x="4997043" y="1148751"/>
            <a:ext cx="1428924" cy="373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html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FCDEDB-F519-48D5-9761-B931BF941228}"/>
              </a:ext>
            </a:extLst>
          </p:cNvPr>
          <p:cNvSpPr txBox="1"/>
          <p:nvPr/>
        </p:nvSpPr>
        <p:spPr>
          <a:xfrm>
            <a:off x="7611541" y="6596390"/>
            <a:ext cx="45804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https://velog.io/@ansalstmd/Django-Ajax-%EC%97%B0%EB%8F%99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C764A0-DA2E-4FB2-B873-2BF87C3DD73B}"/>
              </a:ext>
            </a:extLst>
          </p:cNvPr>
          <p:cNvSpPr txBox="1"/>
          <p:nvPr/>
        </p:nvSpPr>
        <p:spPr>
          <a:xfrm>
            <a:off x="6495946" y="1788430"/>
            <a:ext cx="551709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 new </a:t>
            </a:r>
            <a:r>
              <a:rPr lang="en-US" altLang="ko-KR" sz="1400" dirty="0" err="1"/>
              <a:t>FormData</a:t>
            </a:r>
            <a:r>
              <a:rPr lang="en-US" altLang="ko-KR" sz="1400" dirty="0"/>
              <a:t>($(‘#</a:t>
            </a:r>
            <a:r>
              <a:rPr lang="en-US" altLang="ko-KR" sz="1400" dirty="0" err="1"/>
              <a:t>mfrm</a:t>
            </a:r>
            <a:r>
              <a:rPr lang="en-US" altLang="ko-KR" sz="1400" dirty="0"/>
              <a:t>')[0])</a:t>
            </a:r>
            <a:br>
              <a:rPr lang="en-US" altLang="ko-KR" sz="1400" dirty="0"/>
            </a:br>
            <a:r>
              <a:rPr lang="ko-KR" altLang="en-US" sz="1400" b="0" i="0" dirty="0">
                <a:solidFill>
                  <a:srgbClr val="212529"/>
                </a:solidFill>
                <a:effectLst/>
                <a:latin typeface="-apple-system"/>
              </a:rPr>
              <a:t>웹페이지의 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-apple-system"/>
              </a:rPr>
              <a:t>Form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-apple-system"/>
              </a:rPr>
              <a:t>태그에서 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-apple-system"/>
              </a:rPr>
              <a:t>id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-apple-system"/>
              </a:rPr>
              <a:t>이름 사용되는 모든 값을 나타냄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-apple-system"/>
              </a:rPr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* $('#</a:t>
            </a:r>
            <a:r>
              <a:rPr lang="en-US" altLang="ko-KR" sz="1400" dirty="0" err="1"/>
              <a:t>img_file</a:t>
            </a:r>
            <a:r>
              <a:rPr lang="en-US" altLang="ko-KR" sz="1400" dirty="0"/>
              <a:t>')[0].files[0]</a:t>
            </a:r>
            <a:br>
              <a:rPr lang="en-US" altLang="ko-KR" sz="1400" dirty="0"/>
            </a:br>
            <a:r>
              <a:rPr lang="en-US" altLang="ko-KR" sz="1400" dirty="0" err="1"/>
              <a:t>img_file</a:t>
            </a:r>
            <a:r>
              <a:rPr lang="ko-KR" altLang="en-US" sz="1400" dirty="0"/>
              <a:t>변수에 첨부파일 정보 나타냄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id = </a:t>
            </a:r>
            <a:r>
              <a:rPr lang="en-US" altLang="ko-KR" sz="1400" dirty="0" err="1"/>
              <a:t>request.POST.get</a:t>
            </a:r>
            <a:r>
              <a:rPr lang="en-US" altLang="ko-KR" sz="1400" dirty="0"/>
              <a:t>('id', None) </a:t>
            </a:r>
          </a:p>
          <a:p>
            <a:r>
              <a:rPr lang="en-US" altLang="ko-KR" sz="1400" dirty="0" err="1"/>
              <a:t>bfile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request.FILES.get</a:t>
            </a:r>
            <a:r>
              <a:rPr lang="en-US" altLang="ko-KR" sz="1400" dirty="0"/>
              <a:t>('</a:t>
            </a:r>
            <a:r>
              <a:rPr lang="en-US" altLang="ko-KR" sz="1400" dirty="0" err="1"/>
              <a:t>bfile</a:t>
            </a:r>
            <a:r>
              <a:rPr lang="en-US" altLang="ko-KR" sz="1400" dirty="0"/>
              <a:t>',‘’)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 err="1"/>
              <a:t>bfile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models.ImageField</a:t>
            </a:r>
            <a:r>
              <a:rPr lang="en-US" altLang="ko-KR" sz="1400" dirty="0"/>
              <a:t>(</a:t>
            </a:r>
            <a:r>
              <a:rPr lang="en-US" altLang="ko-KR" sz="1400" dirty="0" err="1"/>
              <a:t>upload_to</a:t>
            </a:r>
            <a:r>
              <a:rPr lang="en-US" altLang="ko-KR" sz="1400" dirty="0"/>
              <a:t>="</a:t>
            </a:r>
            <a:r>
              <a:rPr lang="en-US" altLang="ko-KR" sz="1400" dirty="0" err="1"/>
              <a:t>board",null</a:t>
            </a:r>
            <a:r>
              <a:rPr lang="en-US" altLang="ko-KR" sz="1400" dirty="0"/>
              <a:t>=True)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EB20C6-A3D3-40F5-9A0E-96000B2BF4FE}"/>
              </a:ext>
            </a:extLst>
          </p:cNvPr>
          <p:cNvSpPr/>
          <p:nvPr/>
        </p:nvSpPr>
        <p:spPr>
          <a:xfrm>
            <a:off x="948528" y="3090567"/>
            <a:ext cx="4990878" cy="11039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68BC15C5-727F-4FEE-9F3C-7D344024D11A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5939406" y="2911815"/>
            <a:ext cx="556540" cy="73071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59547F-CA8A-4612-8A95-12E8E6E8603D}"/>
              </a:ext>
            </a:extLst>
          </p:cNvPr>
          <p:cNvSpPr/>
          <p:nvPr/>
        </p:nvSpPr>
        <p:spPr>
          <a:xfrm>
            <a:off x="1435089" y="5145055"/>
            <a:ext cx="2801351" cy="8422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A69B8F-79B2-4CAE-A43A-342CA2D9F909}"/>
              </a:ext>
            </a:extLst>
          </p:cNvPr>
          <p:cNvSpPr txBox="1"/>
          <p:nvPr/>
        </p:nvSpPr>
        <p:spPr>
          <a:xfrm>
            <a:off x="6495946" y="4515486"/>
            <a:ext cx="5517090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*  </a:t>
            </a:r>
            <a:r>
              <a:rPr lang="en-US" altLang="ko-KR" sz="1400" dirty="0" err="1"/>
              <a:t>processData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contentType</a:t>
            </a:r>
            <a:r>
              <a:rPr lang="en-US" altLang="ko-KR" sz="1400" dirty="0"/>
              <a:t> : </a:t>
            </a:r>
            <a:r>
              <a:rPr lang="ko-KR" altLang="en-US" sz="1400" dirty="0"/>
              <a:t>모두 </a:t>
            </a:r>
            <a:r>
              <a:rPr lang="en-US" altLang="ko-KR" sz="1400" dirty="0"/>
              <a:t>false </a:t>
            </a:r>
            <a:r>
              <a:rPr lang="ko-KR" altLang="en-US" sz="1400" dirty="0"/>
              <a:t>로 해야 파일 전송 됨</a:t>
            </a:r>
            <a:r>
              <a:rPr lang="en-US" altLang="ko-KR" sz="1400" dirty="0"/>
              <a:t>.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FA6FA2B8-A03C-4007-AE20-F7867E17B1A6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4236440" y="4669375"/>
            <a:ext cx="2259506" cy="896812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08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948528" y="227654"/>
            <a:ext cx="87352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ajax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댓글리스트 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예제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15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930" y="1200834"/>
            <a:ext cx="5962698" cy="22281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1F48393-0EB5-49D9-8F7E-4FDB762C9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930" y="3566762"/>
            <a:ext cx="5947492" cy="140460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3872A55-1CF4-493B-B58F-73EBD99F2507}"/>
              </a:ext>
            </a:extLst>
          </p:cNvPr>
          <p:cNvGraphicFramePr>
            <a:graphicFrameLocks noGrp="1"/>
          </p:cNvGraphicFramePr>
          <p:nvPr/>
        </p:nvGraphicFramePr>
        <p:xfrm>
          <a:off x="6032929" y="5109127"/>
          <a:ext cx="5947491" cy="1371600"/>
        </p:xfrm>
        <a:graphic>
          <a:graphicData uri="http://schemas.openxmlformats.org/drawingml/2006/table">
            <a:tbl>
              <a:tblPr/>
              <a:tblGrid>
                <a:gridCol w="1635214">
                  <a:extLst>
                    <a:ext uri="{9D8B030D-6E8A-4147-A177-3AD203B41FA5}">
                      <a16:colId xmlns:a16="http://schemas.microsoft.com/office/drawing/2014/main" val="2164978708"/>
                    </a:ext>
                  </a:extLst>
                </a:gridCol>
                <a:gridCol w="4312277">
                  <a:extLst>
                    <a:ext uri="{9D8B030D-6E8A-4147-A177-3AD203B41FA5}">
                      <a16:colId xmlns:a16="http://schemas.microsoft.com/office/drawing/2014/main" val="4110401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 dirty="0" err="1">
                          <a:effectLst/>
                        </a:rPr>
                        <a:t>메소드</a:t>
                      </a:r>
                      <a:endParaRPr lang="ko-KR" altLang="en-US" sz="1050" dirty="0">
                        <a:effectLst/>
                      </a:endParaRP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50">
                          <a:effectLst/>
                        </a:rPr>
                        <a:t>설명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961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>
                          <a:effectLst/>
                        </a:rPr>
                        <a:t>.append()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선택된 요소의 마지막에 새로운 요소나 콘텐츠를 추가한다</a:t>
                      </a:r>
                      <a:r>
                        <a:rPr lang="en-US" altLang="ko-KR" sz="105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930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>
                          <a:effectLst/>
                        </a:rPr>
                        <a:t>.prepend()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선택된 요소의 첫번째에 새로운 요소나 콘텐츠를 추가한다</a:t>
                      </a:r>
                      <a:r>
                        <a:rPr lang="en-US" altLang="ko-KR" sz="105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30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>
                          <a:effectLst/>
                        </a:rPr>
                        <a:t>.appendTo()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>
                          <a:effectLst/>
                        </a:rPr>
                        <a:t>선택된 요소를 해당 요소의 마지막에 추가한다</a:t>
                      </a:r>
                      <a:r>
                        <a:rPr lang="en-US" altLang="ko-KR" sz="105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094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effectLst/>
                        </a:rPr>
                        <a:t>.</a:t>
                      </a:r>
                      <a:r>
                        <a:rPr lang="en-US" sz="1050" dirty="0" err="1">
                          <a:effectLst/>
                        </a:rPr>
                        <a:t>prependTo</a:t>
                      </a:r>
                      <a:r>
                        <a:rPr lang="en-US" sz="1050" dirty="0">
                          <a:effectLst/>
                        </a:rPr>
                        <a:t>()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>
                          <a:effectLst/>
                        </a:rPr>
                        <a:t>선택된 요소를 해당 요소의 첫번째에 추가한다</a:t>
                      </a:r>
                      <a:r>
                        <a:rPr lang="en-US" altLang="ko-KR" sz="1050" dirty="0">
                          <a:effectLst/>
                        </a:rPr>
                        <a:t>.</a:t>
                      </a:r>
                    </a:p>
                  </a:txBody>
                  <a:tcPr marL="123825" marR="123825" marT="57150" marB="5715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86908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CD8902D-B142-44EE-B695-58B23B880920}"/>
              </a:ext>
            </a:extLst>
          </p:cNvPr>
          <p:cNvSpPr txBox="1"/>
          <p:nvPr/>
        </p:nvSpPr>
        <p:spPr>
          <a:xfrm>
            <a:off x="460696" y="1024008"/>
            <a:ext cx="5207466" cy="567847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send_api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$.ajax({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url: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“/ajax_data"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dataType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"json"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success: 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(data) {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alert(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1100" dirty="0">
                <a:solidFill>
                  <a:srgbClr val="2A00FF"/>
                </a:solidFill>
                <a:latin typeface="Consolas" panose="020B0609020204030204" pitchFamily="49" charset="0"/>
              </a:rPr>
              <a:t>성공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dirty="0">
                <a:solidFill>
                  <a:srgbClr val="3F7F5F"/>
                </a:solidFill>
                <a:latin typeface="Consolas" panose="020B0609020204030204" pitchFamily="49" charset="0"/>
              </a:rPr>
              <a:t>// json</a:t>
            </a:r>
            <a:r>
              <a:rPr lang="ko-KR" altLang="en-US" sz="1100" dirty="0">
                <a:solidFill>
                  <a:srgbClr val="3F7F5F"/>
                </a:solidFill>
                <a:latin typeface="Consolas" panose="020B0609020204030204" pitchFamily="49" charset="0"/>
              </a:rPr>
              <a:t>에서</a:t>
            </a:r>
            <a:endParaRPr lang="en-US" altLang="ko-KR" sz="11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var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html;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data.length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&gt;=1){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'&lt;tr&gt;'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'&lt;td&gt;’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].bid+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bnname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btitle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bcontent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bdate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+data[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ko-KR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bgroup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nn-NO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nn-NO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'&lt;td&gt;'</a:t>
            </a:r>
            <a:r>
              <a:rPr lang="nn-NO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nn-NO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[i].bstep+</a:t>
            </a:r>
            <a:r>
              <a:rPr lang="nn-NO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'&lt;/td&gt;'</a:t>
            </a:r>
            <a:r>
              <a:rPr lang="nn-NO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1100" dirty="0">
                <a:solidFill>
                  <a:srgbClr val="3F7F5F"/>
                </a:solidFill>
                <a:latin typeface="Consolas" panose="020B0609020204030204" pitchFamily="49" charset="0"/>
              </a:rPr>
              <a:t>//....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html += 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'&lt;/tr&gt;'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html=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"&lt;tr&gt;&lt;td&gt;</a:t>
            </a:r>
            <a:r>
              <a:rPr lang="ko-KR" altLang="en-US" sz="1100" dirty="0">
                <a:solidFill>
                  <a:srgbClr val="2A00FF"/>
                </a:solidFill>
                <a:latin typeface="Consolas" panose="020B0609020204030204" pitchFamily="49" charset="0"/>
              </a:rPr>
              <a:t>데이터 없음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&lt;/td&gt;&lt;/tr&gt;"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$(</a:t>
            </a:r>
            <a:r>
              <a:rPr lang="en-US" altLang="ko-KR" sz="1100" dirty="0">
                <a:solidFill>
                  <a:srgbClr val="2A00FF"/>
                </a:solidFill>
                <a:latin typeface="Consolas" panose="020B0609020204030204" pitchFamily="49" charset="0"/>
              </a:rPr>
              <a:t>'#data'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).html(html);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},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error: </a:t>
            </a:r>
            <a:r>
              <a:rPr lang="en-US" altLang="ko-KR" sz="1100" b="1" dirty="0">
                <a:solidFill>
                  <a:srgbClr val="7F0055"/>
                </a:solidFill>
                <a:latin typeface="Consolas" panose="020B0609020204030204" pitchFamily="49" charset="0"/>
              </a:rPr>
              <a:t>function</a:t>
            </a:r>
            <a:r>
              <a:rPr lang="en-US" altLang="ko-KR" sz="1100" b="1" dirty="0">
                <a:solidFill>
                  <a:srgbClr val="000000"/>
                </a:solidFill>
                <a:latin typeface="Consolas" panose="020B0609020204030204" pitchFamily="49" charset="0"/>
              </a:rPr>
              <a:t>(error) {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alert(“error”);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  <a:p>
            <a:pPr algn="l"/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18869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2845-908D-930D-F6E8-B26C422C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C0E6F2D5-A4E3-C666-3F4D-D503D87B6109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3A5275E-346B-4E30-69A6-7F85F1069E4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E6E327-4A7E-F623-4390-2B3E27F41FE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97CD2F-1E15-1E20-9D3A-A5A78D002AAF}"/>
              </a:ext>
            </a:extLst>
          </p:cNvPr>
          <p:cNvSpPr txBox="1"/>
          <p:nvPr/>
        </p:nvSpPr>
        <p:spPr>
          <a:xfrm>
            <a:off x="4424709" y="2980067"/>
            <a:ext cx="33425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 err="1"/>
              <a:t>차트그리기</a:t>
            </a:r>
            <a:endParaRPr lang="en-US" altLang="ko-KR" sz="5400" b="1" dirty="0"/>
          </a:p>
          <a:p>
            <a:pPr algn="ctr"/>
            <a:r>
              <a:rPr lang="en-US" altLang="ko-KR" sz="5400" b="1" dirty="0"/>
              <a:t>chart.js</a:t>
            </a:r>
            <a:endParaRPr lang="ko-KR" altLang="en-US" sz="5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FE45E34-71CC-8FAD-7C4D-4AE8113D9F02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18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1800225"/>
            <a:ext cx="8153400" cy="481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>
                <a:solidFill>
                  <a:schemeClr val="tx1">
                    <a:lumMod val="85000"/>
                    <a:lumOff val="15000"/>
                  </a:schemeClr>
                </a:solidFill>
              </a:rPr>
              <a:t>화면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6988F2-1040-4825-85D3-3365834C73C8}"/>
              </a:ext>
            </a:extLst>
          </p:cNvPr>
          <p:cNvSpPr/>
          <p:nvPr/>
        </p:nvSpPr>
        <p:spPr>
          <a:xfrm>
            <a:off x="2527516" y="1790700"/>
            <a:ext cx="100626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2422740" y="1152525"/>
            <a:ext cx="8232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버튼 </a:t>
            </a:r>
            <a:r>
              <a:rPr lang="ko-KR" altLang="en-US" dirty="0" err="1"/>
              <a:t>클릭시</a:t>
            </a:r>
            <a:r>
              <a:rPr lang="ko-KR" altLang="en-US" dirty="0"/>
              <a:t> 차트 그려짐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894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CFB6-1141-DC5A-2D5A-F2F4FC1F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50706874-E441-4B13-76EA-069A0597A916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B81EA6C-9444-4CFC-DDE4-015BED10793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1AE4E4A-7003-0F58-6DFD-935149219A1F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501FE0-59B9-C07B-66A9-9DCCA253B3A1}"/>
              </a:ext>
            </a:extLst>
          </p:cNvPr>
          <p:cNvSpPr txBox="1"/>
          <p:nvPr/>
        </p:nvSpPr>
        <p:spPr>
          <a:xfrm>
            <a:off x="4383030" y="2980067"/>
            <a:ext cx="3425938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메일보내기</a:t>
            </a:r>
            <a:br>
              <a:rPr lang="en-US" altLang="ko-KR" sz="5400" b="1" dirty="0"/>
            </a:br>
            <a:r>
              <a:rPr lang="en-US" altLang="ko-KR" sz="4000" b="1" dirty="0"/>
              <a:t> (</a:t>
            </a:r>
            <a:r>
              <a:rPr lang="en-US" altLang="ko-KR" sz="4000" b="1" dirty="0" err="1"/>
              <a:t>naver</a:t>
            </a:r>
            <a:r>
              <a:rPr lang="ko-KR" altLang="en-US" sz="4000" b="1" dirty="0"/>
              <a:t>메일</a:t>
            </a:r>
            <a:r>
              <a:rPr lang="en-US" altLang="ko-KR" sz="4000" b="1" dirty="0"/>
              <a:t>)</a:t>
            </a:r>
            <a:endParaRPr lang="ko-KR" altLang="en-US" sz="5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3695C3A-A88B-1CC2-2212-65954D2BFCD8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27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이메일 보내기 설정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AFC784-21FA-4E44-B1C5-77BEEA5A9849}"/>
              </a:ext>
            </a:extLst>
          </p:cNvPr>
          <p:cNvSpPr/>
          <p:nvPr/>
        </p:nvSpPr>
        <p:spPr>
          <a:xfrm>
            <a:off x="416358" y="976509"/>
            <a:ext cx="10937442" cy="7974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네이버 설정</a:t>
            </a:r>
            <a:endParaRPr lang="en-US" altLang="ko-KR" sz="2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6" name="Picture 2" descr="https://blog.kakaocdn.net/dn/byXyTH/btq3hvLmunA/gtxDF3ViBizKe98PUwJxkK/img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6358" y="1956702"/>
            <a:ext cx="8288730" cy="44166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4465321" y="3171376"/>
            <a:ext cx="1066800" cy="2667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3633217" y="3620910"/>
            <a:ext cx="1066800" cy="2667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2566416" y="4863754"/>
            <a:ext cx="3093719" cy="3117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959865" y="5224886"/>
            <a:ext cx="298703" cy="2432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8833975" y="1956702"/>
            <a:ext cx="3153810" cy="16004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환경설정</a:t>
            </a: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내 </a:t>
            </a:r>
            <a:r>
              <a:rPr lang="ko-KR" altLang="en-US" sz="1400" dirty="0" err="1"/>
              <a:t>메일함</a:t>
            </a:r>
            <a:r>
              <a:rPr lang="ko-KR" altLang="en-US" sz="1400" dirty="0"/>
              <a:t> 톱니 모양을 클릭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1. POP/IMAP </a:t>
            </a:r>
            <a:r>
              <a:rPr lang="ko-KR" altLang="en-US" sz="1400" dirty="0"/>
              <a:t>설정</a:t>
            </a:r>
            <a:br>
              <a:rPr lang="en-US" altLang="ko-KR" sz="1400" dirty="0"/>
            </a:br>
            <a:r>
              <a:rPr lang="en-US" altLang="ko-KR" sz="1400" dirty="0"/>
              <a:t>2. IMAP/SMTP </a:t>
            </a:r>
            <a:r>
              <a:rPr lang="ko-KR" altLang="en-US" sz="1400" dirty="0"/>
              <a:t>설정</a:t>
            </a:r>
            <a:br>
              <a:rPr lang="en-US" altLang="ko-KR" sz="1400" dirty="0"/>
            </a:br>
            <a:r>
              <a:rPr lang="en-US" altLang="ko-KR" sz="1400" dirty="0"/>
              <a:t>3. IMAP/SMTP </a:t>
            </a:r>
            <a:r>
              <a:rPr lang="ko-KR" altLang="en-US" sz="1400" dirty="0"/>
              <a:t>사용 </a:t>
            </a:r>
            <a:r>
              <a:rPr lang="en-US" altLang="ko-KR" sz="1400" dirty="0"/>
              <a:t>&gt; </a:t>
            </a:r>
            <a:r>
              <a:rPr lang="ko-KR" altLang="en-US" sz="1400" dirty="0"/>
              <a:t>사용함 클릭</a:t>
            </a:r>
            <a:br>
              <a:rPr lang="en-US" altLang="ko-KR" sz="1400" dirty="0"/>
            </a:br>
            <a:r>
              <a:rPr lang="en-US" altLang="ko-KR" sz="1400" dirty="0"/>
              <a:t>4. </a:t>
            </a:r>
            <a:r>
              <a:rPr lang="ko-KR" altLang="en-US" sz="1400" dirty="0"/>
              <a:t>저장</a:t>
            </a:r>
            <a:endParaRPr lang="en-US" altLang="ko-KR" sz="1400" dirty="0"/>
          </a:p>
        </p:txBody>
      </p:sp>
      <p:sp>
        <p:nvSpPr>
          <p:cNvPr id="2" name="직사각형 1"/>
          <p:cNvSpPr/>
          <p:nvPr/>
        </p:nvSpPr>
        <p:spPr>
          <a:xfrm>
            <a:off x="9827250" y="6596390"/>
            <a:ext cx="23647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dirty="0"/>
              <a:t>https://maxtime1004.tistory.com/40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975" y="4523754"/>
            <a:ext cx="2724531" cy="3290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975" y="4953762"/>
            <a:ext cx="942975" cy="5143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8839036" y="5181854"/>
            <a:ext cx="1246795" cy="2862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8833975" y="5576307"/>
            <a:ext cx="3153810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 err="1"/>
              <a:t>하단부분</a:t>
            </a:r>
            <a:r>
              <a:rPr lang="ko-KR" altLang="en-US" sz="1400" dirty="0"/>
              <a:t> 정보</a:t>
            </a:r>
            <a:br>
              <a:rPr lang="en-US" altLang="ko-KR" sz="1400" dirty="0"/>
            </a:br>
            <a:r>
              <a:rPr lang="en-US" altLang="ko-KR" sz="1400" dirty="0"/>
              <a:t> - </a:t>
            </a:r>
            <a:r>
              <a:rPr lang="ko-KR" altLang="en-US" sz="1400" dirty="0"/>
              <a:t>메일 프로그램 환경 설정 안내</a:t>
            </a:r>
            <a:endParaRPr lang="en-US" altLang="ko-KR" sz="1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416358" y="6415444"/>
            <a:ext cx="7191450" cy="379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7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26" idx="3"/>
            <a:endCxn id="3" idx="1"/>
          </p:cNvCxnSpPr>
          <p:nvPr/>
        </p:nvCxnSpPr>
        <p:spPr>
          <a:xfrm flipV="1">
            <a:off x="7607808" y="4688279"/>
            <a:ext cx="1226167" cy="191680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17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715A7-27B2-88F2-519E-8234CDDE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1D802CF2-6BDE-50C2-23B9-E2BECFA05A3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B7F8CCF-7BC8-F107-D64F-578839FEBB70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CE490CDD-2331-309F-3D95-5FA30E9BC67B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E94DDA-CE69-F5A5-C91A-29C124746658}"/>
              </a:ext>
            </a:extLst>
          </p:cNvPr>
          <p:cNvSpPr txBox="1"/>
          <p:nvPr/>
        </p:nvSpPr>
        <p:spPr>
          <a:xfrm>
            <a:off x="982511" y="203587"/>
            <a:ext cx="813023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단계 인증 및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토큰키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비밀번호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CC8677-BC42-C01F-A42A-0EF0BE6AEFDA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20E842-DD55-9EB7-1FD0-8780F803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332" y="1998177"/>
            <a:ext cx="5313734" cy="277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D3C85-66D9-973A-E958-DBBFC7C8B139}"/>
              </a:ext>
            </a:extLst>
          </p:cNvPr>
          <p:cNvSpPr txBox="1"/>
          <p:nvPr/>
        </p:nvSpPr>
        <p:spPr>
          <a:xfrm>
            <a:off x="219892" y="3583823"/>
            <a:ext cx="5405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2.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메뉴 위치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: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네이버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ID &gt;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보안설정 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&gt;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기본보안설정 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&gt; 2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단계 인증 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&gt;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관리</a:t>
            </a:r>
            <a:endParaRPr lang="ko-KR" altLang="en-US" sz="14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4EFB506-63E6-C505-8FCE-9C07E5D82DF0}"/>
              </a:ext>
            </a:extLst>
          </p:cNvPr>
          <p:cNvGrpSpPr/>
          <p:nvPr/>
        </p:nvGrpSpPr>
        <p:grpSpPr>
          <a:xfrm>
            <a:off x="319934" y="1444929"/>
            <a:ext cx="2709871" cy="1693669"/>
            <a:chOff x="547135" y="1089933"/>
            <a:chExt cx="2709871" cy="169366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697DB51-2F86-B201-2FE5-9F621E5EC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135" y="1089933"/>
              <a:ext cx="2709871" cy="1693669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739788F-950B-D19A-4BC0-245425F3B4B5}"/>
                </a:ext>
              </a:extLst>
            </p:cNvPr>
            <p:cNvSpPr/>
            <p:nvPr/>
          </p:nvSpPr>
          <p:spPr>
            <a:xfrm>
              <a:off x="1902070" y="1936767"/>
              <a:ext cx="449244" cy="1707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 w="38100">
                  <a:solidFill>
                    <a:schemeClr val="tx1"/>
                  </a:solidFill>
                </a:ln>
                <a:noFill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DD46AE5-C77D-384C-9209-BA97F13E4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4007467"/>
            <a:ext cx="5125992" cy="22847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ACB5DCC-1E13-8029-0D5B-23EE09B33426}"/>
              </a:ext>
            </a:extLst>
          </p:cNvPr>
          <p:cNvSpPr/>
          <p:nvPr/>
        </p:nvSpPr>
        <p:spPr>
          <a:xfrm>
            <a:off x="2299088" y="4871672"/>
            <a:ext cx="3157103" cy="205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1C1F45-B800-5E07-272A-3D96CBA6BF5D}"/>
              </a:ext>
            </a:extLst>
          </p:cNvPr>
          <p:cNvSpPr/>
          <p:nvPr/>
        </p:nvSpPr>
        <p:spPr>
          <a:xfrm>
            <a:off x="331206" y="6007280"/>
            <a:ext cx="651306" cy="205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F0C34-DD04-40C1-5775-E0654436A1CB}"/>
              </a:ext>
            </a:extLst>
          </p:cNvPr>
          <p:cNvSpPr txBox="1"/>
          <p:nvPr/>
        </p:nvSpPr>
        <p:spPr>
          <a:xfrm>
            <a:off x="6026332" y="1592949"/>
            <a:ext cx="5405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3.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비밀번호 생성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762FE0-0AAE-2725-805A-A9B09E1A0C46}"/>
              </a:ext>
            </a:extLst>
          </p:cNvPr>
          <p:cNvSpPr txBox="1"/>
          <p:nvPr/>
        </p:nvSpPr>
        <p:spPr>
          <a:xfrm>
            <a:off x="219892" y="1077138"/>
            <a:ext cx="5405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1. </a:t>
            </a:r>
            <a:r>
              <a:rPr lang="ko-KR" altLang="en-US" sz="1400" b="0" i="0" dirty="0" err="1">
                <a:solidFill>
                  <a:srgbClr val="222222"/>
                </a:solidFill>
                <a:effectLst/>
                <a:latin typeface="HelveticaNeue"/>
              </a:rPr>
              <a:t>로그인후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 닉네임 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&gt; 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보안설정 클릭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EA2CA63-A77A-5EAA-AB4F-C6C6A70A21EE}"/>
              </a:ext>
            </a:extLst>
          </p:cNvPr>
          <p:cNvSpPr/>
          <p:nvPr/>
        </p:nvSpPr>
        <p:spPr>
          <a:xfrm>
            <a:off x="8031893" y="2933177"/>
            <a:ext cx="2383558" cy="306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7D195BE-9D0A-E9B7-3AD1-E1C34611322E}"/>
              </a:ext>
            </a:extLst>
          </p:cNvPr>
          <p:cNvSpPr/>
          <p:nvPr/>
        </p:nvSpPr>
        <p:spPr>
          <a:xfrm>
            <a:off x="8031893" y="3618412"/>
            <a:ext cx="702804" cy="306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ED919D6-F346-681A-4E02-FE2472BBEDCF}"/>
              </a:ext>
            </a:extLst>
          </p:cNvPr>
          <p:cNvSpPr/>
          <p:nvPr/>
        </p:nvSpPr>
        <p:spPr>
          <a:xfrm>
            <a:off x="8031892" y="3996017"/>
            <a:ext cx="2845113" cy="306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8F768-E048-D6F1-94E7-3875CCA9903C}"/>
              </a:ext>
            </a:extLst>
          </p:cNvPr>
          <p:cNvSpPr txBox="1"/>
          <p:nvPr/>
        </p:nvSpPr>
        <p:spPr>
          <a:xfrm>
            <a:off x="6026332" y="4815712"/>
            <a:ext cx="5405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비밀번호는 처음 외에는 </a:t>
            </a:r>
            <a:r>
              <a:rPr lang="ko-KR" altLang="en-US" sz="1400" b="0" i="0" dirty="0" err="1">
                <a:solidFill>
                  <a:srgbClr val="222222"/>
                </a:solidFill>
                <a:effectLst/>
                <a:latin typeface="HelveticaNeue"/>
              </a:rPr>
              <a:t>볼수</a:t>
            </a:r>
            <a:r>
              <a:rPr lang="ko-KR" altLang="en-US" sz="1400" b="0" i="0" dirty="0">
                <a:solidFill>
                  <a:srgbClr val="222222"/>
                </a:solidFill>
                <a:effectLst/>
                <a:latin typeface="HelveticaNeue"/>
              </a:rPr>
              <a:t> 없음</a:t>
            </a:r>
            <a:r>
              <a:rPr lang="en-US" altLang="ko-KR" sz="1400" b="0" i="0" dirty="0">
                <a:solidFill>
                  <a:srgbClr val="222222"/>
                </a:solidFill>
                <a:effectLst/>
                <a:latin typeface="HelveticaNeue"/>
              </a:rPr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7246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Selenium –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이메일 보내기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 (text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내용보내기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7A735A-E186-4540-A006-65F08F36A34A}"/>
              </a:ext>
            </a:extLst>
          </p:cNvPr>
          <p:cNvSpPr/>
          <p:nvPr/>
        </p:nvSpPr>
        <p:spPr>
          <a:xfrm>
            <a:off x="111761" y="1034584"/>
            <a:ext cx="6974840" cy="5677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import </a:t>
            </a:r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smtplib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                            </a:t>
            </a:r>
          </a:p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from </a:t>
            </a:r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email.mime.text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import </a:t>
            </a:r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MIMEText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smtpName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= "smtp.naver.com"                  </a:t>
            </a: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smtpPort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=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포트번호                              </a:t>
            </a:r>
          </a:p>
          <a:p>
            <a:endParaRPr lang="ko-KR" altLang="en-US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sendEmail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= "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나의 네이버 계정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"</a:t>
            </a:r>
          </a:p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password = "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나의 네이버 비밀번호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"</a:t>
            </a: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recvEmail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= "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받는 사람 이메일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"</a:t>
            </a:r>
          </a:p>
          <a:p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title = "</a:t>
            </a:r>
            <a:r>
              <a:rPr lang="ko-KR" altLang="en-US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파이썬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이메일보내기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"                                </a:t>
            </a:r>
          </a:p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content = "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이메일을 보내줍니다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."                                </a:t>
            </a:r>
          </a:p>
          <a:p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msg = </a:t>
            </a:r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MIMEText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(content)     #</a:t>
            </a:r>
            <a:r>
              <a:rPr lang="en-US" altLang="ko-KR" dirty="0"/>
              <a:t>msg = </a:t>
            </a:r>
            <a:r>
              <a:rPr lang="en-US" altLang="ko-KR" dirty="0" err="1"/>
              <a:t>MIMEText</a:t>
            </a:r>
            <a:r>
              <a:rPr lang="en-US" altLang="ko-KR" dirty="0"/>
              <a:t>(</a:t>
            </a:r>
            <a:r>
              <a:rPr lang="en-US" altLang="ko-KR" dirty="0" err="1"/>
              <a:t>text,'html</a:t>
            </a:r>
            <a:r>
              <a:rPr lang="en-US" altLang="ko-KR" dirty="0"/>
              <a:t>')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                     </a:t>
            </a: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msg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['From'] = </a:t>
            </a:r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sendEmail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msg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['To'] = </a:t>
            </a:r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recvEmail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en-US" altLang="ko-KR" dirty="0" err="1">
                <a:latin typeface="Malgun Gothic" panose="020B0503020000020004" pitchFamily="50" charset="-127"/>
                <a:ea typeface="Malgun Gothic" panose="020B0503020000020004" pitchFamily="50" charset="-127"/>
              </a:rPr>
              <a:t>msg</a:t>
            </a:r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['Subject'] = title                   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494" y="1499056"/>
            <a:ext cx="942975" cy="514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7279494" y="1054984"/>
            <a:ext cx="4525409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환경설정 하단 부분에 포트 정보가 있음</a:t>
            </a:r>
            <a:r>
              <a:rPr lang="en-US" altLang="ko-KR" sz="1400" dirty="0"/>
              <a:t>.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7233339" y="2898954"/>
            <a:ext cx="4571563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 err="1"/>
              <a:t>읽어들인</a:t>
            </a:r>
            <a:r>
              <a:rPr lang="ko-KR" altLang="en-US" sz="1400" dirty="0"/>
              <a:t> 파일의 텍스트를 </a:t>
            </a:r>
            <a:r>
              <a:rPr lang="en-US" altLang="ko-KR" sz="1400" dirty="0"/>
              <a:t>MIME </a:t>
            </a:r>
            <a:r>
              <a:rPr lang="ko-KR" altLang="en-US" sz="1400" dirty="0"/>
              <a:t>객체화</a:t>
            </a:r>
            <a:endParaRPr lang="en-US" altLang="ko-KR" sz="1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21920" y="4668940"/>
            <a:ext cx="2996184" cy="12015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7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 flipV="1">
            <a:off x="3118104" y="3052843"/>
            <a:ext cx="4115235" cy="2216851"/>
          </a:xfrm>
          <a:prstGeom prst="bentConnector3">
            <a:avLst>
              <a:gd name="adj1" fmla="val 8131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21920" y="2196144"/>
            <a:ext cx="2996184" cy="291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29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28" idx="3"/>
            <a:endCxn id="17" idx="1"/>
          </p:cNvCxnSpPr>
          <p:nvPr/>
        </p:nvCxnSpPr>
        <p:spPr>
          <a:xfrm flipV="1">
            <a:off x="3118104" y="1756231"/>
            <a:ext cx="4161390" cy="585425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F625AB9-37D9-430E-0671-A4FAE242B1D5}"/>
              </a:ext>
            </a:extLst>
          </p:cNvPr>
          <p:cNvSpPr txBox="1"/>
          <p:nvPr/>
        </p:nvSpPr>
        <p:spPr>
          <a:xfrm>
            <a:off x="7285589" y="3764029"/>
            <a:ext cx="3263537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text = f"""</a:t>
            </a:r>
          </a:p>
          <a:p>
            <a:r>
              <a:rPr lang="en-US" altLang="ko-KR" dirty="0"/>
              <a:t>    &lt;html&gt;</a:t>
            </a:r>
          </a:p>
          <a:p>
            <a:r>
              <a:rPr lang="en-US" altLang="ko-KR" dirty="0"/>
              <a:t>    &lt;body&gt;</a:t>
            </a:r>
          </a:p>
          <a:p>
            <a:r>
              <a:rPr lang="en-US" altLang="ko-KR" dirty="0"/>
              <a:t>        &lt;h2&gt;{title}&lt;/h2&gt;</a:t>
            </a:r>
          </a:p>
          <a:p>
            <a:r>
              <a:rPr lang="en-US" altLang="ko-KR" dirty="0"/>
              <a:t>        &lt;p&gt;</a:t>
            </a:r>
            <a:r>
              <a:rPr lang="ko-KR" altLang="en-US" dirty="0"/>
              <a:t>메일 </a:t>
            </a:r>
            <a:r>
              <a:rPr lang="en-US" altLang="ko-KR" dirty="0"/>
              <a:t>html</a:t>
            </a:r>
            <a:r>
              <a:rPr lang="ko-KR" altLang="en-US" dirty="0"/>
              <a:t>전송</a:t>
            </a:r>
            <a:r>
              <a:rPr lang="en-US" altLang="ko-KR" dirty="0"/>
              <a:t>&lt;/p&gt;</a:t>
            </a:r>
          </a:p>
          <a:p>
            <a:r>
              <a:rPr lang="en-US" altLang="ko-KR" dirty="0"/>
              <a:t>    &lt;/body&gt;</a:t>
            </a:r>
          </a:p>
          <a:p>
            <a:r>
              <a:rPr lang="en-US" altLang="ko-KR" dirty="0"/>
              <a:t>    &lt;/html&gt;</a:t>
            </a:r>
          </a:p>
          <a:p>
            <a:r>
              <a:rPr lang="en-US" altLang="ko-KR" dirty="0"/>
              <a:t>    """</a:t>
            </a:r>
          </a:p>
          <a:p>
            <a:endParaRPr lang="en-US" altLang="ko-KR" dirty="0"/>
          </a:p>
          <a:p>
            <a:r>
              <a:rPr lang="en-US" altLang="ko-KR" dirty="0"/>
              <a:t>msg = </a:t>
            </a:r>
            <a:r>
              <a:rPr lang="en-US" altLang="ko-KR" dirty="0" err="1"/>
              <a:t>MIMEText</a:t>
            </a:r>
            <a:r>
              <a:rPr lang="en-US" altLang="ko-KR" dirty="0"/>
              <a:t>(</a:t>
            </a:r>
            <a:r>
              <a:rPr lang="en-US" altLang="ko-KR" dirty="0" err="1"/>
              <a:t>text,'html</a:t>
            </a:r>
            <a:r>
              <a:rPr lang="en-US" altLang="ko-KR" dirty="0"/>
              <a:t>')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6FA8A8-5F70-6FE9-996F-3674547AF179}"/>
              </a:ext>
            </a:extLst>
          </p:cNvPr>
          <p:cNvSpPr/>
          <p:nvPr/>
        </p:nvSpPr>
        <p:spPr>
          <a:xfrm>
            <a:off x="7233339" y="3379307"/>
            <a:ext cx="4571563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html</a:t>
            </a:r>
            <a:r>
              <a:rPr lang="ko-KR" altLang="en-US" sz="1400" dirty="0"/>
              <a:t> 소스 추가 보내기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93036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이메일 보내기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7A735A-E186-4540-A006-65F08F36A34A}"/>
              </a:ext>
            </a:extLst>
          </p:cNvPr>
          <p:cNvSpPr/>
          <p:nvPr/>
        </p:nvSpPr>
        <p:spPr>
          <a:xfrm>
            <a:off x="111761" y="1034584"/>
            <a:ext cx="6974840" cy="5677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br>
              <a:rPr lang="ko-KR" altLang="en-US" dirty="0"/>
            </a:br>
            <a:r>
              <a:rPr lang="en-US" altLang="ko-KR" dirty="0"/>
              <a:t># </a:t>
            </a:r>
            <a:r>
              <a:rPr lang="ko-KR" altLang="en-US" dirty="0"/>
              <a:t>메일 서버 정보 </a:t>
            </a:r>
            <a:r>
              <a:rPr lang="en-US" altLang="ko-KR" dirty="0"/>
              <a:t>smtp.naver.com/587</a:t>
            </a:r>
          </a:p>
          <a:p>
            <a:r>
              <a:rPr lang="en-US" altLang="ko-KR" dirty="0"/>
              <a:t>s = </a:t>
            </a:r>
            <a:r>
              <a:rPr lang="en-US" altLang="ko-KR" dirty="0" err="1"/>
              <a:t>smtplib.SMTP</a:t>
            </a:r>
            <a:r>
              <a:rPr lang="en-US" altLang="ko-KR" dirty="0"/>
              <a:t>(</a:t>
            </a:r>
            <a:r>
              <a:rPr lang="en-US" altLang="ko-KR" dirty="0" err="1"/>
              <a:t>smtpName</a:t>
            </a:r>
            <a:r>
              <a:rPr lang="en-US" altLang="ko-KR" dirty="0"/>
              <a:t> , </a:t>
            </a:r>
            <a:r>
              <a:rPr lang="en-US" altLang="ko-KR" dirty="0" err="1"/>
              <a:t>smtpPort</a:t>
            </a:r>
            <a:r>
              <a:rPr lang="en-US" altLang="ko-KR" dirty="0"/>
              <a:t>)        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서버 접근</a:t>
            </a:r>
          </a:p>
          <a:p>
            <a:r>
              <a:rPr lang="en-US" altLang="ko-KR" dirty="0" err="1"/>
              <a:t>s.starttls</a:t>
            </a:r>
            <a:r>
              <a:rPr lang="en-US" altLang="ko-KR" dirty="0"/>
              <a:t>()    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서버 로그인                            </a:t>
            </a:r>
          </a:p>
          <a:p>
            <a:r>
              <a:rPr lang="en-US" altLang="ko-KR" dirty="0" err="1"/>
              <a:t>s.login</a:t>
            </a:r>
            <a:r>
              <a:rPr lang="en-US" altLang="ko-KR" dirty="0"/>
              <a:t>(</a:t>
            </a:r>
            <a:r>
              <a:rPr lang="en-US" altLang="ko-KR" dirty="0" err="1"/>
              <a:t>sendEmail</a:t>
            </a:r>
            <a:r>
              <a:rPr lang="en-US" altLang="ko-KR" dirty="0"/>
              <a:t> , password)  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발송              </a:t>
            </a:r>
          </a:p>
          <a:p>
            <a:r>
              <a:rPr lang="en-US" altLang="ko-KR" dirty="0" err="1"/>
              <a:t>s.sendmail</a:t>
            </a:r>
            <a:r>
              <a:rPr lang="en-US" altLang="ko-KR" dirty="0"/>
              <a:t>(</a:t>
            </a:r>
            <a:r>
              <a:rPr lang="en-US" altLang="ko-KR" dirty="0" err="1"/>
              <a:t>sendEmail</a:t>
            </a:r>
            <a:r>
              <a:rPr lang="en-US" altLang="ko-KR" dirty="0"/>
              <a:t>, </a:t>
            </a:r>
            <a:r>
              <a:rPr lang="en-US" altLang="ko-KR" dirty="0" err="1"/>
              <a:t>recvEmail</a:t>
            </a:r>
            <a:r>
              <a:rPr lang="en-US" altLang="ko-KR" dirty="0"/>
              <a:t>, </a:t>
            </a:r>
            <a:r>
              <a:rPr lang="en-US" altLang="ko-KR" dirty="0" err="1"/>
              <a:t>msg.as_string</a:t>
            </a:r>
            <a:r>
              <a:rPr lang="en-US" altLang="ko-KR" dirty="0"/>
              <a:t>())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닫기</a:t>
            </a:r>
          </a:p>
          <a:p>
            <a:r>
              <a:rPr lang="en-US" altLang="ko-KR" dirty="0" err="1"/>
              <a:t>s.close</a:t>
            </a:r>
            <a:r>
              <a:rPr lang="en-US" altLang="ko-KR" dirty="0"/>
              <a:t>()  </a:t>
            </a:r>
          </a:p>
          <a:p>
            <a:r>
              <a:rPr lang="en-US" altLang="ko-KR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7003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868EB-140D-0B4A-1851-A53E3C4A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E0C2D20-6B1D-8F4E-17C3-7C916937515E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F132E79-14A8-1963-146C-2F14FDC4AA91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FF4CCC8-5FCC-2C0F-0136-E225EC161A2B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D319873-ABD8-B74C-0D1C-167DB85A1FF0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예제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ADBF06-237D-EBC9-9A31-449AF7A71ADE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3149B8-EE22-C764-BB00-186D2EC3E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005580"/>
            <a:ext cx="4834995" cy="577080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27BB07D-0893-318B-E5D7-50105115E1F6}"/>
              </a:ext>
            </a:extLst>
          </p:cNvPr>
          <p:cNvSpPr/>
          <p:nvPr/>
        </p:nvSpPr>
        <p:spPr>
          <a:xfrm>
            <a:off x="5519704" y="4540056"/>
            <a:ext cx="6082824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en-US" altLang="ko-KR" sz="1400" dirty="0" err="1"/>
              <a:t>msg.as_string</a:t>
            </a:r>
            <a:br>
              <a:rPr lang="en-US" altLang="ko-KR" sz="1400" dirty="0"/>
            </a:br>
            <a:r>
              <a:rPr lang="ko-KR" altLang="en-US" sz="1400" dirty="0"/>
              <a:t>발신자</a:t>
            </a:r>
            <a:r>
              <a:rPr lang="en-US" altLang="ko-KR" sz="1400" dirty="0"/>
              <a:t>, </a:t>
            </a:r>
            <a:r>
              <a:rPr lang="ko-KR" altLang="en-US" sz="1400" dirty="0"/>
              <a:t>수신자</a:t>
            </a:r>
            <a:r>
              <a:rPr lang="en-US" altLang="ko-KR" sz="1400" dirty="0"/>
              <a:t>, </a:t>
            </a:r>
            <a:r>
              <a:rPr lang="ko-KR" altLang="en-US" sz="1400" dirty="0"/>
              <a:t>제목</a:t>
            </a:r>
            <a:r>
              <a:rPr lang="en-US" altLang="ko-KR" sz="1400" dirty="0"/>
              <a:t>, </a:t>
            </a:r>
            <a:r>
              <a:rPr lang="ko-KR" altLang="en-US" sz="1400" dirty="0"/>
              <a:t>본문 등의 필드를 갖고 있는 </a:t>
            </a:r>
            <a:r>
              <a:rPr lang="en-US" altLang="ko-KR" sz="1400" dirty="0" err="1"/>
              <a:t>MIMEText</a:t>
            </a:r>
            <a:r>
              <a:rPr lang="en-US" altLang="ko-KR" sz="1400" dirty="0"/>
              <a:t> </a:t>
            </a:r>
            <a:r>
              <a:rPr lang="ko-KR" altLang="en-US" sz="1400" dirty="0"/>
              <a:t>객체를 문자열로 변환한다</a:t>
            </a:r>
            <a:r>
              <a:rPr lang="en-US" altLang="ko-KR" sz="14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27A40-7EA0-ACEB-ACE3-EF87247B9689}"/>
              </a:ext>
            </a:extLst>
          </p:cNvPr>
          <p:cNvSpPr txBox="1"/>
          <p:nvPr/>
        </p:nvSpPr>
        <p:spPr>
          <a:xfrm>
            <a:off x="8633604" y="6596390"/>
            <a:ext cx="35583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https://www.youtube.com/watch?v=bmm2sSY-Ye8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8DB4D2-C48D-45A5-3588-6EA47B571C6E}"/>
              </a:ext>
            </a:extLst>
          </p:cNvPr>
          <p:cNvSpPr/>
          <p:nvPr/>
        </p:nvSpPr>
        <p:spPr>
          <a:xfrm>
            <a:off x="5519704" y="3653119"/>
            <a:ext cx="6082824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en-US" altLang="ko-KR" sz="1400" dirty="0" err="1"/>
              <a:t>strattls</a:t>
            </a:r>
            <a:br>
              <a:rPr lang="en-US" altLang="ko-KR" sz="1400" dirty="0"/>
            </a:br>
            <a:r>
              <a:rPr lang="en-US" altLang="ko-KR" sz="1400" dirty="0"/>
              <a:t>TLS </a:t>
            </a:r>
            <a:r>
              <a:rPr lang="ko-KR" altLang="en-US" sz="1400" dirty="0"/>
              <a:t>보안연결을 시작</a:t>
            </a:r>
            <a:br>
              <a:rPr lang="en-US" altLang="ko-KR" sz="1400" dirty="0"/>
            </a:br>
            <a:r>
              <a:rPr lang="en-US" altLang="ko-KR" sz="1400" dirty="0"/>
              <a:t>TLS</a:t>
            </a:r>
            <a:r>
              <a:rPr lang="ko-KR" altLang="en-US" sz="1400" dirty="0"/>
              <a:t>는 인터넷 연결을 통해 전송 중인 이메일에 대한 무단 액세스를 방지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1317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이메일 파일첨부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7A735A-E186-4540-A006-65F08F36A34A}"/>
              </a:ext>
            </a:extLst>
          </p:cNvPr>
          <p:cNvSpPr/>
          <p:nvPr/>
        </p:nvSpPr>
        <p:spPr>
          <a:xfrm>
            <a:off x="111760" y="1034584"/>
            <a:ext cx="7011415" cy="5677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dirty="0"/>
              <a:t>import </a:t>
            </a:r>
            <a:r>
              <a:rPr lang="en-US" altLang="ko-KR" dirty="0" err="1"/>
              <a:t>smtplib</a:t>
            </a:r>
            <a:endParaRPr lang="en-US" altLang="ko-KR" dirty="0"/>
          </a:p>
          <a:p>
            <a:r>
              <a:rPr lang="en-US" altLang="ko-KR" dirty="0"/>
              <a:t>from </a:t>
            </a:r>
            <a:r>
              <a:rPr lang="en-US" altLang="ko-KR" dirty="0" err="1"/>
              <a:t>email.mime.text</a:t>
            </a:r>
            <a:r>
              <a:rPr lang="en-US" altLang="ko-KR" dirty="0"/>
              <a:t> import </a:t>
            </a:r>
            <a:r>
              <a:rPr lang="en-US" altLang="ko-KR" dirty="0" err="1"/>
              <a:t>MIMEText</a:t>
            </a:r>
            <a:endParaRPr lang="en-US" altLang="ko-KR" dirty="0"/>
          </a:p>
          <a:p>
            <a:r>
              <a:rPr lang="en-US" altLang="ko-KR" dirty="0"/>
              <a:t>from </a:t>
            </a:r>
            <a:r>
              <a:rPr lang="en-US" altLang="ko-KR" dirty="0" err="1"/>
              <a:t>email.mime.multipart</a:t>
            </a:r>
            <a:r>
              <a:rPr lang="en-US" altLang="ko-KR" dirty="0"/>
              <a:t> import </a:t>
            </a:r>
            <a:r>
              <a:rPr lang="en-US" altLang="ko-KR" dirty="0" err="1"/>
              <a:t>MIMEMultipart</a:t>
            </a:r>
            <a:endParaRPr lang="en-US" altLang="ko-KR" dirty="0"/>
          </a:p>
          <a:p>
            <a:r>
              <a:rPr lang="en-US" altLang="ko-KR" dirty="0"/>
              <a:t>from </a:t>
            </a:r>
            <a:r>
              <a:rPr lang="en-US" altLang="ko-KR" dirty="0" err="1"/>
              <a:t>email.mime.base</a:t>
            </a:r>
            <a:r>
              <a:rPr lang="en-US" altLang="ko-KR" dirty="0"/>
              <a:t> import </a:t>
            </a:r>
            <a:r>
              <a:rPr lang="en-US" altLang="ko-KR" dirty="0" err="1"/>
              <a:t>MIMEBase</a:t>
            </a:r>
            <a:endParaRPr lang="en-US" altLang="ko-KR" dirty="0"/>
          </a:p>
          <a:p>
            <a:r>
              <a:rPr lang="en-US" altLang="ko-KR" dirty="0"/>
              <a:t>from email import encoders</a:t>
            </a:r>
          </a:p>
          <a:p>
            <a:br>
              <a:rPr lang="en-US" altLang="ko-KR" dirty="0"/>
            </a:br>
            <a:r>
              <a:rPr lang="en-US" altLang="ko-KR" dirty="0" err="1"/>
              <a:t>smtpName</a:t>
            </a:r>
            <a:r>
              <a:rPr lang="ko-KR" altLang="en-US" dirty="0"/>
              <a:t> </a:t>
            </a:r>
            <a:r>
              <a:rPr lang="en-US" altLang="ko-KR" dirty="0"/>
              <a:t>= "smtp.naver.com"</a:t>
            </a:r>
            <a:endParaRPr lang="ko-KR" altLang="en-US" dirty="0"/>
          </a:p>
          <a:p>
            <a:r>
              <a:rPr lang="en-US" altLang="ko-KR" dirty="0" err="1"/>
              <a:t>smtpPort</a:t>
            </a:r>
            <a:r>
              <a:rPr lang="ko-KR" altLang="en-US" dirty="0"/>
              <a:t> </a:t>
            </a:r>
            <a:r>
              <a:rPr lang="en-US" altLang="ko-KR" dirty="0"/>
              <a:t>= 587</a:t>
            </a:r>
            <a:endParaRPr lang="ko-KR" altLang="en-US" dirty="0"/>
          </a:p>
          <a:p>
            <a:r>
              <a:rPr lang="en-US" altLang="ko-KR" dirty="0" err="1"/>
              <a:t>sendEmail</a:t>
            </a:r>
            <a:r>
              <a:rPr lang="ko-KR" altLang="en-US" dirty="0"/>
              <a:t> </a:t>
            </a:r>
            <a:r>
              <a:rPr lang="en-US" altLang="ko-KR" dirty="0"/>
              <a:t>= "onulee@naver.com"</a:t>
            </a:r>
            <a:endParaRPr lang="ko-KR" altLang="en-US" dirty="0"/>
          </a:p>
          <a:p>
            <a:r>
              <a:rPr lang="en-US" altLang="ko-KR" dirty="0"/>
              <a:t>password</a:t>
            </a:r>
            <a:r>
              <a:rPr lang="ko-KR" altLang="en-US" dirty="0"/>
              <a:t> </a:t>
            </a:r>
            <a:r>
              <a:rPr lang="en-US" altLang="ko-KR" dirty="0"/>
              <a:t>= "1111"</a:t>
            </a:r>
            <a:endParaRPr lang="ko-KR" altLang="en-US" dirty="0"/>
          </a:p>
          <a:p>
            <a:r>
              <a:rPr lang="en-US" altLang="ko-KR" dirty="0" err="1"/>
              <a:t>recvEmail</a:t>
            </a:r>
            <a:r>
              <a:rPr lang="ko-KR" altLang="en-US" dirty="0"/>
              <a:t> </a:t>
            </a:r>
            <a:r>
              <a:rPr lang="en-US" altLang="ko-KR" dirty="0"/>
              <a:t>= "onulee@naver.com"</a:t>
            </a:r>
            <a:endParaRPr lang="ko-KR" altLang="en-US" dirty="0"/>
          </a:p>
          <a:p>
            <a:br>
              <a:rPr lang="ko-KR" altLang="en-US" dirty="0"/>
            </a:br>
            <a:r>
              <a:rPr lang="en-US" altLang="ko-KR" dirty="0"/>
              <a:t>title</a:t>
            </a:r>
            <a:r>
              <a:rPr lang="ko-KR" altLang="en-US" dirty="0"/>
              <a:t> </a:t>
            </a:r>
            <a:r>
              <a:rPr lang="en-US" altLang="ko-KR" dirty="0"/>
              <a:t>= "</a:t>
            </a:r>
            <a:r>
              <a:rPr lang="ko-KR" altLang="en-US" dirty="0" err="1"/>
              <a:t>파이썬</a:t>
            </a:r>
            <a:r>
              <a:rPr lang="ko-KR" altLang="en-US" dirty="0"/>
              <a:t> 파일 첨부</a:t>
            </a:r>
            <a:r>
              <a:rPr lang="en-US" altLang="ko-KR" dirty="0"/>
              <a:t>"</a:t>
            </a:r>
            <a:endParaRPr lang="ko-KR" altLang="en-US" dirty="0"/>
          </a:p>
          <a:p>
            <a:r>
              <a:rPr lang="en-US" altLang="ko-KR" dirty="0"/>
              <a:t>content</a:t>
            </a:r>
            <a:r>
              <a:rPr lang="ko-KR" altLang="en-US" dirty="0"/>
              <a:t> </a:t>
            </a:r>
            <a:r>
              <a:rPr lang="en-US" altLang="ko-KR" dirty="0"/>
              <a:t>= "</a:t>
            </a:r>
            <a:r>
              <a:rPr lang="ko-KR" altLang="en-US" dirty="0" err="1"/>
              <a:t>파이썬</a:t>
            </a:r>
            <a:r>
              <a:rPr lang="ko-KR" altLang="en-US" dirty="0"/>
              <a:t> 이메일 파일 첨부 소스 코드입니다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7279494" y="1576217"/>
            <a:ext cx="4525409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/>
              <a:t>파일 첨부에 필요한 라이브러리</a:t>
            </a:r>
            <a:r>
              <a:rPr lang="en-US" altLang="ko-KR" sz="1400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21920" y="1608205"/>
            <a:ext cx="5181600" cy="9063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0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5303520" y="1730106"/>
            <a:ext cx="1975974" cy="33129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89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이메일 파일첨부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7A735A-E186-4540-A006-65F08F36A34A}"/>
              </a:ext>
            </a:extLst>
          </p:cNvPr>
          <p:cNvSpPr/>
          <p:nvPr/>
        </p:nvSpPr>
        <p:spPr>
          <a:xfrm>
            <a:off x="111760" y="1034584"/>
            <a:ext cx="7011415" cy="5677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dirty="0"/>
              <a:t># MIME</a:t>
            </a:r>
            <a:r>
              <a:rPr lang="ko-KR" altLang="en-US" dirty="0"/>
              <a:t>객체화</a:t>
            </a:r>
          </a:p>
          <a:p>
            <a:r>
              <a:rPr lang="en-US" altLang="ko-KR" dirty="0" err="1"/>
              <a:t>msg</a:t>
            </a:r>
            <a:r>
              <a:rPr lang="en-US" altLang="ko-KR" dirty="0"/>
              <a:t> = </a:t>
            </a:r>
            <a:r>
              <a:rPr lang="en-US" altLang="ko-KR" dirty="0" err="1"/>
              <a:t>MIMEMultipart</a:t>
            </a:r>
            <a:r>
              <a:rPr lang="en-US" altLang="ko-KR" dirty="0"/>
              <a:t>('alternative')</a:t>
            </a:r>
          </a:p>
          <a:p>
            <a:r>
              <a:rPr lang="en-US" altLang="ko-KR" dirty="0"/>
              <a:t># </a:t>
            </a:r>
            <a:r>
              <a:rPr lang="ko-KR" altLang="en-US" dirty="0" err="1"/>
              <a:t>내용부분</a:t>
            </a:r>
            <a:endParaRPr lang="ko-KR" altLang="en-US" dirty="0"/>
          </a:p>
          <a:p>
            <a:r>
              <a:rPr lang="en-US" altLang="ko-KR" dirty="0"/>
              <a:t>part2 = </a:t>
            </a:r>
            <a:r>
              <a:rPr lang="en-US" altLang="ko-KR" dirty="0" err="1"/>
              <a:t>MIMEText</a:t>
            </a:r>
            <a:r>
              <a:rPr lang="en-US" altLang="ko-KR" dirty="0"/>
              <a:t>(content)</a:t>
            </a:r>
          </a:p>
          <a:p>
            <a:r>
              <a:rPr lang="en-US" altLang="ko-KR" dirty="0" err="1"/>
              <a:t>msg.attach</a:t>
            </a:r>
            <a:r>
              <a:rPr lang="en-US" altLang="ko-KR" dirty="0"/>
              <a:t>(part2)</a:t>
            </a:r>
          </a:p>
          <a:p>
            <a:r>
              <a:rPr lang="en-US" altLang="ko-KR" dirty="0" err="1"/>
              <a:t>msg</a:t>
            </a:r>
            <a:r>
              <a:rPr lang="en-US" altLang="ko-KR" dirty="0"/>
              <a:t>['From'] = </a:t>
            </a:r>
            <a:r>
              <a:rPr lang="en-US" altLang="ko-KR" dirty="0" err="1"/>
              <a:t>sendEmail</a:t>
            </a:r>
            <a:endParaRPr lang="en-US" altLang="ko-KR" dirty="0"/>
          </a:p>
          <a:p>
            <a:r>
              <a:rPr lang="en-US" altLang="ko-KR" dirty="0" err="1"/>
              <a:t>msg</a:t>
            </a:r>
            <a:r>
              <a:rPr lang="en-US" altLang="ko-KR" dirty="0"/>
              <a:t>['To'] = </a:t>
            </a:r>
            <a:r>
              <a:rPr lang="en-US" altLang="ko-KR" dirty="0" err="1"/>
              <a:t>recvEmail</a:t>
            </a:r>
            <a:endParaRPr lang="en-US" altLang="ko-KR" dirty="0"/>
          </a:p>
          <a:p>
            <a:r>
              <a:rPr lang="en-US" altLang="ko-KR" dirty="0" err="1"/>
              <a:t>msg</a:t>
            </a:r>
            <a:r>
              <a:rPr lang="en-US" altLang="ko-KR" dirty="0"/>
              <a:t>['Subject'] = title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7279494" y="1576217"/>
            <a:ext cx="4525409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 </a:t>
            </a:r>
            <a:r>
              <a:rPr lang="ko-KR" altLang="en-US" sz="1400" dirty="0" err="1"/>
              <a:t>파일첨부에</a:t>
            </a:r>
            <a:r>
              <a:rPr lang="ko-KR" altLang="en-US" sz="1400" dirty="0"/>
              <a:t> 필요한 </a:t>
            </a:r>
            <a:r>
              <a:rPr lang="en-US" altLang="ko-KR" sz="1400" dirty="0"/>
              <a:t>MIME</a:t>
            </a:r>
            <a:r>
              <a:rPr lang="ko-KR" altLang="en-US" sz="1400" dirty="0"/>
              <a:t>설정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* </a:t>
            </a:r>
            <a:r>
              <a:rPr lang="en-US" altLang="ko-KR" sz="1400" dirty="0" err="1"/>
              <a:t>MIMEText</a:t>
            </a:r>
            <a:r>
              <a:rPr lang="en-US" altLang="ko-KR" sz="1400" dirty="0"/>
              <a:t> </a:t>
            </a:r>
            <a:r>
              <a:rPr lang="ko-KR" altLang="en-US" sz="1400" dirty="0"/>
              <a:t>설정</a:t>
            </a:r>
            <a:endParaRPr lang="en-US" altLang="ko-KR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21920" y="1371601"/>
            <a:ext cx="5181600" cy="1143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0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5303520" y="1943101"/>
            <a:ext cx="1975974" cy="244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49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네이버 이메일 파일첨부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ko-KR" altLang="en-US" sz="33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7A735A-E186-4540-A006-65F08F36A34A}"/>
              </a:ext>
            </a:extLst>
          </p:cNvPr>
          <p:cNvSpPr/>
          <p:nvPr/>
        </p:nvSpPr>
        <p:spPr>
          <a:xfrm>
            <a:off x="111760" y="1034584"/>
            <a:ext cx="7011415" cy="5677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파일첨부</a:t>
            </a:r>
          </a:p>
          <a:p>
            <a:r>
              <a:rPr lang="en-US" altLang="ko-KR" dirty="0"/>
              <a:t>part = </a:t>
            </a:r>
            <a:r>
              <a:rPr lang="en-US" altLang="ko-KR" dirty="0" err="1"/>
              <a:t>MIMEBase</a:t>
            </a:r>
            <a:r>
              <a:rPr lang="en-US" altLang="ko-KR" dirty="0"/>
              <a:t>('</a:t>
            </a:r>
            <a:r>
              <a:rPr lang="en-US" altLang="ko-KR" dirty="0" err="1"/>
              <a:t>application',"octet</a:t>
            </a:r>
            <a:r>
              <a:rPr lang="en-US" altLang="ko-KR" dirty="0"/>
              <a:t>-stream")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파일 </a:t>
            </a:r>
            <a:r>
              <a:rPr lang="ko-KR" altLang="en-US" dirty="0" err="1"/>
              <a:t>읽어오기</a:t>
            </a:r>
            <a:endParaRPr lang="ko-KR" altLang="en-US" dirty="0"/>
          </a:p>
          <a:p>
            <a:r>
              <a:rPr lang="en-US" altLang="ko-KR" dirty="0"/>
              <a:t>with open("</a:t>
            </a:r>
            <a:r>
              <a:rPr lang="ko-KR" altLang="en-US" dirty="0"/>
              <a:t>시가총액</a:t>
            </a:r>
            <a:r>
              <a:rPr lang="en-US" altLang="ko-KR" dirty="0"/>
              <a:t>_20220216.csv","rb") as f:</a:t>
            </a:r>
          </a:p>
          <a:p>
            <a:r>
              <a:rPr lang="en-US" altLang="ko-KR" dirty="0"/>
              <a:t>    # part</a:t>
            </a:r>
            <a:r>
              <a:rPr lang="ko-KR" altLang="en-US" dirty="0"/>
              <a:t>에 담기</a:t>
            </a:r>
          </a:p>
          <a:p>
            <a:r>
              <a:rPr lang="ko-KR" altLang="en-US" dirty="0"/>
              <a:t>    </a:t>
            </a:r>
            <a:r>
              <a:rPr lang="en-US" altLang="ko-KR" dirty="0" err="1"/>
              <a:t>part.set_payload</a:t>
            </a:r>
            <a:r>
              <a:rPr lang="en-US" altLang="ko-KR" dirty="0"/>
              <a:t>(</a:t>
            </a:r>
            <a:r>
              <a:rPr lang="en-US" altLang="ko-KR" dirty="0" err="1"/>
              <a:t>f.read</a:t>
            </a:r>
            <a:r>
              <a:rPr lang="en-US" altLang="ko-KR" dirty="0"/>
              <a:t>())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파일 </a:t>
            </a:r>
            <a:r>
              <a:rPr lang="ko-KR" altLang="en-US" dirty="0" err="1"/>
              <a:t>첨부할수</a:t>
            </a:r>
            <a:r>
              <a:rPr lang="ko-KR" altLang="en-US" dirty="0"/>
              <a:t> 있는 형태로 </a:t>
            </a:r>
            <a:r>
              <a:rPr lang="ko-KR" altLang="en-US" dirty="0" err="1"/>
              <a:t>인코딩</a:t>
            </a:r>
            <a:endParaRPr lang="ko-KR" altLang="en-US" dirty="0"/>
          </a:p>
          <a:p>
            <a:r>
              <a:rPr lang="en-US" altLang="ko-KR" dirty="0"/>
              <a:t>encoders.encode_base64(part) </a:t>
            </a:r>
          </a:p>
          <a:p>
            <a:r>
              <a:rPr lang="en-US" altLang="ko-KR" dirty="0"/>
              <a:t># header</a:t>
            </a:r>
            <a:r>
              <a:rPr lang="ko-KR" altLang="en-US" dirty="0"/>
              <a:t>정보 정의</a:t>
            </a:r>
          </a:p>
          <a:p>
            <a:r>
              <a:rPr lang="en-US" altLang="ko-KR" dirty="0" err="1"/>
              <a:t>part.add_header</a:t>
            </a:r>
            <a:r>
              <a:rPr lang="en-US" altLang="ko-KR" dirty="0"/>
              <a:t>('Content-</a:t>
            </a:r>
            <a:r>
              <a:rPr lang="en-US" altLang="ko-KR" dirty="0" err="1"/>
              <a:t>Disposition','attachment',filename</a:t>
            </a:r>
            <a:r>
              <a:rPr lang="en-US" altLang="ko-KR" dirty="0"/>
              <a:t>="</a:t>
            </a:r>
            <a:r>
              <a:rPr lang="ko-KR" altLang="en-US" dirty="0"/>
              <a:t>시가총액</a:t>
            </a:r>
            <a:r>
              <a:rPr lang="en-US" altLang="ko-KR" dirty="0"/>
              <a:t>_20220216.csv")</a:t>
            </a:r>
          </a:p>
          <a:p>
            <a:br>
              <a:rPr lang="en-US" altLang="ko-KR" dirty="0"/>
            </a:br>
            <a:r>
              <a:rPr lang="en-US" altLang="ko-KR" dirty="0" err="1"/>
              <a:t>msg.attach</a:t>
            </a:r>
            <a:r>
              <a:rPr lang="en-US" altLang="ko-KR" dirty="0"/>
              <a:t>(part)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7279494" y="1576217"/>
            <a:ext cx="4525409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 </a:t>
            </a:r>
            <a:r>
              <a:rPr lang="ko-KR" altLang="en-US" sz="1400" dirty="0" err="1"/>
              <a:t>파일첨부에</a:t>
            </a:r>
            <a:r>
              <a:rPr lang="ko-KR" altLang="en-US" sz="1400" dirty="0"/>
              <a:t> 필요한 </a:t>
            </a:r>
            <a:r>
              <a:rPr lang="en-US" altLang="ko-KR" sz="1400" dirty="0"/>
              <a:t>MIME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7279494" y="3556549"/>
            <a:ext cx="4525409" cy="16004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 Content-Disposition </a:t>
            </a:r>
            <a:r>
              <a:rPr lang="ko-KR" altLang="en-US" sz="1400" dirty="0"/>
              <a:t>헤더 추가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- </a:t>
            </a:r>
            <a:r>
              <a:rPr lang="ko-KR" altLang="en-US" sz="1400" dirty="0"/>
              <a:t>첨부파일에는 </a:t>
            </a:r>
            <a:r>
              <a:rPr lang="en-US" altLang="ko-KR" sz="1400" dirty="0"/>
              <a:t>Content-Disposition </a:t>
            </a:r>
            <a:r>
              <a:rPr lang="ko-KR" altLang="en-US" sz="1400" dirty="0"/>
              <a:t>헤더를 설정해야 </a:t>
            </a:r>
            <a:br>
              <a:rPr lang="en-US" altLang="ko-KR" sz="1400" dirty="0"/>
            </a:br>
            <a:r>
              <a:rPr lang="en-US" altLang="ko-KR" sz="1400" dirty="0"/>
              <a:t>  </a:t>
            </a:r>
            <a:r>
              <a:rPr lang="ko-KR" altLang="en-US" sz="1400" dirty="0"/>
              <a:t>첨부파일로 표현</a:t>
            </a:r>
            <a:r>
              <a:rPr lang="en-US" altLang="ko-KR" sz="1400" dirty="0"/>
              <a:t> </a:t>
            </a:r>
            <a:br>
              <a:rPr lang="en-US" altLang="ko-KR" sz="1400" dirty="0"/>
            </a:br>
            <a:r>
              <a:rPr lang="en-US" altLang="ko-KR" sz="1400" dirty="0"/>
              <a:t>   ( </a:t>
            </a:r>
            <a:r>
              <a:rPr lang="en-US" altLang="ko-KR" sz="1400" dirty="0" err="1"/>
              <a:t>gmail</a:t>
            </a:r>
            <a:r>
              <a:rPr lang="ko-KR" altLang="en-US" sz="1400" dirty="0"/>
              <a:t>은 없어도 </a:t>
            </a:r>
            <a:r>
              <a:rPr lang="ko-KR" altLang="en-US" sz="1400" dirty="0" err="1"/>
              <a:t>첨부목록에</a:t>
            </a:r>
            <a:r>
              <a:rPr lang="ko-KR" altLang="en-US" sz="1400" dirty="0"/>
              <a:t> 노출 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br>
              <a:rPr lang="en-US" altLang="ko-KR" sz="1400" dirty="0"/>
            </a:br>
            <a:r>
              <a:rPr lang="en-US" altLang="ko-KR" sz="1400" dirty="0"/>
              <a:t>- text </a:t>
            </a:r>
            <a:r>
              <a:rPr lang="ko-KR" altLang="en-US" sz="1400" dirty="0"/>
              <a:t>발송은 설정이 </a:t>
            </a:r>
            <a:r>
              <a:rPr lang="ko-KR" altLang="en-US" sz="1400" dirty="0" err="1"/>
              <a:t>필요없음</a:t>
            </a:r>
            <a:r>
              <a:rPr lang="en-US" altLang="ko-KR" sz="1400" dirty="0"/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21920" y="3529117"/>
            <a:ext cx="6818376" cy="658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1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6940296" y="3858535"/>
            <a:ext cx="339198" cy="49823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09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9517-EF84-5DB0-CA20-5D988FB2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BC4CA4AA-31D0-B19C-991F-8311938E2AD1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3C084D5-93EF-7532-81AE-B64AEB4B3A09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B0D18CE-1626-C18E-ED5A-DEE3563A3BA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C1BE1A-7580-9AA3-FB7E-27E7FD31D258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예제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B6217-C3F9-BF88-4FF4-5B64881CDFD6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BFE4D39-B76C-FB0B-E214-0B0169D2E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941110"/>
            <a:ext cx="6002641" cy="587879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DED9F8A-2957-C567-5013-6B377DA48372}"/>
              </a:ext>
            </a:extLst>
          </p:cNvPr>
          <p:cNvSpPr/>
          <p:nvPr/>
        </p:nvSpPr>
        <p:spPr>
          <a:xfrm>
            <a:off x="6426200" y="2994197"/>
            <a:ext cx="5659408" cy="7386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en-US" altLang="ko-KR" sz="1400" dirty="0" err="1"/>
              <a:t>MIMEMultipart</a:t>
            </a:r>
            <a:br>
              <a:rPr lang="en-US" altLang="ko-KR" sz="1400" dirty="0"/>
            </a:br>
            <a:r>
              <a:rPr lang="en-US" altLang="ko-KR" sz="1400" dirty="0"/>
              <a:t>Multipart </a:t>
            </a:r>
            <a:r>
              <a:rPr lang="ko-KR" altLang="en-US" sz="1400" dirty="0"/>
              <a:t>이메일 메시지를 생성하는 데 사용</a:t>
            </a:r>
            <a:br>
              <a:rPr lang="en-US" altLang="ko-KR" sz="1400" dirty="0"/>
            </a:br>
            <a:r>
              <a:rPr lang="ko-KR" altLang="en-US" sz="1400" dirty="0"/>
              <a:t>텍스트와 첨부파일을 함께 보내는 경우에 사용</a:t>
            </a:r>
            <a:endParaRPr lang="en-US" altLang="ko-KR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CD58AA-99A5-3BDA-5E6F-08AC9D05058A}"/>
              </a:ext>
            </a:extLst>
          </p:cNvPr>
          <p:cNvSpPr/>
          <p:nvPr/>
        </p:nvSpPr>
        <p:spPr>
          <a:xfrm>
            <a:off x="6426200" y="3830959"/>
            <a:ext cx="5659408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en-US" altLang="ko-KR" sz="1400" dirty="0" err="1"/>
              <a:t>MIMEText</a:t>
            </a:r>
            <a:br>
              <a:rPr lang="en-US" altLang="ko-KR" sz="1400" dirty="0"/>
            </a:br>
            <a:r>
              <a:rPr lang="ko-KR" altLang="en-US" sz="1400" dirty="0"/>
              <a:t>텍스트 기반의 이메일 메시지를 생성하는 데 사용</a:t>
            </a:r>
            <a:endParaRPr lang="en-US" altLang="ko-KR" sz="1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130FFC-3E46-AF40-3749-1199CE874AAA}"/>
              </a:ext>
            </a:extLst>
          </p:cNvPr>
          <p:cNvSpPr/>
          <p:nvPr/>
        </p:nvSpPr>
        <p:spPr>
          <a:xfrm>
            <a:off x="6426200" y="4452277"/>
            <a:ext cx="5659408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en-US" altLang="ko-KR" sz="1400" dirty="0" err="1"/>
              <a:t>MIMEApplication</a:t>
            </a:r>
            <a:br>
              <a:rPr lang="en-US" altLang="ko-KR" sz="1400" dirty="0"/>
            </a:br>
            <a:r>
              <a:rPr lang="ko-KR" altLang="en-US" sz="1400" dirty="0"/>
              <a:t>첨부 파일을 다루는 데 사용</a:t>
            </a:r>
            <a:endParaRPr lang="en-US" altLang="ko-KR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72F78E-6C3A-B9B6-1A65-962D38D9FDC4}"/>
              </a:ext>
            </a:extLst>
          </p:cNvPr>
          <p:cNvSpPr/>
          <p:nvPr/>
        </p:nvSpPr>
        <p:spPr>
          <a:xfrm>
            <a:off x="6426200" y="5073595"/>
            <a:ext cx="5659408" cy="116955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Content-Disposition</a:t>
            </a:r>
            <a:br>
              <a:rPr lang="en-US" altLang="ko-KR" sz="1400" dirty="0"/>
            </a:br>
            <a:r>
              <a:rPr lang="ko-KR" altLang="en-US" sz="1400" dirty="0"/>
              <a:t>웹 서버가 클라이언트</a:t>
            </a:r>
            <a:r>
              <a:rPr lang="en-US" altLang="ko-KR" sz="1400" dirty="0"/>
              <a:t>(</a:t>
            </a:r>
            <a:r>
              <a:rPr lang="ko-KR" altLang="en-US" sz="1400" dirty="0"/>
              <a:t>브라우저</a:t>
            </a:r>
            <a:r>
              <a:rPr lang="en-US" altLang="ko-KR" sz="1400" dirty="0"/>
              <a:t>)</a:t>
            </a:r>
            <a:r>
              <a:rPr lang="ko-KR" altLang="en-US" sz="1400" dirty="0"/>
              <a:t>에게 전송하는 컨텐츠에 대한 처리 방법을 지정하는 헤더</a:t>
            </a:r>
            <a:br>
              <a:rPr lang="en-US" altLang="ko-KR" sz="1400" dirty="0"/>
            </a:br>
            <a:r>
              <a:rPr lang="ko-KR" altLang="en-US" sz="1400" dirty="0"/>
              <a:t>이 헤더를 사용하면 파일을 다운로드할 때</a:t>
            </a:r>
            <a:r>
              <a:rPr lang="en-US" altLang="ko-KR" sz="1400" dirty="0"/>
              <a:t>, </a:t>
            </a:r>
            <a:r>
              <a:rPr lang="ko-KR" altLang="en-US" sz="1400" dirty="0"/>
              <a:t>파일 이름과 다운로드 방식 등을 지정할 수 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030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01F21C-E964-484E-9C2F-05A8566E72E2}"/>
              </a:ext>
            </a:extLst>
          </p:cNvPr>
          <p:cNvSpPr txBox="1"/>
          <p:nvPr/>
        </p:nvSpPr>
        <p:spPr>
          <a:xfrm>
            <a:off x="982511" y="203587"/>
            <a:ext cx="81302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대량 메일 발송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B0EA6-08D4-48D7-B44A-7C6DC6BE176B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19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7A735A-E186-4540-A006-65F08F36A34A}"/>
              </a:ext>
            </a:extLst>
          </p:cNvPr>
          <p:cNvSpPr/>
          <p:nvPr/>
        </p:nvSpPr>
        <p:spPr>
          <a:xfrm>
            <a:off x="111760" y="1034584"/>
            <a:ext cx="7651496" cy="5677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en-US" altLang="ko-KR" dirty="0"/>
              <a:t># </a:t>
            </a:r>
            <a:r>
              <a:rPr lang="ko-KR" altLang="en-US" dirty="0"/>
              <a:t>메일 서버 정보 </a:t>
            </a:r>
            <a:r>
              <a:rPr lang="en-US" altLang="ko-KR" dirty="0"/>
              <a:t>smtp.naver.com/587</a:t>
            </a:r>
          </a:p>
          <a:p>
            <a:r>
              <a:rPr lang="en-US" altLang="ko-KR" dirty="0"/>
              <a:t>s = </a:t>
            </a:r>
            <a:r>
              <a:rPr lang="en-US" altLang="ko-KR" dirty="0" err="1"/>
              <a:t>smtplib.SMTP</a:t>
            </a:r>
            <a:r>
              <a:rPr lang="en-US" altLang="ko-KR" dirty="0"/>
              <a:t>(</a:t>
            </a:r>
            <a:r>
              <a:rPr lang="en-US" altLang="ko-KR" dirty="0" err="1"/>
              <a:t>smtpName</a:t>
            </a:r>
            <a:r>
              <a:rPr lang="en-US" altLang="ko-KR" dirty="0"/>
              <a:t> , </a:t>
            </a:r>
            <a:r>
              <a:rPr lang="en-US" altLang="ko-KR" dirty="0" err="1"/>
              <a:t>smtpPort</a:t>
            </a:r>
            <a:r>
              <a:rPr lang="en-US" altLang="ko-KR" dirty="0"/>
              <a:t>)        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서버 접근</a:t>
            </a:r>
          </a:p>
          <a:p>
            <a:r>
              <a:rPr lang="en-US" altLang="ko-KR" dirty="0" err="1"/>
              <a:t>s.starttls</a:t>
            </a:r>
            <a:r>
              <a:rPr lang="en-US" altLang="ko-KR" dirty="0"/>
              <a:t>()    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서버 로그인                            </a:t>
            </a:r>
          </a:p>
          <a:p>
            <a:r>
              <a:rPr lang="en-US" altLang="ko-KR" dirty="0" err="1"/>
              <a:t>s.login</a:t>
            </a:r>
            <a:r>
              <a:rPr lang="en-US" altLang="ko-KR" dirty="0"/>
              <a:t>(</a:t>
            </a:r>
            <a:r>
              <a:rPr lang="en-US" altLang="ko-KR" dirty="0" err="1"/>
              <a:t>sendEmail</a:t>
            </a:r>
            <a:r>
              <a:rPr lang="en-US" altLang="ko-KR" dirty="0"/>
              <a:t> , password)  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발송              </a:t>
            </a:r>
          </a:p>
          <a:p>
            <a:r>
              <a:rPr lang="en-US" altLang="ko-KR" dirty="0" err="1"/>
              <a:t>s.sendmail</a:t>
            </a:r>
            <a:r>
              <a:rPr lang="en-US" altLang="ko-KR" dirty="0"/>
              <a:t>(</a:t>
            </a:r>
            <a:r>
              <a:rPr lang="en-US" altLang="ko-KR" dirty="0" err="1"/>
              <a:t>sendEmail</a:t>
            </a:r>
            <a:r>
              <a:rPr lang="en-US" altLang="ko-KR" dirty="0"/>
              <a:t>, </a:t>
            </a:r>
            <a:r>
              <a:rPr lang="en-US" altLang="ko-KR" dirty="0" err="1"/>
              <a:t>recvEmail</a:t>
            </a:r>
            <a:r>
              <a:rPr lang="en-US" altLang="ko-KR" dirty="0"/>
              <a:t>, </a:t>
            </a:r>
            <a:r>
              <a:rPr lang="en-US" altLang="ko-KR" dirty="0" err="1"/>
              <a:t>msg.as_string</a:t>
            </a:r>
            <a:r>
              <a:rPr lang="en-US" altLang="ko-KR" dirty="0"/>
              <a:t>()) 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메일 닫기</a:t>
            </a:r>
          </a:p>
          <a:p>
            <a:r>
              <a:rPr lang="en-US" altLang="ko-KR" dirty="0" err="1"/>
              <a:t>s.close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#--------------------------------------</a:t>
            </a:r>
          </a:p>
          <a:p>
            <a:r>
              <a:rPr lang="en-US" altLang="ko-KR" dirty="0"/>
              <a:t># </a:t>
            </a:r>
            <a:r>
              <a:rPr lang="ko-KR" altLang="en-US" dirty="0"/>
              <a:t>대량 메일 </a:t>
            </a:r>
            <a:r>
              <a:rPr lang="en-US" altLang="ko-KR" dirty="0"/>
              <a:t>list </a:t>
            </a:r>
            <a:r>
              <a:rPr lang="ko-KR" altLang="en-US" dirty="0"/>
              <a:t>이메일 구성</a:t>
            </a:r>
          </a:p>
          <a:p>
            <a:r>
              <a:rPr lang="en-US" altLang="ko-KR" dirty="0" err="1"/>
              <a:t>recvEmails</a:t>
            </a:r>
            <a:r>
              <a:rPr lang="en-US" altLang="ko-KR" dirty="0"/>
              <a:t> = ['horim159456@naver.com','vawav@naver.com','swaq11@naver.com']</a:t>
            </a:r>
          </a:p>
          <a:p>
            <a:br>
              <a:rPr lang="en-US" altLang="ko-KR" dirty="0"/>
            </a:br>
            <a:r>
              <a:rPr lang="en-US" altLang="ko-KR" dirty="0"/>
              <a:t># for</a:t>
            </a:r>
            <a:r>
              <a:rPr lang="ko-KR" altLang="en-US" dirty="0"/>
              <a:t>문 사용</a:t>
            </a:r>
          </a:p>
          <a:p>
            <a:r>
              <a:rPr lang="en-US" altLang="ko-KR" dirty="0"/>
              <a:t>for </a:t>
            </a:r>
            <a:r>
              <a:rPr lang="en-US" altLang="ko-KR" dirty="0" err="1"/>
              <a:t>recvEmail</a:t>
            </a:r>
            <a:r>
              <a:rPr lang="en-US" altLang="ko-KR" dirty="0"/>
              <a:t> in </a:t>
            </a:r>
            <a:r>
              <a:rPr lang="en-US" altLang="ko-KR" dirty="0" err="1"/>
              <a:t>recvEmails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msg</a:t>
            </a:r>
            <a:r>
              <a:rPr lang="en-US" altLang="ko-KR" dirty="0"/>
              <a:t>['To'] = </a:t>
            </a:r>
            <a:r>
              <a:rPr lang="en-US" altLang="ko-KR" dirty="0" err="1"/>
              <a:t>recvEmail</a:t>
            </a:r>
            <a:endParaRPr lang="en-US" altLang="ko-KR" dirty="0"/>
          </a:p>
          <a:p>
            <a:r>
              <a:rPr lang="en-US" altLang="ko-KR" dirty="0"/>
              <a:t>    </a:t>
            </a:r>
            <a:r>
              <a:rPr lang="en-US" altLang="ko-KR" dirty="0" err="1"/>
              <a:t>msg</a:t>
            </a:r>
            <a:r>
              <a:rPr lang="en-US" altLang="ko-KR" dirty="0"/>
              <a:t>['Subject'] = title</a:t>
            </a:r>
          </a:p>
          <a:p>
            <a:r>
              <a:rPr lang="en-US" altLang="ko-KR" dirty="0"/>
              <a:t> 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E5BBD-D8D1-4EEC-902E-C4A31697D618}"/>
              </a:ext>
            </a:extLst>
          </p:cNvPr>
          <p:cNvSpPr/>
          <p:nvPr/>
        </p:nvSpPr>
        <p:spPr>
          <a:xfrm>
            <a:off x="8385048" y="3556549"/>
            <a:ext cx="3419855" cy="52322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*  </a:t>
            </a:r>
            <a:r>
              <a:rPr lang="ko-KR" altLang="en-US" sz="1400" dirty="0"/>
              <a:t>메일주소를 </a:t>
            </a:r>
            <a:r>
              <a:rPr lang="en-US" altLang="ko-KR" sz="1400" dirty="0"/>
              <a:t>list</a:t>
            </a:r>
            <a:r>
              <a:rPr lang="ko-KR" altLang="en-US" sz="1400" dirty="0"/>
              <a:t>로 구성해서 </a:t>
            </a:r>
            <a:br>
              <a:rPr lang="en-US" altLang="ko-KR" sz="1400" dirty="0"/>
            </a:br>
            <a:r>
              <a:rPr lang="en-US" altLang="ko-KR" sz="1400" dirty="0"/>
              <a:t>    For</a:t>
            </a:r>
            <a:r>
              <a:rPr lang="ko-KR" altLang="en-US" sz="1400" dirty="0"/>
              <a:t>문으로 작성하면 됨</a:t>
            </a:r>
            <a:r>
              <a:rPr lang="en-US" altLang="ko-KR" sz="1400" dirty="0"/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3D29DE-0526-4D22-8D4B-99C40EFC1B62}"/>
              </a:ext>
            </a:extLst>
          </p:cNvPr>
          <p:cNvSpPr/>
          <p:nvPr/>
        </p:nvSpPr>
        <p:spPr>
          <a:xfrm>
            <a:off x="121920" y="4375056"/>
            <a:ext cx="7266432" cy="1941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38100">
                <a:solidFill>
                  <a:schemeClr val="tx1"/>
                </a:solidFill>
              </a:ln>
              <a:noFill/>
            </a:endParaRPr>
          </a:p>
        </p:txBody>
      </p:sp>
      <p:cxnSp>
        <p:nvCxnSpPr>
          <p:cNvPr id="10" name="연결선: 꺾임 12">
            <a:extLst>
              <a:ext uri="{FF2B5EF4-FFF2-40B4-BE49-F238E27FC236}">
                <a16:creationId xmlns:a16="http://schemas.microsoft.com/office/drawing/2014/main" id="{56A54C84-1962-4866-932B-7332AC2A87F9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7388352" y="3818159"/>
            <a:ext cx="996696" cy="152782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1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456A-6157-55DA-EC5A-9A400A7F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550F8E-E266-0DC7-B7CC-349F354B513E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4DAC078-EA30-733D-899D-CAD5D5171881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5C2661-C4AF-4838-74FD-0F515CBBE94C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85DA1-783F-FB1F-1D26-F53B19F975F5}"/>
              </a:ext>
            </a:extLst>
          </p:cNvPr>
          <p:cNvSpPr txBox="1"/>
          <p:nvPr/>
        </p:nvSpPr>
        <p:spPr>
          <a:xfrm>
            <a:off x="4108917" y="2980067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카카오로그인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039EA9A-615D-F91F-78A0-EF750324357C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979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70C57E-00EC-44C3-9EB4-0A3542D0FD3C}"/>
              </a:ext>
            </a:extLst>
          </p:cNvPr>
          <p:cNvSpPr/>
          <p:nvPr/>
        </p:nvSpPr>
        <p:spPr>
          <a:xfrm>
            <a:off x="416358" y="1070215"/>
            <a:ext cx="11370103" cy="549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카카오 개발자사이트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링크 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https://developers.kakao.com/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카카오 애플리케이션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설정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16357" y="2152650"/>
            <a:ext cx="597909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1. </a:t>
            </a:r>
            <a:r>
              <a:rPr lang="ko-KR" altLang="en-US" dirty="0">
                <a:hlinkClick r:id="rId2"/>
              </a:rPr>
              <a:t>카카오 개발자사이트</a:t>
            </a:r>
            <a:r>
              <a:rPr lang="ko-KR" altLang="en-US" dirty="0"/>
              <a:t> 접속</a:t>
            </a:r>
            <a:endParaRPr lang="en-US" altLang="ko-KR" dirty="0"/>
          </a:p>
          <a:p>
            <a:r>
              <a:rPr lang="en-US" altLang="ko-KR" dirty="0"/>
              <a:t>(https://developers.kakao.com)</a:t>
            </a:r>
            <a:br>
              <a:rPr lang="en-US" altLang="ko-KR" dirty="0"/>
            </a:br>
            <a:br>
              <a:rPr lang="ko-KR" altLang="en-US" dirty="0"/>
            </a:br>
            <a:r>
              <a:rPr lang="en-US" altLang="ko-KR" dirty="0"/>
              <a:t>2. </a:t>
            </a:r>
            <a:r>
              <a:rPr lang="ko-KR" altLang="en-US" dirty="0"/>
              <a:t>개발자 등록 및 </a:t>
            </a:r>
            <a:r>
              <a:rPr lang="ko-KR" altLang="en-US" dirty="0" err="1"/>
              <a:t>앱</a:t>
            </a:r>
            <a:r>
              <a:rPr lang="ko-KR" altLang="en-US" dirty="0"/>
              <a:t> 생성</a:t>
            </a:r>
            <a:br>
              <a:rPr lang="ko-KR" altLang="en-US" dirty="0"/>
            </a:b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웹 플랫폼 추가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 err="1"/>
              <a:t>앱</a:t>
            </a:r>
            <a:r>
              <a:rPr lang="ko-KR" altLang="en-US" dirty="0"/>
              <a:t> 선택 </a:t>
            </a:r>
            <a:r>
              <a:rPr lang="en-US" altLang="ko-KR" dirty="0"/>
              <a:t>– [</a:t>
            </a:r>
            <a:r>
              <a:rPr lang="ko-KR" altLang="en-US" dirty="0"/>
              <a:t>플랫폼</a:t>
            </a:r>
            <a:r>
              <a:rPr lang="en-US" altLang="ko-KR" dirty="0"/>
              <a:t>] – [Web </a:t>
            </a:r>
            <a:r>
              <a:rPr lang="ko-KR" altLang="en-US" dirty="0"/>
              <a:t>플랫폼 등록</a:t>
            </a:r>
            <a:r>
              <a:rPr lang="en-US" altLang="ko-KR" dirty="0"/>
              <a:t>] – </a:t>
            </a:r>
            <a:r>
              <a:rPr lang="ko-KR" altLang="en-US" dirty="0"/>
              <a:t>사이트 도메인 등록</a:t>
            </a:r>
            <a:br>
              <a:rPr lang="ko-KR" altLang="en-US" dirty="0"/>
            </a:b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사이트 도메인 등록</a:t>
            </a:r>
            <a:r>
              <a:rPr lang="en-US" altLang="ko-KR" dirty="0"/>
              <a:t>: [</a:t>
            </a:r>
            <a:r>
              <a:rPr lang="ko-KR" altLang="en-US" dirty="0"/>
              <a:t>웹</a:t>
            </a:r>
            <a:r>
              <a:rPr lang="en-US" altLang="ko-KR" dirty="0"/>
              <a:t>] </a:t>
            </a:r>
            <a:r>
              <a:rPr lang="ko-KR" altLang="en-US" dirty="0"/>
              <a:t>플랫폼을 선택하고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en-US" altLang="ko-KR" dirty="0"/>
              <a:t>[</a:t>
            </a:r>
            <a:r>
              <a:rPr lang="ko-KR" altLang="en-US" dirty="0"/>
              <a:t>사이트 도메인</a:t>
            </a:r>
            <a:r>
              <a:rPr lang="en-US" altLang="ko-KR" dirty="0"/>
              <a:t>] </a:t>
            </a:r>
            <a:r>
              <a:rPr lang="ko-KR" altLang="en-US" dirty="0"/>
              <a:t>을 등록</a:t>
            </a:r>
            <a:r>
              <a:rPr lang="en-US" altLang="ko-KR" dirty="0"/>
              <a:t> (</a:t>
            </a:r>
            <a:r>
              <a:rPr lang="ko-KR" altLang="en-US" dirty="0"/>
              <a:t>예</a:t>
            </a:r>
            <a:r>
              <a:rPr lang="en-US" altLang="ko-KR" dirty="0"/>
              <a:t>: http://localhost:8000)</a:t>
            </a:r>
            <a:br>
              <a:rPr lang="ko-KR" altLang="en-US" dirty="0"/>
            </a:b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페이지 상단의 </a:t>
            </a:r>
            <a:r>
              <a:rPr lang="en-US" altLang="ko-KR" dirty="0"/>
              <a:t>[REST API </a:t>
            </a:r>
            <a:r>
              <a:rPr lang="ko-KR" altLang="en-US" dirty="0"/>
              <a:t>키</a:t>
            </a:r>
            <a:r>
              <a:rPr lang="en-US" altLang="ko-KR" dirty="0"/>
              <a:t>]</a:t>
            </a:r>
            <a:r>
              <a:rPr lang="ko-KR" altLang="en-US" dirty="0"/>
              <a:t>를 지도 </a:t>
            </a:r>
            <a:r>
              <a:rPr lang="en-US" altLang="ko-KR" dirty="0"/>
              <a:t>API</a:t>
            </a:r>
            <a:r>
              <a:rPr lang="ko-KR" altLang="en-US" dirty="0"/>
              <a:t>의 </a:t>
            </a:r>
            <a:r>
              <a:rPr lang="en-US" altLang="ko-KR" dirty="0" err="1"/>
              <a:t>appkey</a:t>
            </a:r>
            <a:r>
              <a:rPr lang="ko-KR" altLang="en-US" dirty="0"/>
              <a:t>로 </a:t>
            </a:r>
            <a:br>
              <a:rPr lang="en-US" altLang="ko-KR" dirty="0"/>
            </a:br>
            <a:r>
              <a:rPr lang="ko-KR" altLang="en-US" dirty="0"/>
              <a:t>사용</a:t>
            </a:r>
            <a:r>
              <a:rPr lang="en-US" altLang="ko-KR" dirty="0"/>
              <a:t>.</a:t>
            </a:r>
            <a:br>
              <a:rPr lang="ko-KR" altLang="en-US" dirty="0"/>
            </a:br>
            <a:br>
              <a:rPr lang="en-US" altLang="ko-KR" dirty="0"/>
            </a:br>
            <a:r>
              <a:rPr lang="en-US" altLang="ko-KR" dirty="0"/>
              <a:t>6. </a:t>
            </a:r>
            <a:r>
              <a:rPr lang="ko-KR" altLang="en-US" dirty="0" err="1"/>
              <a:t>앱을</a:t>
            </a:r>
            <a:r>
              <a:rPr lang="ko-KR" altLang="en-US" dirty="0"/>
              <a:t> 실행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21" y="1776852"/>
            <a:ext cx="5225240" cy="97937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469" y="2891340"/>
            <a:ext cx="2425470" cy="2166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469" y="5265933"/>
            <a:ext cx="5102983" cy="8514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26" name="Picture 2" descr="https://blog.kakaocdn.net/dn/cx2JYq/btquT1PM4gC/9ttw7hrMNxu4AiTEOYFk8k/img.png"/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73841" y="2891340"/>
            <a:ext cx="2561046" cy="138496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/>
          <p:cNvSpPr/>
          <p:nvPr/>
        </p:nvSpPr>
        <p:spPr>
          <a:xfrm>
            <a:off x="6588653" y="2111347"/>
            <a:ext cx="5173666" cy="571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8EE70A-B5ED-D7A3-E67E-88A1865FFCEA}"/>
              </a:ext>
            </a:extLst>
          </p:cNvPr>
          <p:cNvSpPr txBox="1"/>
          <p:nvPr/>
        </p:nvSpPr>
        <p:spPr>
          <a:xfrm>
            <a:off x="6426200" y="5214607"/>
            <a:ext cx="5570531" cy="95410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 네이티브 앱 키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: Android, iOS SDK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에서 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API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를 호출할 때 사용</a:t>
            </a:r>
            <a:endParaRPr lang="en-US" altLang="ko-KR" sz="1400" b="0" i="0" dirty="0">
              <a:solidFill>
                <a:srgbClr val="212529"/>
              </a:solidFill>
              <a:effectLst/>
              <a:latin typeface="Mul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 JavaScript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키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: JavaScript SDK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에서 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API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를 호출할 때 사용</a:t>
            </a:r>
            <a:endParaRPr lang="en-US" altLang="ko-KR" sz="1400" b="0" i="0" dirty="0">
              <a:solidFill>
                <a:srgbClr val="212529"/>
              </a:solidFill>
              <a:effectLst/>
              <a:latin typeface="Mul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 REST API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키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: REST API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를 호출할 때 사용</a:t>
            </a:r>
            <a:endParaRPr lang="en-US" altLang="ko-KR" sz="1400" b="0" i="0" dirty="0">
              <a:solidFill>
                <a:srgbClr val="212529"/>
              </a:solidFill>
              <a:effectLst/>
              <a:latin typeface="Mul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 Admin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키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: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모든 권한을 갖고 있는 키다</a:t>
            </a:r>
            <a:r>
              <a:rPr lang="en-US" altLang="ko-KR" sz="1400" b="0" i="0" dirty="0">
                <a:solidFill>
                  <a:srgbClr val="212529"/>
                </a:solidFill>
                <a:effectLst/>
                <a:latin typeface="Muli"/>
              </a:rPr>
              <a:t>. </a:t>
            </a:r>
            <a:r>
              <a:rPr lang="ko-KR" altLang="en-US" sz="1400" b="0" i="0" dirty="0">
                <a:solidFill>
                  <a:srgbClr val="212529"/>
                </a:solidFill>
                <a:effectLst/>
                <a:latin typeface="Muli"/>
              </a:rPr>
              <a:t>노출이 되지 않도록 주의가 필요</a:t>
            </a:r>
            <a:endParaRPr lang="en-US" altLang="ko-KR" sz="1400" b="0" i="0" dirty="0">
              <a:solidFill>
                <a:srgbClr val="212529"/>
              </a:solidFill>
              <a:effectLst/>
              <a:latin typeface="Mul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8F2E8A-4FA8-243D-95D6-A464F49AB8F9}"/>
              </a:ext>
            </a:extLst>
          </p:cNvPr>
          <p:cNvSpPr txBox="1"/>
          <p:nvPr/>
        </p:nvSpPr>
        <p:spPr>
          <a:xfrm>
            <a:off x="6407991" y="6596390"/>
            <a:ext cx="57840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https://sangjuncha-dev.github.io/posts/framework/django/2021-10-11-django-oauth-kakao/</a:t>
            </a:r>
          </a:p>
        </p:txBody>
      </p:sp>
    </p:spTree>
    <p:extLst>
      <p:ext uri="{BB962C8B-B14F-4D97-AF65-F5344CB8AC3E}">
        <p14:creationId xmlns:p14="http://schemas.microsoft.com/office/powerpoint/2010/main" val="91201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58789-EBAF-D4E3-92E2-96F6C3C6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08BE5FB4-26E7-F70A-6E5A-56D15A73794B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4BD6C4-77E6-4D9F-9764-04DA22C6DC6E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70A24A-9882-32C1-3920-DE3D364942A9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1F787-10C7-4500-EE2D-288692B81172}"/>
              </a:ext>
            </a:extLst>
          </p:cNvPr>
          <p:cNvSpPr txBox="1"/>
          <p:nvPr/>
        </p:nvSpPr>
        <p:spPr>
          <a:xfrm>
            <a:off x="4080098" y="2980067"/>
            <a:ext cx="4031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다음지도 </a:t>
            </a:r>
            <a:r>
              <a:rPr lang="en-US" altLang="ko-KR" sz="5400" b="1" dirty="0"/>
              <a:t>API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ABC8FB-5862-4BA1-6EF7-C520BAECA7C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90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674C77C4-9225-4A4B-B28D-BC08E9FC8BC0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84C75F-04A2-4090-B204-262286243FD7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B80EB46-A41F-42D1-925C-1E1D34396238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마커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생성 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ko-KR" altLang="en-US" sz="3300" spc="-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마커</a:t>
            </a:r>
            <a:r>
              <a:rPr lang="en-US" altLang="ko-KR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 생성하기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5297CD-9753-4A7F-A617-C272413A0538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3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DBAEB18-2485-4E3F-B606-FB7927A74F53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16357" y="960061"/>
            <a:ext cx="41080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1. Sample &gt; </a:t>
            </a:r>
            <a:r>
              <a:rPr lang="ko-KR" altLang="en-US" dirty="0"/>
              <a:t>지도 생성하기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460393" y="1329393"/>
            <a:ext cx="7089342" cy="549553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dirty="0"/>
              <a:t>&lt;script&gt;</a:t>
            </a:r>
          </a:p>
          <a:p>
            <a:r>
              <a:rPr lang="en-US" altLang="ko-KR" sz="1200" dirty="0" err="1"/>
              <a:t>var</a:t>
            </a:r>
            <a:r>
              <a:rPr lang="en-US" altLang="ko-KR" sz="1200" dirty="0"/>
              <a:t> </a:t>
            </a:r>
            <a:r>
              <a:rPr lang="en-US" altLang="ko-KR" sz="1200" dirty="0" err="1"/>
              <a:t>mapContainer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document.getElementById</a:t>
            </a:r>
            <a:r>
              <a:rPr lang="en-US" altLang="ko-KR" sz="1200" dirty="0"/>
              <a:t>('map'), // </a:t>
            </a:r>
            <a:r>
              <a:rPr lang="ko-KR" altLang="en-US" sz="1200" dirty="0"/>
              <a:t>지도를 표시할 </a:t>
            </a:r>
            <a:r>
              <a:rPr lang="en-US" altLang="ko-KR" sz="1200" dirty="0"/>
              <a:t>div 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mapOption</a:t>
            </a:r>
            <a:r>
              <a:rPr lang="en-US" altLang="ko-KR" sz="1200" dirty="0"/>
              <a:t> = { </a:t>
            </a:r>
          </a:p>
          <a:p>
            <a:r>
              <a:rPr lang="en-US" altLang="ko-KR" sz="1200" dirty="0"/>
              <a:t>        center: new </a:t>
            </a:r>
            <a:r>
              <a:rPr lang="en-US" altLang="ko-KR" sz="1200" dirty="0" err="1"/>
              <a:t>kakao.maps.LatLng</a:t>
            </a:r>
            <a:r>
              <a:rPr lang="en-US" altLang="ko-KR" sz="1200" dirty="0"/>
              <a:t>(33.450701, 126.570667), // </a:t>
            </a:r>
            <a:r>
              <a:rPr lang="ko-KR" altLang="en-US" sz="1200" dirty="0"/>
              <a:t>지도의 중심좌표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level: 3 // </a:t>
            </a:r>
            <a:r>
              <a:rPr lang="ko-KR" altLang="en-US" sz="1200" dirty="0"/>
              <a:t>지도의 확대 레벨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};</a:t>
            </a:r>
          </a:p>
          <a:p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ko-KR" altLang="en-US" sz="1200" dirty="0"/>
              <a:t>지도를 표시할 </a:t>
            </a:r>
            <a:r>
              <a:rPr lang="en-US" altLang="ko-KR" sz="1200" dirty="0"/>
              <a:t>div</a:t>
            </a:r>
            <a:r>
              <a:rPr lang="ko-KR" altLang="en-US" sz="1200" dirty="0"/>
              <a:t>와  지도 옵션으로  지도를 생성합니다</a:t>
            </a:r>
          </a:p>
          <a:p>
            <a:r>
              <a:rPr lang="en-US" altLang="ko-KR" sz="1200" dirty="0" err="1"/>
              <a:t>var</a:t>
            </a:r>
            <a:r>
              <a:rPr lang="en-US" altLang="ko-KR" sz="1200" dirty="0"/>
              <a:t> map = new </a:t>
            </a:r>
            <a:r>
              <a:rPr lang="en-US" altLang="ko-KR" sz="1200" dirty="0" err="1"/>
              <a:t>kakao.maps.Map</a:t>
            </a:r>
            <a:r>
              <a:rPr lang="en-US" altLang="ko-KR" sz="1200" dirty="0"/>
              <a:t>(</a:t>
            </a:r>
            <a:r>
              <a:rPr lang="en-US" altLang="ko-KR" sz="1200" dirty="0" err="1"/>
              <a:t>mapContainer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mapOption</a:t>
            </a:r>
            <a:r>
              <a:rPr lang="en-US" altLang="ko-KR" sz="1200" dirty="0"/>
              <a:t>); 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ko-KR" altLang="en-US" sz="1200" b="1" dirty="0" err="1">
                <a:solidFill>
                  <a:srgbClr val="FF0000"/>
                </a:solidFill>
              </a:rPr>
              <a:t>마커가</a:t>
            </a:r>
            <a:r>
              <a:rPr lang="ko-KR" altLang="en-US" sz="1200" b="1" dirty="0">
                <a:solidFill>
                  <a:srgbClr val="FF0000"/>
                </a:solidFill>
              </a:rPr>
              <a:t> 표시될 위치를 변경하면 원하는 지도위치 가능</a:t>
            </a:r>
          </a:p>
          <a:p>
            <a:r>
              <a:rPr lang="en-US" altLang="ko-KR" sz="1200" dirty="0" err="1"/>
              <a:t>var</a:t>
            </a:r>
            <a:r>
              <a:rPr lang="en-US" altLang="ko-KR" sz="1200" dirty="0"/>
              <a:t> </a:t>
            </a:r>
            <a:r>
              <a:rPr lang="en-US" altLang="ko-KR" sz="1200" dirty="0" err="1"/>
              <a:t>markerPosition</a:t>
            </a:r>
            <a:r>
              <a:rPr lang="en-US" altLang="ko-KR" sz="1200" dirty="0"/>
              <a:t>  = new </a:t>
            </a:r>
            <a:r>
              <a:rPr lang="en-US" altLang="ko-KR" sz="1200" dirty="0" err="1"/>
              <a:t>kakao.maps.LatLng</a:t>
            </a:r>
            <a:r>
              <a:rPr lang="en-US" altLang="ko-KR" sz="1200" dirty="0"/>
              <a:t>(33.450701, 126.570667); </a:t>
            </a:r>
          </a:p>
          <a:p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ko-KR" altLang="en-US" sz="1200" dirty="0" err="1"/>
              <a:t>마커를</a:t>
            </a:r>
            <a:r>
              <a:rPr lang="ko-KR" altLang="en-US" sz="1200" dirty="0"/>
              <a:t> 생성합니다</a:t>
            </a:r>
          </a:p>
          <a:p>
            <a:r>
              <a:rPr lang="en-US" altLang="ko-KR" sz="1200" dirty="0" err="1"/>
              <a:t>var</a:t>
            </a:r>
            <a:r>
              <a:rPr lang="en-US" altLang="ko-KR" sz="1200" dirty="0"/>
              <a:t> marker = new </a:t>
            </a:r>
            <a:r>
              <a:rPr lang="en-US" altLang="ko-KR" sz="1200" dirty="0" err="1"/>
              <a:t>kakao.maps.Marker</a:t>
            </a:r>
            <a:r>
              <a:rPr lang="en-US" altLang="ko-KR" sz="1200" dirty="0"/>
              <a:t>({</a:t>
            </a:r>
          </a:p>
          <a:p>
            <a:r>
              <a:rPr lang="en-US" altLang="ko-KR" sz="1200" dirty="0"/>
              <a:t>    position: </a:t>
            </a:r>
            <a:r>
              <a:rPr lang="en-US" altLang="ko-KR" sz="1200" dirty="0" err="1"/>
              <a:t>markerPosition</a:t>
            </a:r>
            <a:endParaRPr lang="en-US" altLang="ko-KR" sz="1200" dirty="0"/>
          </a:p>
          <a:p>
            <a:r>
              <a:rPr lang="en-US" altLang="ko-KR" sz="1200" dirty="0"/>
              <a:t>});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ko-KR" altLang="en-US" sz="1200" dirty="0" err="1"/>
              <a:t>마커가</a:t>
            </a:r>
            <a:r>
              <a:rPr lang="ko-KR" altLang="en-US" sz="1200" dirty="0"/>
              <a:t> 지도 위에 표시되도록 설정합니다</a:t>
            </a:r>
          </a:p>
          <a:p>
            <a:r>
              <a:rPr lang="en-US" altLang="ko-KR" sz="1200" dirty="0" err="1"/>
              <a:t>marker.setMap</a:t>
            </a:r>
            <a:r>
              <a:rPr lang="en-US" altLang="ko-KR" sz="1200" dirty="0"/>
              <a:t>(map);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// </a:t>
            </a:r>
            <a:r>
              <a:rPr lang="ko-KR" altLang="en-US" sz="1200" dirty="0"/>
              <a:t>아래 코드는 지도 위의 </a:t>
            </a:r>
            <a:r>
              <a:rPr lang="ko-KR" altLang="en-US" sz="1200" dirty="0" err="1"/>
              <a:t>마커를</a:t>
            </a:r>
            <a:r>
              <a:rPr lang="ko-KR" altLang="en-US" sz="1200" dirty="0"/>
              <a:t> 제거하는 코드입니다</a:t>
            </a:r>
          </a:p>
          <a:p>
            <a:r>
              <a:rPr lang="en-US" altLang="ko-KR" sz="1200" dirty="0"/>
              <a:t>// </a:t>
            </a:r>
            <a:r>
              <a:rPr lang="en-US" altLang="ko-KR" sz="1200" dirty="0" err="1"/>
              <a:t>marker.setMap</a:t>
            </a:r>
            <a:r>
              <a:rPr lang="en-US" altLang="ko-KR" sz="1200" dirty="0"/>
              <a:t>(null); 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&lt;/script&gt;</a:t>
            </a:r>
          </a:p>
          <a:p>
            <a:r>
              <a:rPr lang="en-US" altLang="ko-KR" sz="1200" dirty="0"/>
              <a:t>&lt;/body&gt;</a:t>
            </a:r>
          </a:p>
          <a:p>
            <a:r>
              <a:rPr lang="en-US" altLang="ko-KR" sz="1200" dirty="0"/>
              <a:t>&lt;/html&gt;</a:t>
            </a:r>
            <a:endParaRPr lang="ko-KR" altLang="en-US" sz="1200" dirty="0"/>
          </a:p>
          <a:p>
            <a:endParaRPr lang="ko-KR" altLang="en-US" sz="1200" dirty="0"/>
          </a:p>
        </p:txBody>
      </p:sp>
      <p:sp>
        <p:nvSpPr>
          <p:cNvPr id="16" name="직사각형 15"/>
          <p:cNvSpPr/>
          <p:nvPr/>
        </p:nvSpPr>
        <p:spPr>
          <a:xfrm>
            <a:off x="7678444" y="1329392"/>
            <a:ext cx="410801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&lt; </a:t>
            </a:r>
            <a:r>
              <a:rPr lang="ko-KR" altLang="en-US" sz="1400" dirty="0"/>
              <a:t>샘플예제 </a:t>
            </a:r>
            <a:r>
              <a:rPr lang="en-US" altLang="ko-KR" sz="1400" dirty="0"/>
              <a:t>&gt;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460393" y="3240718"/>
            <a:ext cx="5630260" cy="26987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726" y="1637168"/>
            <a:ext cx="3032594" cy="19527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직사각형 16"/>
          <p:cNvSpPr/>
          <p:nvPr/>
        </p:nvSpPr>
        <p:spPr>
          <a:xfrm>
            <a:off x="7678444" y="3697866"/>
            <a:ext cx="41080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&lt; </a:t>
            </a:r>
            <a:r>
              <a:rPr lang="ko-KR" altLang="en-US" sz="1400" dirty="0"/>
              <a:t>위도경도 찾기 사이트 </a:t>
            </a:r>
            <a:r>
              <a:rPr lang="en-US" altLang="ko-KR" sz="1400" dirty="0"/>
              <a:t>&gt;</a:t>
            </a:r>
            <a:br>
              <a:rPr lang="en-US" altLang="ko-KR" sz="1400" dirty="0"/>
            </a:br>
            <a:r>
              <a:rPr lang="en-US" altLang="ko-KR" sz="1400" dirty="0"/>
              <a:t>http://map.esran.com/index.php</a:t>
            </a:r>
            <a:endParaRPr lang="ko-KR" altLang="en-US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726" y="4221086"/>
            <a:ext cx="3032594" cy="25051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5068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54BD-E21E-A1D1-0D4F-C84EF06A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FD0509A3-2A13-EF02-4CF9-520908EDB9C4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39BBB98-4817-B682-8135-0106DD4CF6A3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259591A-4C9E-156E-BD25-6FC9B67AE519}"/>
              </a:ext>
            </a:extLst>
          </p:cNvPr>
          <p:cNvSpPr txBox="1"/>
          <p:nvPr/>
        </p:nvSpPr>
        <p:spPr>
          <a:xfrm>
            <a:off x="111760" y="81617"/>
            <a:ext cx="870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21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84081-F42D-E1A7-0744-3F614B32737C}"/>
              </a:ext>
            </a:extLst>
          </p:cNvPr>
          <p:cNvSpPr txBox="1"/>
          <p:nvPr/>
        </p:nvSpPr>
        <p:spPr>
          <a:xfrm>
            <a:off x="4424712" y="2980067"/>
            <a:ext cx="3342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dirty="0"/>
              <a:t>카카오페이</a:t>
            </a:r>
            <a:endParaRPr lang="en-US" altLang="ko-KR" sz="5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F1727FC-963F-B21A-4823-773A224FDB67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0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3752F-905A-0C61-659A-542C0A7F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D0CEA67B-427D-C6FD-3D37-8791F548525D}"/>
              </a:ext>
            </a:extLst>
          </p:cNvPr>
          <p:cNvSpPr/>
          <p:nvPr/>
        </p:nvSpPr>
        <p:spPr>
          <a:xfrm>
            <a:off x="0" y="0"/>
            <a:ext cx="111760" cy="8706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585B574-43B0-7AE9-00A0-CDDC88147CA6}"/>
              </a:ext>
            </a:extLst>
          </p:cNvPr>
          <p:cNvSpPr/>
          <p:nvPr/>
        </p:nvSpPr>
        <p:spPr>
          <a:xfrm rot="5400000">
            <a:off x="269240" y="-147320"/>
            <a:ext cx="121920" cy="41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9DFCAC-3F61-3509-9057-39753166D055}"/>
              </a:ext>
            </a:extLst>
          </p:cNvPr>
          <p:cNvSpPr txBox="1"/>
          <p:nvPr/>
        </p:nvSpPr>
        <p:spPr>
          <a:xfrm>
            <a:off x="660400" y="203587"/>
            <a:ext cx="111260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3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카카오 페이 항목설정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92D387-8A71-BC83-CF6B-43B201EF184F}"/>
              </a:ext>
            </a:extLst>
          </p:cNvPr>
          <p:cNvSpPr txBox="1"/>
          <p:nvPr/>
        </p:nvSpPr>
        <p:spPr>
          <a:xfrm>
            <a:off x="111760" y="81617"/>
            <a:ext cx="5277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>
                    <a:lumMod val="85000"/>
                  </a:schemeClr>
                </a:solidFill>
                <a:latin typeface="+mj-lt"/>
                <a:ea typeface="+mj-ea"/>
              </a:rPr>
              <a:t>2</a:t>
            </a:r>
            <a:endParaRPr lang="ko-KR" altLang="en-US" sz="4800" b="1" dirty="0">
              <a:solidFill>
                <a:schemeClr val="bg1">
                  <a:lumMod val="85000"/>
                </a:schemeClr>
              </a:solidFill>
              <a:latin typeface="+mj-lt"/>
              <a:ea typeface="+mj-ea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EA97BFD-0C57-AD0D-2014-36BBE86BA34F}"/>
              </a:ext>
            </a:extLst>
          </p:cNvPr>
          <p:cNvCxnSpPr/>
          <p:nvPr/>
        </p:nvCxnSpPr>
        <p:spPr>
          <a:xfrm>
            <a:off x="660400" y="870682"/>
            <a:ext cx="11531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ACCAB0E-C834-BA65-B0B0-CD5CA86E86D1}"/>
              </a:ext>
            </a:extLst>
          </p:cNvPr>
          <p:cNvSpPr/>
          <p:nvPr/>
        </p:nvSpPr>
        <p:spPr>
          <a:xfrm>
            <a:off x="416358" y="1070215"/>
            <a:ext cx="11370103" cy="549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애플리케이션 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 </a:t>
            </a: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플랫폼</a:t>
            </a:r>
            <a:endParaRPr lang="en-US" altLang="ko-KR" sz="20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6673EC-7D8F-1F2F-B3B7-A202CBE26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58" y="1776851"/>
            <a:ext cx="10943519" cy="487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335FDF0-1C68-A86D-1E98-C0F30CB8334D}"/>
              </a:ext>
            </a:extLst>
          </p:cNvPr>
          <p:cNvSpPr/>
          <p:nvPr/>
        </p:nvSpPr>
        <p:spPr>
          <a:xfrm>
            <a:off x="4432994" y="4106852"/>
            <a:ext cx="1663006" cy="3449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89FD94-012D-095D-52CA-93456C2DA90E}"/>
              </a:ext>
            </a:extLst>
          </p:cNvPr>
          <p:cNvSpPr txBox="1"/>
          <p:nvPr/>
        </p:nvSpPr>
        <p:spPr>
          <a:xfrm>
            <a:off x="6206652" y="4097820"/>
            <a:ext cx="2518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191C20"/>
                </a:solidFill>
                <a:effectLst/>
                <a:latin typeface="Noto Sans" panose="020B0502040504020204" pitchFamily="34" charset="0"/>
              </a:rPr>
              <a:t>http://127.0.0.1:8000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04AD1C3-AD98-09A0-FBBB-960B32FC33E9}"/>
              </a:ext>
            </a:extLst>
          </p:cNvPr>
          <p:cNvSpPr/>
          <p:nvPr/>
        </p:nvSpPr>
        <p:spPr>
          <a:xfrm>
            <a:off x="660400" y="4294699"/>
            <a:ext cx="1002937" cy="3449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9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D635ED1-ED7F-42FF-BBC4-E015AAC1D1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" y="0"/>
            <a:ext cx="1219032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E00438A-FA4D-4AC6-AD9E-C18057FDD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48078-82E0-46B0-BFB6-AC766ABB0F40}"/>
              </a:ext>
            </a:extLst>
          </p:cNvPr>
          <p:cNvSpPr txBox="1"/>
          <p:nvPr/>
        </p:nvSpPr>
        <p:spPr>
          <a:xfrm>
            <a:off x="4362480" y="3034175"/>
            <a:ext cx="346703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THANK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en-US" altLang="ko-KR" sz="4400" dirty="0">
                <a:solidFill>
                  <a:schemeClr val="bg1"/>
                </a:solidFill>
              </a:rPr>
              <a:t>YOU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9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heme/theme1.xml><?xml version="1.0" encoding="utf-8"?>
<a:theme xmlns:a="http://schemas.openxmlformats.org/drawingml/2006/main" name="Office 테마">
  <a:themeElements>
    <a:clrScheme name="블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518E"/>
      </a:accent1>
      <a:accent2>
        <a:srgbClr val="00608A"/>
      </a:accent2>
      <a:accent3>
        <a:srgbClr val="0286AD"/>
      </a:accent3>
      <a:accent4>
        <a:srgbClr val="01B1D0"/>
      </a:accent4>
      <a:accent5>
        <a:srgbClr val="90CBDD"/>
      </a:accent5>
      <a:accent6>
        <a:srgbClr val="F2EAE3"/>
      </a:accent6>
      <a:hlink>
        <a:srgbClr val="262626"/>
      </a:hlink>
      <a:folHlink>
        <a:srgbClr val="262626"/>
      </a:folHlink>
    </a:clrScheme>
    <a:fontScheme name="Arial나눔">
      <a:majorFont>
        <a:latin typeface="Arial"/>
        <a:ea typeface="나눔스퀘어 Extra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28306</TotalTime>
  <Words>10642</Words>
  <Application>Microsoft Office PowerPoint</Application>
  <PresentationFormat>와이드스크린</PresentationFormat>
  <Paragraphs>1521</Paragraphs>
  <Slides>92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92</vt:i4>
      </vt:variant>
    </vt:vector>
  </HeadingPairs>
  <TitlesOfParts>
    <vt:vector size="110" baseType="lpstr">
      <vt:lpstr>-apple-system</vt:lpstr>
      <vt:lpstr>Helvetica Neue</vt:lpstr>
      <vt:lpstr>HelveticaNeue</vt:lpstr>
      <vt:lpstr>inherit</vt:lpstr>
      <vt:lpstr>Muli</vt:lpstr>
      <vt:lpstr>Noto Sans KR</vt:lpstr>
      <vt:lpstr>SF Mono</vt:lpstr>
      <vt:lpstr>source-serif-pro</vt:lpstr>
      <vt:lpstr>TheJamsil2Light</vt:lpstr>
      <vt:lpstr>nanumsquare</vt:lpstr>
      <vt:lpstr>nanumsquare</vt:lpstr>
      <vt:lpstr>나눔스퀘어 Light (본문)</vt:lpstr>
      <vt:lpstr>맑은 고딕</vt:lpstr>
      <vt:lpstr>맑은 고딕</vt:lpstr>
      <vt:lpstr>Arial</vt:lpstr>
      <vt:lpstr>Consolas</vt:lpstr>
      <vt:lpstr>Noto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lee01</cp:lastModifiedBy>
  <cp:revision>1201</cp:revision>
  <dcterms:created xsi:type="dcterms:W3CDTF">2021-02-14T00:18:03Z</dcterms:created>
  <dcterms:modified xsi:type="dcterms:W3CDTF">2026-05-20T13:14:14Z</dcterms:modified>
</cp:coreProperties>
</file>